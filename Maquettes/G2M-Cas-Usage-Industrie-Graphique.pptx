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9525000"/>
  <p:notesSz cx="9525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5200650"/>
            <a:ext cx="18145125" cy="9525"/>
          </a:xfrm>
          <a:prstGeom prst="rect">
            <a:avLst/>
          </a:prstGeom>
          <a:solidFill>
            <a:srgbClr val="005F7E">
              <a:alpha val="35000"/>
            </a:srgbClr>
          </a:solidFill>
          <a:ln/>
        </p:spPr>
      </p:sp>
      <p:sp>
        <p:nvSpPr>
          <p:cNvPr id="3" name="Shape 1"/>
          <p:cNvSpPr/>
          <p:nvPr/>
        </p:nvSpPr>
        <p:spPr>
          <a:xfrm>
            <a:off x="3167063" y="1142926"/>
            <a:ext cx="1843460"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4" name="Text 2"/>
          <p:cNvSpPr/>
          <p:nvPr/>
        </p:nvSpPr>
        <p:spPr>
          <a:xfrm>
            <a:off x="3328988" y="1228651"/>
            <a:ext cx="1595810" cy="190500"/>
          </a:xfrm>
          <a:prstGeom prst="rect">
            <a:avLst/>
          </a:prstGeom>
          <a:noFill/>
          <a:ln/>
        </p:spPr>
        <p:txBody>
          <a:bodyPr wrap="square" lIns="25400" tIns="25400" rIns="25400" bIns="25400" rtlCol="0" anchor="t">
            <a:normAutofit/>
          </a:bodyPr>
          <a:lstStyle/>
          <a:p>
            <a:pPr algn="l" indent="0" marL="0">
              <a:buNone/>
            </a:pPr>
            <a:r>
              <a:rPr lang="en-US" sz="938" b="1" spc="113" kern="0" dirty="0">
                <a:solidFill>
                  <a:srgbClr val="45E6F6"/>
                </a:solidFill>
                <a:latin typeface="Arial" pitchFamily="34" charset="0"/>
                <a:ea typeface="Arial" pitchFamily="34" charset="-122"/>
                <a:cs typeface="Arial" pitchFamily="34" charset="-120"/>
              </a:rPr>
              <a:t>INDUSTRIE GRAPHIQUE</a:t>
            </a:r>
            <a:endParaRPr lang="en-US" sz="938" dirty="0"/>
          </a:p>
        </p:txBody>
      </p:sp>
      <p:sp>
        <p:nvSpPr>
          <p:cNvPr id="5" name="Text 3"/>
          <p:cNvSpPr/>
          <p:nvPr/>
        </p:nvSpPr>
        <p:spPr>
          <a:xfrm>
            <a:off x="3167063" y="1733476"/>
            <a:ext cx="6776814" cy="200025"/>
          </a:xfrm>
          <a:prstGeom prst="rect">
            <a:avLst/>
          </a:prstGeom>
          <a:noFill/>
          <a:ln/>
        </p:spPr>
        <p:txBody>
          <a:bodyPr wrap="square" lIns="25400" tIns="25400" rIns="25400" bIns="25400" rtlCol="0" anchor="t">
            <a:normAutofit/>
          </a:bodyPr>
          <a:lstStyle/>
          <a:p>
            <a:pPr algn="l" indent="0" marL="0">
              <a:buNone/>
            </a:pPr>
            <a:r>
              <a:rPr lang="en-US" sz="1125" spc="56" kern="0" dirty="0">
                <a:solidFill>
                  <a:srgbClr val="95A0AB"/>
                </a:solidFill>
                <a:latin typeface="Arial" pitchFamily="34" charset="0"/>
                <a:ea typeface="Arial" pitchFamily="34" charset="-122"/>
                <a:cs typeface="Arial" pitchFamily="34" charset="-120"/>
              </a:rPr>
              <a:t>CAS D'USAGE — INDUSTRIE GRAPHIQUE</a:t>
            </a:r>
            <a:endParaRPr lang="en-US" sz="1125" dirty="0"/>
          </a:p>
        </p:txBody>
      </p:sp>
      <p:sp>
        <p:nvSpPr>
          <p:cNvPr id="6" name="Shape 4"/>
          <p:cNvSpPr/>
          <p:nvPr/>
        </p:nvSpPr>
        <p:spPr>
          <a:xfrm>
            <a:off x="3167063" y="2028751"/>
            <a:ext cx="6160740" cy="1069777"/>
          </a:xfrm>
          <a:prstGeom prst="rect">
            <a:avLst/>
          </a:prstGeom>
          <a:solidFill>
            <a:srgbClr val="FFFFFF"/>
          </a:solidFill>
          <a:ln/>
        </p:spPr>
      </p:sp>
      <p:sp>
        <p:nvSpPr>
          <p:cNvPr id="7" name="Text 5"/>
          <p:cNvSpPr/>
          <p:nvPr/>
        </p:nvSpPr>
        <p:spPr>
          <a:xfrm>
            <a:off x="3167063" y="2028751"/>
            <a:ext cx="6345562" cy="1107877"/>
          </a:xfrm>
          <a:prstGeom prst="rect">
            <a:avLst/>
          </a:prstGeom>
          <a:noFill/>
          <a:ln/>
        </p:spPr>
        <p:txBody>
          <a:bodyPr wrap="square" lIns="25400" tIns="25400" rIns="25400" bIns="25400" rtlCol="0" anchor="t">
            <a:normAutofit/>
          </a:bodyPr>
          <a:lstStyle/>
          <a:p>
            <a:pPr algn="l" indent="0" marL="0">
              <a:lnSpc>
                <a:spcPct val="108000"/>
              </a:lnSpc>
              <a:buNone/>
            </a:pPr>
            <a:r>
              <a:rPr lang="en-US" sz="3900" b="1" dirty="0">
                <a:solidFill>
                  <a:srgbClr val="000000"/>
                </a:solidFill>
                <a:latin typeface="Arial" pitchFamily="34" charset="0"/>
                <a:ea typeface="Arial" pitchFamily="34" charset="-122"/>
                <a:cs typeface="Arial" pitchFamily="34" charset="-120"/>
              </a:rPr>
              <a:t>Automatisation &amp; intégration SI</a:t>
            </a:r>
            <a:endParaRPr lang="en-US" sz="3900" dirty="0"/>
          </a:p>
        </p:txBody>
      </p:sp>
      <p:sp>
        <p:nvSpPr>
          <p:cNvPr id="8" name="Text 6"/>
          <p:cNvSpPr/>
          <p:nvPr/>
        </p:nvSpPr>
        <p:spPr>
          <a:xfrm>
            <a:off x="3167063" y="3308077"/>
            <a:ext cx="5101590" cy="863873"/>
          </a:xfrm>
          <a:prstGeom prst="rect">
            <a:avLst/>
          </a:prstGeom>
          <a:noFill/>
          <a:ln/>
        </p:spPr>
        <p:txBody>
          <a:bodyPr wrap="square" lIns="25400" tIns="25400" rIns="25400" bIns="25400" rtlCol="0" anchor="t">
            <a:normAutofit/>
          </a:bodyPr>
          <a:lstStyle/>
          <a:p>
            <a:pPr algn="l" indent="0" marL="0">
              <a:lnSpc>
                <a:spcPct val="170000"/>
              </a:lnSpc>
              <a:buNone/>
            </a:pPr>
            <a:r>
              <a:rPr lang="en-US" sz="1275" dirty="0">
                <a:solidFill>
                  <a:srgbClr val="AEB9C4"/>
                </a:solidFill>
                <a:latin typeface="Arial" pitchFamily="34" charset="0"/>
                <a:ea typeface="Arial" pitchFamily="34" charset="-122"/>
                <a:cs typeface="Arial" pitchFamily="34" charset="-120"/>
              </a:rPr>
              <a:t>Comment l'IA transforme des fichiers Excel dispersés en un environnement métier centralisé, connecté à SAGE et piloté par un chatbot intelligent.</a:t>
            </a:r>
            <a:endParaRPr lang="en-US" sz="1275" dirty="0"/>
          </a:p>
        </p:txBody>
      </p:sp>
      <p:sp>
        <p:nvSpPr>
          <p:cNvPr id="9" name="Shape 7"/>
          <p:cNvSpPr/>
          <p:nvPr/>
        </p:nvSpPr>
        <p:spPr>
          <a:xfrm>
            <a:off x="9937403" y="914400"/>
            <a:ext cx="5040660" cy="3448050"/>
          </a:xfrm>
          <a:prstGeom prst="roundRect">
            <a:avLst>
              <a:gd name="adj" fmla="val 6630"/>
            </a:avLst>
          </a:prstGeom>
          <a:ln w="9525">
            <a:solidFill>
              <a:srgbClr val="007382">
                <a:alpha val="40000"/>
              </a:srgbClr>
            </a:solidFill>
            <a:prstDash val="solid"/>
          </a:ln>
          <a:effectLst>
            <a:outerShdw sx="100000" sy="100000" kx="0" ky="0" algn="bl" rotWithShape="0" blurRad="571500" dist="50800" dir="16200000">
              <a:srgbClr val="000000">
                <a:alpha val="30000"/>
              </a:srgbClr>
            </a:outerShdw>
          </a:effectLst>
        </p:spPr>
      </p:sp>
      <p:sp>
        <p:nvSpPr>
          <p:cNvPr id="10" name="Shape 8"/>
          <p:cNvSpPr/>
          <p:nvPr/>
        </p:nvSpPr>
        <p:spPr>
          <a:xfrm>
            <a:off x="12143408" y="2081212"/>
            <a:ext cx="628650" cy="628650"/>
          </a:xfrm>
          <a:prstGeom prst="roundRect">
            <a:avLst>
              <a:gd name="adj" fmla="val 24242"/>
            </a:avLst>
          </a:prstGeom>
          <a:solidFill>
            <a:srgbClr val="00364C">
              <a:alpha val="50000"/>
            </a:srgbClr>
          </a:solidFill>
          <a:ln w="9525">
            <a:solidFill>
              <a:srgbClr val="00B6C8">
                <a:alpha val="60000"/>
              </a:srgbClr>
            </a:solidFill>
            <a:prstDash val="solid"/>
          </a:ln>
        </p:spPr>
      </p:sp>
      <p:sp>
        <p:nvSpPr>
          <p:cNvPr id="11" name="Shape 9"/>
          <p:cNvSpPr/>
          <p:nvPr/>
        </p:nvSpPr>
        <p:spPr>
          <a:xfrm>
            <a:off x="12314858" y="2252663"/>
            <a:ext cx="285750" cy="285750"/>
          </a:xfrm>
          <a:prstGeom prst="roundRect">
            <a:avLst>
              <a:gd name="adj" fmla="val 13333"/>
            </a:avLst>
          </a:prstGeom>
          <a:ln w="19050">
            <a:solidFill>
              <a:srgbClr val="58E5ED"/>
            </a:solidFill>
            <a:prstDash val="solid"/>
          </a:ln>
        </p:spPr>
      </p:sp>
      <p:sp>
        <p:nvSpPr>
          <p:cNvPr id="12" name="Text 10"/>
          <p:cNvSpPr/>
          <p:nvPr/>
        </p:nvSpPr>
        <p:spPr>
          <a:xfrm>
            <a:off x="10764143" y="2881313"/>
            <a:ext cx="3387179" cy="171450"/>
          </a:xfrm>
          <a:prstGeom prst="rect">
            <a:avLst/>
          </a:prstGeom>
          <a:noFill/>
          <a:ln/>
        </p:spPr>
        <p:txBody>
          <a:bodyPr wrap="square" lIns="25400" tIns="25400" rIns="25400" bIns="25400" rtlCol="0" anchor="t">
            <a:normAutofit/>
          </a:bodyPr>
          <a:lstStyle/>
          <a:p>
            <a:pPr algn="ctr" indent="0" marL="0">
              <a:buNone/>
            </a:pPr>
            <a:r>
              <a:rPr lang="en-US" sz="900" spc="90" kern="0" dirty="0">
                <a:solidFill>
                  <a:srgbClr val="83A5B0"/>
                </a:solidFill>
                <a:latin typeface="Arial" pitchFamily="34" charset="0"/>
                <a:ea typeface="Arial" pitchFamily="34" charset="-122"/>
                <a:cs typeface="Arial" pitchFamily="34" charset="-120"/>
              </a:rPr>
              <a:t>ILLUSTRATION — PRODUCTION, DONNÉES &amp; IA</a:t>
            </a:r>
            <a:endParaRPr lang="en-US" sz="900" dirty="0"/>
          </a:p>
        </p:txBody>
      </p:sp>
      <p:sp>
        <p:nvSpPr>
          <p:cNvPr id="13" name="Text 11"/>
          <p:cNvSpPr/>
          <p:nvPr/>
        </p:nvSpPr>
        <p:spPr>
          <a:xfrm>
            <a:off x="10764143" y="3071813"/>
            <a:ext cx="3387179" cy="161925"/>
          </a:xfrm>
          <a:prstGeom prst="rect">
            <a:avLst/>
          </a:prstGeom>
          <a:noFill/>
          <a:ln/>
        </p:spPr>
        <p:txBody>
          <a:bodyPr wrap="square" lIns="25400" tIns="25400" rIns="25400" bIns="25400" rtlCol="0" anchor="t">
            <a:normAutofit/>
          </a:bodyPr>
          <a:lstStyle/>
          <a:p>
            <a:pPr algn="ctr" indent="0" marL="0">
              <a:buNone/>
            </a:pPr>
            <a:r>
              <a:rPr lang="en-US" sz="825" dirty="0">
                <a:solidFill>
                  <a:srgbClr val="5F767E"/>
                </a:solidFill>
                <a:latin typeface="Courier New" pitchFamily="34" charset="0"/>
                <a:ea typeface="Courier New" pitchFamily="34" charset="-122"/>
                <a:cs typeface="Courier New" pitchFamily="34" charset="-120"/>
              </a:rPr>
              <a:t>visuel à intégrer</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954881"/>
            <a:ext cx="514350" cy="514350"/>
          </a:xfrm>
          <a:prstGeom prst="roundRect">
            <a:avLst>
              <a:gd name="adj" fmla="val 25926"/>
            </a:avLst>
          </a:prstGeom>
          <a:solidFill>
            <a:srgbClr val="48140E">
              <a:alpha val="35000"/>
            </a:srgbClr>
          </a:solidFill>
          <a:ln w="9525">
            <a:solidFill>
              <a:srgbClr val="C15E50">
                <a:alpha val="50000"/>
              </a:srgbClr>
            </a:solidFill>
            <a:prstDash val="solid"/>
          </a:ln>
        </p:spPr>
      </p:sp>
      <p:sp>
        <p:nvSpPr>
          <p:cNvPr id="3" name="Shape 1"/>
          <p:cNvSpPr/>
          <p:nvPr/>
        </p:nvSpPr>
        <p:spPr>
          <a:xfrm>
            <a:off x="1605855" y="1069181"/>
            <a:ext cx="228600" cy="285750"/>
          </a:xfrm>
          <a:prstGeom prst="roundRect">
            <a:avLst>
              <a:gd name="adj" fmla="val 12500"/>
            </a:avLst>
          </a:prstGeom>
          <a:ln w="19050">
            <a:solidFill>
              <a:srgbClr val="FF9381"/>
            </a:solidFill>
            <a:prstDash val="solid"/>
          </a:ln>
        </p:spPr>
      </p:sp>
      <p:sp>
        <p:nvSpPr>
          <p:cNvPr id="4" name="Shape 2"/>
          <p:cNvSpPr/>
          <p:nvPr/>
        </p:nvSpPr>
        <p:spPr>
          <a:xfrm>
            <a:off x="1653480" y="1145381"/>
            <a:ext cx="95250" cy="19050"/>
          </a:xfrm>
          <a:prstGeom prst="rect">
            <a:avLst/>
          </a:prstGeom>
          <a:solidFill>
            <a:srgbClr val="FF9381"/>
          </a:solidFill>
          <a:ln/>
        </p:spPr>
      </p:sp>
      <p:sp>
        <p:nvSpPr>
          <p:cNvPr id="5" name="Shape 3"/>
          <p:cNvSpPr/>
          <p:nvPr/>
        </p:nvSpPr>
        <p:spPr>
          <a:xfrm>
            <a:off x="1653480" y="1193006"/>
            <a:ext cx="95250" cy="19050"/>
          </a:xfrm>
          <a:prstGeom prst="rect">
            <a:avLst/>
          </a:prstGeom>
          <a:solidFill>
            <a:srgbClr val="FF9381"/>
          </a:solidFill>
          <a:ln/>
        </p:spPr>
      </p:sp>
      <p:sp>
        <p:nvSpPr>
          <p:cNvPr id="6" name="Shape 4"/>
          <p:cNvSpPr/>
          <p:nvPr/>
        </p:nvSpPr>
        <p:spPr>
          <a:xfrm>
            <a:off x="1653480" y="1240631"/>
            <a:ext cx="57150" cy="19050"/>
          </a:xfrm>
          <a:prstGeom prst="rect">
            <a:avLst/>
          </a:prstGeom>
          <a:solidFill>
            <a:srgbClr val="FF9381"/>
          </a:solidFill>
          <a:ln/>
        </p:spPr>
      </p:sp>
      <p:sp>
        <p:nvSpPr>
          <p:cNvPr id="7" name="Text 5"/>
          <p:cNvSpPr/>
          <p:nvPr/>
        </p:nvSpPr>
        <p:spPr>
          <a:xfrm>
            <a:off x="2129730" y="952500"/>
            <a:ext cx="3037820"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8B9AAB"/>
                </a:solidFill>
                <a:latin typeface="Arial" pitchFamily="34" charset="0"/>
                <a:ea typeface="Arial" pitchFamily="34" charset="-122"/>
                <a:cs typeface="Arial" pitchFamily="34" charset="-120"/>
              </a:rPr>
              <a:t>LE POINT DE DÉPART</a:t>
            </a:r>
            <a:endParaRPr lang="en-US" sz="975" dirty="0"/>
          </a:p>
        </p:txBody>
      </p:sp>
      <p:sp>
        <p:nvSpPr>
          <p:cNvPr id="8" name="Text 6"/>
          <p:cNvSpPr/>
          <p:nvPr/>
        </p:nvSpPr>
        <p:spPr>
          <a:xfrm>
            <a:off x="2129730" y="1119188"/>
            <a:ext cx="303782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Problématique client</a:t>
            </a:r>
            <a:endParaRPr lang="en-US" sz="2400" dirty="0"/>
          </a:p>
        </p:txBody>
      </p:sp>
      <p:sp>
        <p:nvSpPr>
          <p:cNvPr id="9" name="Shape 7"/>
          <p:cNvSpPr/>
          <p:nvPr/>
        </p:nvSpPr>
        <p:spPr>
          <a:xfrm>
            <a:off x="1462980" y="1814513"/>
            <a:ext cx="10287000" cy="3006700"/>
          </a:xfrm>
          <a:prstGeom prst="roundRect">
            <a:avLst>
              <a:gd name="adj" fmla="val 6336"/>
            </a:avLst>
          </a:prstGeom>
          <a:ln w="9525">
            <a:solidFill>
              <a:srgbClr val="144E66">
                <a:alpha val="45000"/>
              </a:srgbClr>
            </a:solidFill>
            <a:prstDash val="solid"/>
          </a:ln>
          <a:effectLst>
            <a:outerShdw sx="100000" sy="100000" kx="0" ky="0" algn="bl" rotWithShape="0" blurRad="381000" dist="50800" dir="16200000">
              <a:srgbClr val="000000">
                <a:alpha val="30000"/>
              </a:srgbClr>
            </a:outerShdw>
          </a:effectLst>
        </p:spPr>
      </p:sp>
      <p:sp>
        <p:nvSpPr>
          <p:cNvPr id="10" name="Text 8"/>
          <p:cNvSpPr/>
          <p:nvPr/>
        </p:nvSpPr>
        <p:spPr>
          <a:xfrm>
            <a:off x="1853505" y="2205038"/>
            <a:ext cx="9791129" cy="1201043"/>
          </a:xfrm>
          <a:prstGeom prst="rect">
            <a:avLst/>
          </a:prstGeom>
          <a:noFill/>
          <a:ln/>
        </p:spPr>
        <p:txBody>
          <a:bodyPr wrap="square" lIns="25400" tIns="25400" rIns="25400" bIns="25400" rtlCol="0" anchor="t">
            <a:normAutofit/>
          </a:bodyPr>
          <a:lstStyle/>
          <a:p>
            <a:pPr algn="l" indent="0" marL="0">
              <a:lnSpc>
                <a:spcPct val="185000"/>
              </a:lnSpc>
              <a:buNone/>
            </a:pPr>
            <a:r>
              <a:rPr lang="en-US" sz="1238" b="1" dirty="0">
                <a:solidFill>
                  <a:srgbClr val="FFFFFF"/>
                </a:solidFill>
                <a:latin typeface="Arial" pitchFamily="34" charset="0"/>
                <a:ea typeface="Arial" pitchFamily="34" charset="-122"/>
                <a:cs typeface="Arial" pitchFamily="34" charset="-120"/>
              </a:rPr>
              <a:t>Problématique client :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Dans le secteur de l'imprimerie B2B, chaque commande implique généralement des devis personnalisés, des délais de production serrés et un suivi précis des spécifications techniques (formats, quantités, finitions). Cependant, les données métier de l'entreprise étaient dispersées dans plusieurs fichiers Excel non structurés, </a:t>
            </a:r>
            <a:pPr algn="l" indent="0" marL="0">
              <a:lnSpc>
                <a:spcPct val="185000"/>
              </a:lnSpc>
              <a:buNone/>
            </a:pPr>
            <a:r>
              <a:rPr lang="en-US" sz="1238" b="1" dirty="0">
                <a:solidFill>
                  <a:srgbClr val="FFA077"/>
                </a:solidFill>
                <a:highlight>
                  <a:srgbClr val="CBB8B2"/>
                </a:highlight>
                <a:latin typeface="Arial" pitchFamily="34" charset="0"/>
                <a:ea typeface="Arial" pitchFamily="34" charset="-122"/>
                <a:cs typeface="Arial" pitchFamily="34" charset="-120"/>
              </a:rPr>
              <a:t>sans outil centralisé pour les consulter, ni interconnexion avec SAGE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 outil déjà utilisé pour la gestion commerciale et comptable.</a:t>
            </a:r>
            <a:endParaRPr lang="en-US" sz="1238" dirty="0"/>
          </a:p>
        </p:txBody>
      </p:sp>
      <p:sp>
        <p:nvSpPr>
          <p:cNvPr id="11" name="Text 9"/>
          <p:cNvSpPr/>
          <p:nvPr/>
        </p:nvSpPr>
        <p:spPr>
          <a:xfrm>
            <a:off x="1853505" y="3558480"/>
            <a:ext cx="9791129" cy="910307"/>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Cette dispersion obligeait les équipes à rechercher des informations dans plusieurs fichiers, ralentissait le traitement quotidien des dossiers clients, et fragilisait la fiabilité des données. En effet, les fichiers Excel évoluaient de manière indépendante, sans synchronisation ni mise à jour croisée avec SAGE.</a:t>
            </a:r>
            <a:endParaRPr lang="en-US" sz="12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7043663" y="1085850"/>
            <a:ext cx="1686632"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B4685C"/>
                </a:solidFill>
                <a:latin typeface="Arial" pitchFamily="34" charset="0"/>
                <a:ea typeface="Arial" pitchFamily="34" charset="-122"/>
                <a:cs typeface="Arial" pitchFamily="34" charset="-120"/>
              </a:rPr>
              <a:t>DONNÉES DISPERSÉES</a:t>
            </a:r>
            <a:endParaRPr lang="en-US" sz="900" dirty="0"/>
          </a:p>
        </p:txBody>
      </p:sp>
      <p:sp>
        <p:nvSpPr>
          <p:cNvPr id="3" name="Shape 1"/>
          <p:cNvSpPr/>
          <p:nvPr/>
        </p:nvSpPr>
        <p:spPr>
          <a:xfrm>
            <a:off x="8748415" y="1119188"/>
            <a:ext cx="66675" cy="66675"/>
          </a:xfrm>
          <a:prstGeom prst="ellipse">
            <a:avLst/>
          </a:prstGeom>
          <a:solidFill>
            <a:srgbClr val="00C9D3">
              <a:alpha val="99000"/>
            </a:srgbClr>
          </a:solidFill>
          <a:ln/>
        </p:spPr>
      </p:sp>
      <p:sp>
        <p:nvSpPr>
          <p:cNvPr id="4" name="Shape 2"/>
          <p:cNvSpPr/>
          <p:nvPr/>
        </p:nvSpPr>
        <p:spPr>
          <a:xfrm>
            <a:off x="8872240" y="1119188"/>
            <a:ext cx="66675" cy="66675"/>
          </a:xfrm>
          <a:prstGeom prst="ellipse">
            <a:avLst/>
          </a:prstGeom>
          <a:solidFill>
            <a:srgbClr val="00C9D3">
              <a:alpha val="85000"/>
            </a:srgbClr>
          </a:solidFill>
          <a:ln/>
        </p:spPr>
      </p:sp>
      <p:sp>
        <p:nvSpPr>
          <p:cNvPr id="5" name="Shape 3"/>
          <p:cNvSpPr/>
          <p:nvPr/>
        </p:nvSpPr>
        <p:spPr>
          <a:xfrm>
            <a:off x="8996065" y="1119188"/>
            <a:ext cx="66675" cy="66675"/>
          </a:xfrm>
          <a:prstGeom prst="ellipse">
            <a:avLst/>
          </a:prstGeom>
          <a:solidFill>
            <a:srgbClr val="00C9D3">
              <a:alpha val="54000"/>
            </a:srgbClr>
          </a:solidFill>
          <a:ln/>
        </p:spPr>
      </p:sp>
      <p:sp>
        <p:nvSpPr>
          <p:cNvPr id="6" name="Shape 4"/>
          <p:cNvSpPr/>
          <p:nvPr/>
        </p:nvSpPr>
        <p:spPr>
          <a:xfrm>
            <a:off x="9119890" y="1119188"/>
            <a:ext cx="66675" cy="66675"/>
          </a:xfrm>
          <a:prstGeom prst="ellipse">
            <a:avLst/>
          </a:prstGeom>
          <a:solidFill>
            <a:srgbClr val="00C9D3">
              <a:alpha val="30000"/>
            </a:srgbClr>
          </a:solidFill>
          <a:ln/>
        </p:spPr>
      </p:sp>
      <p:sp>
        <p:nvSpPr>
          <p:cNvPr id="7" name="Text 5"/>
          <p:cNvSpPr/>
          <p:nvPr/>
        </p:nvSpPr>
        <p:spPr>
          <a:xfrm>
            <a:off x="9358015" y="1085850"/>
            <a:ext cx="1917710"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00C8D1"/>
                </a:solidFill>
                <a:latin typeface="Arial" pitchFamily="34" charset="0"/>
                <a:ea typeface="Arial" pitchFamily="34" charset="-122"/>
                <a:cs typeface="Arial" pitchFamily="34" charset="-120"/>
              </a:rPr>
              <a:t>AUTOMATISATION PAR L'IA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228600"/>
            <a:ext cx="10287000" cy="3941787"/>
          </a:xfrm>
          <a:prstGeom prst="roundRect">
            <a:avLst>
              <a:gd name="adj" fmla="val 4833"/>
            </a:avLst>
          </a:prstGeom>
          <a:ln w="9525">
            <a:solidFill>
              <a:srgbClr val="008595">
                <a:alpha val="50000"/>
              </a:srgbClr>
            </a:solidFill>
            <a:prstDash val="solid"/>
          </a:ln>
          <a:effectLst>
            <a:outerShdw sx="100000" sy="100000" kx="0" ky="0" algn="bl" rotWithShape="0" blurRad="523875" dist="50800" dir="16200000">
              <a:srgbClr val="000000">
                <a:alpha val="30000"/>
              </a:srgbClr>
            </a:outerShdw>
          </a:effectLst>
        </p:spPr>
      </p:sp>
      <p:sp>
        <p:nvSpPr>
          <p:cNvPr id="3" name="Shape 1"/>
          <p:cNvSpPr/>
          <p:nvPr/>
        </p:nvSpPr>
        <p:spPr>
          <a:xfrm>
            <a:off x="10216455" y="-333375"/>
            <a:ext cx="2095500" cy="2095500"/>
          </a:xfrm>
          <a:prstGeom prst="ellipse">
            <a:avLst/>
          </a:prstGeom>
          <a:solidFill>
            <a:srgbClr val="00869A">
              <a:alpha val="15000"/>
            </a:srgbClr>
          </a:solidFill>
          <a:ln/>
        </p:spPr>
      </p:sp>
      <p:sp>
        <p:nvSpPr>
          <p:cNvPr id="4" name="Shape 2"/>
          <p:cNvSpPr/>
          <p:nvPr/>
        </p:nvSpPr>
        <p:spPr>
          <a:xfrm>
            <a:off x="1891605" y="657225"/>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5" name="Shape 3"/>
          <p:cNvSpPr/>
          <p:nvPr/>
        </p:nvSpPr>
        <p:spPr>
          <a:xfrm>
            <a:off x="2005905" y="771525"/>
            <a:ext cx="209550" cy="209550"/>
          </a:xfrm>
          <a:prstGeom prst="ellipse">
            <a:avLst/>
          </a:prstGeom>
          <a:ln w="19050">
            <a:solidFill>
              <a:srgbClr val="44E7EF"/>
            </a:solidFill>
            <a:prstDash val="solid"/>
          </a:ln>
        </p:spPr>
      </p:sp>
      <p:sp>
        <p:nvSpPr>
          <p:cNvPr id="6" name="Shape 4"/>
          <p:cNvSpPr/>
          <p:nvPr/>
        </p:nvSpPr>
        <p:spPr>
          <a:xfrm>
            <a:off x="2053530" y="847725"/>
            <a:ext cx="76200" cy="19050"/>
          </a:xfrm>
          <a:prstGeom prst="rect">
            <a:avLst/>
          </a:prstGeom>
          <a:solidFill>
            <a:srgbClr val="44E7EF"/>
          </a:solidFill>
          <a:ln/>
        </p:spPr>
      </p:sp>
      <p:sp>
        <p:nvSpPr>
          <p:cNvPr id="7" name="Text 5"/>
          <p:cNvSpPr/>
          <p:nvPr/>
        </p:nvSpPr>
        <p:spPr>
          <a:xfrm>
            <a:off x="2463105" y="802481"/>
            <a:ext cx="1697519"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1ACFDF"/>
                </a:solidFill>
                <a:latin typeface="Arial" pitchFamily="34" charset="0"/>
                <a:ea typeface="Arial" pitchFamily="34" charset="-122"/>
                <a:cs typeface="Arial" pitchFamily="34" charset="-120"/>
              </a:rPr>
              <a:t>SOLUTION APPORTÉE</a:t>
            </a:r>
            <a:endParaRPr lang="en-US" sz="975" dirty="0"/>
          </a:p>
        </p:txBody>
      </p:sp>
      <p:sp>
        <p:nvSpPr>
          <p:cNvPr id="8" name="Text 6"/>
          <p:cNvSpPr/>
          <p:nvPr/>
        </p:nvSpPr>
        <p:spPr>
          <a:xfrm>
            <a:off x="1891605" y="1323975"/>
            <a:ext cx="9712643" cy="936650"/>
          </a:xfrm>
          <a:prstGeom prst="rect">
            <a:avLst/>
          </a:prstGeom>
          <a:noFill/>
          <a:ln/>
        </p:spPr>
        <p:txBody>
          <a:bodyPr wrap="square" lIns="25400" tIns="25400" rIns="25400" bIns="25400" rtlCol="0" anchor="t">
            <a:normAutofit/>
          </a:bodyPr>
          <a:lstStyle/>
          <a:p>
            <a:pPr algn="l" indent="0" marL="0">
              <a:lnSpc>
                <a:spcPct val="185000"/>
              </a:lnSpc>
              <a:buNone/>
            </a:pPr>
            <a:r>
              <a:rPr lang="en-US" sz="1275" b="1" dirty="0">
                <a:solidFill>
                  <a:srgbClr val="FFFFFF"/>
                </a:solidFill>
                <a:latin typeface="Arial" pitchFamily="34" charset="0"/>
                <a:ea typeface="Arial" pitchFamily="34" charset="-122"/>
                <a:cs typeface="Arial" pitchFamily="34" charset="-120"/>
              </a:rPr>
              <a:t>Solution apportée : </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Création d'un environnement Notion (ERP/CRM) sur mesure (ateliers de cadrage, documentation et formation des utilisateurs), avec le développement d'un chatbot IA </a:t>
            </a:r>
            <a:pPr algn="l" indent="0" marL="0">
              <a:lnSpc>
                <a:spcPct val="185000"/>
              </a:lnSpc>
              <a:buNone/>
            </a:pPr>
            <a:r>
              <a:rPr lang="en-US" sz="1275" b="1" dirty="0">
                <a:solidFill>
                  <a:srgbClr val="24E9F2"/>
                </a:solidFill>
                <a:highlight>
                  <a:srgbClr val="A6BFC3"/>
                </a:highlight>
                <a:latin typeface="Arial" pitchFamily="34" charset="0"/>
                <a:ea typeface="Arial" pitchFamily="34" charset="-122"/>
                <a:cs typeface="Arial" pitchFamily="34" charset="-120"/>
              </a:rPr>
              <a:t>capable de consulter et de mettre à jour des données, tout en déclenchant des actions automatisées liées à SAGE </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a:t>
            </a:r>
            <a:endParaRPr lang="en-US" sz="1275" dirty="0"/>
          </a:p>
        </p:txBody>
      </p:sp>
      <p:sp>
        <p:nvSpPr>
          <p:cNvPr id="9" name="Text 7"/>
          <p:cNvSpPr/>
          <p:nvPr/>
        </p:nvSpPr>
        <p:spPr>
          <a:xfrm>
            <a:off x="1891605" y="2489225"/>
            <a:ext cx="10372725" cy="176212"/>
          </a:xfrm>
          <a:prstGeom prst="rect">
            <a:avLst/>
          </a:prstGeom>
          <a:noFill/>
          <a:ln/>
        </p:spPr>
        <p:txBody>
          <a:bodyPr wrap="square" lIns="25400" tIns="25400" rIns="25400" bIns="25400" rtlCol="0" anchor="t">
            <a:normAutofit/>
          </a:bodyPr>
          <a:lstStyle/>
          <a:p>
            <a:pPr algn="l" indent="0" marL="0">
              <a:buNone/>
            </a:pPr>
            <a:r>
              <a:rPr lang="en-US" sz="938" spc="94" kern="0" dirty="0">
                <a:solidFill>
                  <a:srgbClr val="8291A1"/>
                </a:solidFill>
                <a:latin typeface="Arial" pitchFamily="34" charset="0"/>
                <a:ea typeface="Arial" pitchFamily="34" charset="-122"/>
                <a:cs typeface="Arial" pitchFamily="34" charset="-120"/>
              </a:rPr>
              <a:t>FONCTIONNEMENT DE L'OUTIL</a:t>
            </a:r>
            <a:endParaRPr lang="en-US" sz="938" dirty="0"/>
          </a:p>
        </p:txBody>
      </p:sp>
      <p:sp>
        <p:nvSpPr>
          <p:cNvPr id="10" name="Shape 8"/>
          <p:cNvSpPr/>
          <p:nvPr/>
        </p:nvSpPr>
        <p:spPr>
          <a:xfrm>
            <a:off x="1891605" y="2779737"/>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1" name="Text 9"/>
          <p:cNvSpPr/>
          <p:nvPr/>
        </p:nvSpPr>
        <p:spPr>
          <a:xfrm>
            <a:off x="2034480" y="2922612"/>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Fichiers Excel dispersés</a:t>
            </a:r>
            <a:endParaRPr lang="en-US" sz="1013" dirty="0"/>
          </a:p>
        </p:txBody>
      </p:sp>
      <p:sp>
        <p:nvSpPr>
          <p:cNvPr id="12" name="Text 10"/>
          <p:cNvSpPr/>
          <p:nvPr/>
        </p:nvSpPr>
        <p:spPr>
          <a:xfrm>
            <a:off x="3777555"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3" name="Shape 11"/>
          <p:cNvSpPr/>
          <p:nvPr/>
        </p:nvSpPr>
        <p:spPr>
          <a:xfrm>
            <a:off x="4044255" y="2779737"/>
            <a:ext cx="2313161"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4" name="Text 12"/>
          <p:cNvSpPr/>
          <p:nvPr/>
        </p:nvSpPr>
        <p:spPr>
          <a:xfrm>
            <a:off x="4187130" y="2922612"/>
            <a:ext cx="2027411"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Environnement Notion sur mesure</a:t>
            </a:r>
            <a:endParaRPr lang="en-US" sz="1013" dirty="0"/>
          </a:p>
        </p:txBody>
      </p:sp>
      <p:sp>
        <p:nvSpPr>
          <p:cNvPr id="15" name="Text 13"/>
          <p:cNvSpPr/>
          <p:nvPr/>
        </p:nvSpPr>
        <p:spPr>
          <a:xfrm>
            <a:off x="6452667"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6" name="Shape 14"/>
          <p:cNvSpPr/>
          <p:nvPr/>
        </p:nvSpPr>
        <p:spPr>
          <a:xfrm>
            <a:off x="6719367" y="2779737"/>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7" name="Text 15"/>
          <p:cNvSpPr/>
          <p:nvPr/>
        </p:nvSpPr>
        <p:spPr>
          <a:xfrm>
            <a:off x="6862242" y="2922612"/>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Chatbot IA connecté</a:t>
            </a:r>
            <a:endParaRPr lang="en-US" sz="1013" dirty="0"/>
          </a:p>
        </p:txBody>
      </p:sp>
      <p:sp>
        <p:nvSpPr>
          <p:cNvPr id="18" name="Text 16"/>
          <p:cNvSpPr/>
          <p:nvPr/>
        </p:nvSpPr>
        <p:spPr>
          <a:xfrm>
            <a:off x="8605317"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9" name="Shape 17"/>
          <p:cNvSpPr/>
          <p:nvPr/>
        </p:nvSpPr>
        <p:spPr>
          <a:xfrm>
            <a:off x="8872017" y="2779737"/>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0" name="Text 18"/>
          <p:cNvSpPr/>
          <p:nvPr/>
        </p:nvSpPr>
        <p:spPr>
          <a:xfrm>
            <a:off x="9014892" y="2922612"/>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Intégration SAGE</a:t>
            </a:r>
            <a:endParaRPr lang="en-US" sz="1013" dirty="0"/>
          </a:p>
        </p:txBody>
      </p:sp>
      <p:sp>
        <p:nvSpPr>
          <p:cNvPr id="21" name="Text 19"/>
          <p:cNvSpPr/>
          <p:nvPr/>
        </p:nvSpPr>
        <p:spPr>
          <a:xfrm>
            <a:off x="10757967"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2" name="Shape 20"/>
          <p:cNvSpPr/>
          <p:nvPr/>
        </p:nvSpPr>
        <p:spPr>
          <a:xfrm>
            <a:off x="1891605" y="3308375"/>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3" name="Text 21"/>
          <p:cNvSpPr/>
          <p:nvPr/>
        </p:nvSpPr>
        <p:spPr>
          <a:xfrm>
            <a:off x="2034480" y="3451250"/>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Actions automatisées</a:t>
            </a:r>
            <a:endParaRPr lang="en-US" sz="1013" dirty="0"/>
          </a:p>
        </p:txBody>
      </p:sp>
      <p:sp>
        <p:nvSpPr>
          <p:cNvPr id="24" name="Text 22"/>
          <p:cNvSpPr/>
          <p:nvPr/>
        </p:nvSpPr>
        <p:spPr>
          <a:xfrm>
            <a:off x="3777555" y="3420294"/>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5" name="Shape 23"/>
          <p:cNvSpPr/>
          <p:nvPr/>
        </p:nvSpPr>
        <p:spPr>
          <a:xfrm>
            <a:off x="4044255" y="3308375"/>
            <a:ext cx="2098923"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6" name="Text 24"/>
          <p:cNvSpPr/>
          <p:nvPr/>
        </p:nvSpPr>
        <p:spPr>
          <a:xfrm>
            <a:off x="4187130" y="3451250"/>
            <a:ext cx="1813173"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Données centralisées et à jour</a:t>
            </a:r>
            <a:endParaRPr lang="en-US" sz="10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48630" y="190500"/>
            <a:ext cx="113157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SOUS LE CAPOT</a:t>
            </a:r>
            <a:endParaRPr lang="en-US" sz="975" dirty="0"/>
          </a:p>
        </p:txBody>
      </p:sp>
      <p:sp>
        <p:nvSpPr>
          <p:cNvPr id="3" name="Text 1"/>
          <p:cNvSpPr/>
          <p:nvPr/>
        </p:nvSpPr>
        <p:spPr>
          <a:xfrm>
            <a:off x="948630" y="395288"/>
            <a:ext cx="11315700"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Expertises techniques utilisées</a:t>
            </a:r>
            <a:endParaRPr lang="en-US" sz="2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01230" y="1123950"/>
            <a:ext cx="7810500" cy="6074792"/>
          </a:xfrm>
          <a:prstGeom prst="rect">
            <a:avLst/>
          </a:prstGeom>
        </p:spPr>
      </p:pic>
      <p:sp>
        <p:nvSpPr>
          <p:cNvPr id="5" name="Shape 2"/>
          <p:cNvSpPr/>
          <p:nvPr/>
        </p:nvSpPr>
        <p:spPr>
          <a:xfrm>
            <a:off x="5777805" y="3593232"/>
            <a:ext cx="1657350" cy="1657350"/>
          </a:xfrm>
          <a:prstGeom prst="ellipse">
            <a:avLst/>
          </a:prstGeom>
          <a:ln w="9525">
            <a:solidFill>
              <a:srgbClr val="00B5C7">
                <a:alpha val="70000"/>
              </a:srgbClr>
            </a:solidFill>
            <a:prstDash val="solid"/>
          </a:ln>
          <a:effectLst>
            <a:outerShdw sx="100000" sy="100000" kx="0" ky="0" algn="bl" rotWithShape="0" blurRad="523875" dist="50800" dir="16200000">
              <a:srgbClr val="000000">
                <a:alpha val="30000"/>
              </a:srgbClr>
            </a:outerShdw>
          </a:effectLst>
        </p:spPr>
      </p:sp>
      <p:sp>
        <p:nvSpPr>
          <p:cNvPr id="6" name="Text 3"/>
          <p:cNvSpPr/>
          <p:nvPr/>
        </p:nvSpPr>
        <p:spPr>
          <a:xfrm>
            <a:off x="6314256" y="4223817"/>
            <a:ext cx="584448" cy="434280"/>
          </a:xfrm>
          <a:prstGeom prst="rect">
            <a:avLst/>
          </a:prstGeom>
          <a:noFill/>
          <a:ln/>
        </p:spPr>
        <p:txBody>
          <a:bodyPr wrap="square" lIns="25400" tIns="25400" rIns="25400" bIns="25400" rtlCol="0" anchor="t">
            <a:normAutofit/>
          </a:bodyPr>
          <a:lstStyle/>
          <a:p>
            <a:pPr algn="ctr" indent="0" marL="0">
              <a:lnSpc>
                <a:spcPct val="130000"/>
              </a:lnSpc>
              <a:buNone/>
            </a:pPr>
            <a:r>
              <a:rPr lang="en-US" sz="1200" b="1" dirty="0">
                <a:solidFill>
                  <a:srgbClr val="FFFFFF"/>
                </a:solidFill>
                <a:latin typeface="Arial" pitchFamily="34" charset="0"/>
                <a:ea typeface="Arial" pitchFamily="34" charset="-122"/>
                <a:cs typeface="Arial" pitchFamily="34" charset="-120"/>
              </a:rPr>
              <a:t>SI &amp; Data IA</a:t>
            </a:r>
            <a:endParaRPr lang="en-US" sz="1200" dirty="0"/>
          </a:p>
        </p:txBody>
      </p:sp>
      <p:sp>
        <p:nvSpPr>
          <p:cNvPr id="7" name="Shape 4"/>
          <p:cNvSpPr/>
          <p:nvPr/>
        </p:nvSpPr>
        <p:spPr>
          <a:xfrm>
            <a:off x="5434905" y="1590824"/>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8" name="Shape 5"/>
          <p:cNvSpPr/>
          <p:nvPr/>
        </p:nvSpPr>
        <p:spPr>
          <a:xfrm>
            <a:off x="5596830" y="1733699"/>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9" name="Shape 6"/>
          <p:cNvSpPr/>
          <p:nvPr/>
        </p:nvSpPr>
        <p:spPr>
          <a:xfrm>
            <a:off x="5711130" y="1847999"/>
            <a:ext cx="114300" cy="114300"/>
          </a:xfrm>
          <a:prstGeom prst="roundRect">
            <a:avLst>
              <a:gd name="adj" fmla="val 33333"/>
            </a:avLst>
          </a:prstGeom>
          <a:solidFill>
            <a:srgbClr val="28D6DF"/>
          </a:solidFill>
          <a:ln/>
        </p:spPr>
      </p:sp>
      <p:sp>
        <p:nvSpPr>
          <p:cNvPr id="10" name="Text 7"/>
          <p:cNvSpPr/>
          <p:nvPr/>
        </p:nvSpPr>
        <p:spPr>
          <a:xfrm>
            <a:off x="6054030" y="1744191"/>
            <a:ext cx="1638300" cy="360015"/>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Environnement Notion sur mesure (ERP/CRM)</a:t>
            </a:r>
            <a:endParaRPr lang="en-US" sz="975" dirty="0"/>
          </a:p>
        </p:txBody>
      </p:sp>
      <p:sp>
        <p:nvSpPr>
          <p:cNvPr id="11" name="Shape 8"/>
          <p:cNvSpPr/>
          <p:nvPr/>
        </p:nvSpPr>
        <p:spPr>
          <a:xfrm>
            <a:off x="7827987" y="3330029"/>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2" name="Shape 9"/>
          <p:cNvSpPr/>
          <p:nvPr/>
        </p:nvSpPr>
        <p:spPr>
          <a:xfrm>
            <a:off x="7989912" y="3472904"/>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13" name="Shape 10"/>
          <p:cNvSpPr/>
          <p:nvPr/>
        </p:nvSpPr>
        <p:spPr>
          <a:xfrm>
            <a:off x="8104212" y="3587204"/>
            <a:ext cx="114300" cy="114300"/>
          </a:xfrm>
          <a:prstGeom prst="ellipse">
            <a:avLst/>
          </a:prstGeom>
          <a:solidFill>
            <a:srgbClr val="28D6DF"/>
          </a:solidFill>
          <a:ln/>
        </p:spPr>
      </p:sp>
      <p:sp>
        <p:nvSpPr>
          <p:cNvPr id="14" name="Text 11"/>
          <p:cNvSpPr/>
          <p:nvPr/>
        </p:nvSpPr>
        <p:spPr>
          <a:xfrm>
            <a:off x="8447112" y="3563838"/>
            <a:ext cx="1711107" cy="199058"/>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Assistant conversationnel IA</a:t>
            </a:r>
            <a:endParaRPr lang="en-US" sz="975" dirty="0"/>
          </a:p>
        </p:txBody>
      </p:sp>
      <p:sp>
        <p:nvSpPr>
          <p:cNvPr id="15" name="Shape 12"/>
          <p:cNvSpPr/>
          <p:nvPr/>
        </p:nvSpPr>
        <p:spPr>
          <a:xfrm>
            <a:off x="6914183" y="6143253"/>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6" name="Shape 13"/>
          <p:cNvSpPr/>
          <p:nvPr/>
        </p:nvSpPr>
        <p:spPr>
          <a:xfrm>
            <a:off x="7076108" y="6286128"/>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17" name="Shape 14"/>
          <p:cNvSpPr/>
          <p:nvPr/>
        </p:nvSpPr>
        <p:spPr>
          <a:xfrm>
            <a:off x="7190408" y="6400428"/>
            <a:ext cx="114300" cy="114300"/>
          </a:xfrm>
          <a:prstGeom prst="roundRect">
            <a:avLst>
              <a:gd name="adj" fmla="val 25000"/>
            </a:avLst>
          </a:prstGeom>
          <a:solidFill>
            <a:srgbClr val="28D6DF"/>
          </a:solidFill>
          <a:ln/>
        </p:spPr>
      </p:sp>
      <p:sp>
        <p:nvSpPr>
          <p:cNvPr id="18" name="Text 15"/>
          <p:cNvSpPr/>
          <p:nvPr/>
        </p:nvSpPr>
        <p:spPr>
          <a:xfrm>
            <a:off x="7533308" y="6377062"/>
            <a:ext cx="1039862" cy="199058"/>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Intégration SAGE</a:t>
            </a:r>
            <a:endParaRPr lang="en-US" sz="975" dirty="0"/>
          </a:p>
        </p:txBody>
      </p:sp>
      <p:sp>
        <p:nvSpPr>
          <p:cNvPr id="19" name="Shape 16"/>
          <p:cNvSpPr/>
          <p:nvPr/>
        </p:nvSpPr>
        <p:spPr>
          <a:xfrm>
            <a:off x="3955554" y="6143253"/>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20" name="Shape 17"/>
          <p:cNvSpPr/>
          <p:nvPr/>
        </p:nvSpPr>
        <p:spPr>
          <a:xfrm>
            <a:off x="4117479" y="6286128"/>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21" name="Shape 18"/>
          <p:cNvSpPr/>
          <p:nvPr/>
        </p:nvSpPr>
        <p:spPr>
          <a:xfrm>
            <a:off x="4231779" y="6400428"/>
            <a:ext cx="114300" cy="114300"/>
          </a:xfrm>
          <a:prstGeom prst="ellipse">
            <a:avLst/>
          </a:prstGeom>
          <a:solidFill>
            <a:srgbClr val="28D6DF"/>
          </a:solidFill>
          <a:ln/>
        </p:spPr>
      </p:sp>
      <p:sp>
        <p:nvSpPr>
          <p:cNvPr id="22" name="Text 19"/>
          <p:cNvSpPr/>
          <p:nvPr/>
        </p:nvSpPr>
        <p:spPr>
          <a:xfrm>
            <a:off x="4574679" y="6296620"/>
            <a:ext cx="1638300" cy="360015"/>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Outil LLM (Large Language Model)</a:t>
            </a:r>
            <a:endParaRPr lang="en-US" sz="975" dirty="0"/>
          </a:p>
        </p:txBody>
      </p:sp>
      <p:sp>
        <p:nvSpPr>
          <p:cNvPr id="23" name="Shape 20"/>
          <p:cNvSpPr/>
          <p:nvPr/>
        </p:nvSpPr>
        <p:spPr>
          <a:xfrm>
            <a:off x="3041749" y="3330029"/>
            <a:ext cx="2343150" cy="628650"/>
          </a:xfrm>
          <a:prstGeom prst="roundRect">
            <a:avLst>
              <a:gd name="adj" fmla="val 21212"/>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24" name="Shape 21"/>
          <p:cNvSpPr/>
          <p:nvPr/>
        </p:nvSpPr>
        <p:spPr>
          <a:xfrm>
            <a:off x="3203674" y="3472904"/>
            <a:ext cx="342900" cy="342900"/>
          </a:xfrm>
          <a:prstGeom prst="roundRect">
            <a:avLst>
              <a:gd name="adj" fmla="val 27778"/>
            </a:avLst>
          </a:prstGeom>
          <a:solidFill>
            <a:srgbClr val="003846">
              <a:alpha val="50000"/>
            </a:srgbClr>
          </a:solidFill>
          <a:ln w="9525">
            <a:solidFill>
              <a:srgbClr val="00A3B3">
                <a:alpha val="50000"/>
              </a:srgbClr>
            </a:solidFill>
            <a:prstDash val="solid"/>
          </a:ln>
        </p:spPr>
      </p:sp>
      <p:sp>
        <p:nvSpPr>
          <p:cNvPr id="25" name="Shape 22"/>
          <p:cNvSpPr/>
          <p:nvPr/>
        </p:nvSpPr>
        <p:spPr>
          <a:xfrm>
            <a:off x="3317974" y="3587204"/>
            <a:ext cx="114300" cy="114300"/>
          </a:xfrm>
          <a:prstGeom prst="roundRect">
            <a:avLst>
              <a:gd name="adj" fmla="val 33333"/>
            </a:avLst>
          </a:prstGeom>
          <a:solidFill>
            <a:srgbClr val="28D6DF"/>
          </a:solidFill>
          <a:ln/>
        </p:spPr>
      </p:sp>
      <p:sp>
        <p:nvSpPr>
          <p:cNvPr id="26" name="Text 23"/>
          <p:cNvSpPr/>
          <p:nvPr/>
        </p:nvSpPr>
        <p:spPr>
          <a:xfrm>
            <a:off x="3660874" y="3563838"/>
            <a:ext cx="957188" cy="199058"/>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Automatisations</a:t>
            </a:r>
            <a:endParaRPr lang="en-US" sz="975" dirty="0"/>
          </a:p>
        </p:txBody>
      </p:sp>
      <p:sp>
        <p:nvSpPr>
          <p:cNvPr id="27" name="Text 24"/>
          <p:cNvSpPr/>
          <p:nvPr/>
        </p:nvSpPr>
        <p:spPr>
          <a:xfrm>
            <a:off x="2682180" y="7617842"/>
            <a:ext cx="7848600" cy="512415"/>
          </a:xfrm>
          <a:prstGeom prst="rect">
            <a:avLst/>
          </a:prstGeom>
          <a:noFill/>
          <a:ln/>
        </p:spPr>
        <p:txBody>
          <a:bodyPr wrap="square" lIns="25400" tIns="25400" rIns="25400" bIns="25400" rtlCol="0" anchor="t">
            <a:normAutofit/>
          </a:bodyPr>
          <a:lstStyle/>
          <a:p>
            <a:pPr algn="ctr" indent="0" marL="0">
              <a:lnSpc>
                <a:spcPct val="170000"/>
              </a:lnSpc>
              <a:buNone/>
            </a:pPr>
            <a:r>
              <a:rPr lang="en-US" sz="1088" b="1" dirty="0">
                <a:solidFill>
                  <a:srgbClr val="C4CFDB"/>
                </a:solidFill>
                <a:latin typeface="Arial" pitchFamily="34" charset="0"/>
                <a:ea typeface="Arial" pitchFamily="34" charset="-122"/>
                <a:cs typeface="Arial" pitchFamily="34" charset="-120"/>
              </a:rPr>
              <a:t>Expertises techniques utilisées : </a:t>
            </a:r>
            <a:pPr algn="ctr" indent="0" marL="0">
              <a:lnSpc>
                <a:spcPct val="170000"/>
              </a:lnSpc>
              <a:buNone/>
            </a:pPr>
            <a:r>
              <a:rPr lang="en-US" sz="1088" dirty="0">
                <a:solidFill>
                  <a:srgbClr val="8F9AA5"/>
                </a:solidFill>
                <a:latin typeface="Arial" pitchFamily="34" charset="0"/>
                <a:ea typeface="Arial" pitchFamily="34" charset="-122"/>
                <a:cs typeface="Arial" pitchFamily="34" charset="-120"/>
              </a:rPr>
              <a:t>Environnement Notion sur mesure (ERP/CRM), assistant conversationnel IA, intégration SAGE, outil LLM (Large Language Model), automatisations.</a:t>
            </a:r>
            <a:endParaRPr lang="en-US" sz="108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10530" y="190500"/>
            <a:ext cx="121539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RÉSULTAT</a:t>
            </a:r>
            <a:endParaRPr lang="en-US" sz="975" dirty="0"/>
          </a:p>
        </p:txBody>
      </p:sp>
      <p:sp>
        <p:nvSpPr>
          <p:cNvPr id="3" name="Text 1"/>
          <p:cNvSpPr/>
          <p:nvPr/>
        </p:nvSpPr>
        <p:spPr>
          <a:xfrm>
            <a:off x="910530" y="395288"/>
            <a:ext cx="12153900"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Bénéfices pour le client</a:t>
            </a:r>
            <a:endParaRPr lang="en-US" sz="2400" dirty="0"/>
          </a:p>
        </p:txBody>
      </p:sp>
      <p:sp>
        <p:nvSpPr>
          <p:cNvPr id="4" name="Shape 2"/>
          <p:cNvSpPr/>
          <p:nvPr/>
        </p:nvSpPr>
        <p:spPr>
          <a:xfrm>
            <a:off x="1462980" y="1128713"/>
            <a:ext cx="3543300" cy="1434331"/>
          </a:xfrm>
          <a:prstGeom prst="roundRect">
            <a:avLst>
              <a:gd name="adj" fmla="val 1195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5" name="Text 3"/>
          <p:cNvSpPr/>
          <p:nvPr/>
        </p:nvSpPr>
        <p:spPr>
          <a:xfrm>
            <a:off x="1701105" y="1404938"/>
            <a:ext cx="3373755"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+90 %</a:t>
            </a:r>
            <a:endParaRPr lang="en-US" sz="2100" dirty="0"/>
          </a:p>
        </p:txBody>
      </p:sp>
      <p:sp>
        <p:nvSpPr>
          <p:cNvPr id="6" name="Text 4"/>
          <p:cNvSpPr/>
          <p:nvPr/>
        </p:nvSpPr>
        <p:spPr>
          <a:xfrm>
            <a:off x="1701105" y="1844948"/>
            <a:ext cx="3159062"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+90 % de structuration de l'information (passage d'Excel à un véritable outil métier)</a:t>
            </a:r>
            <a:endParaRPr lang="en-US" sz="1088" dirty="0"/>
          </a:p>
        </p:txBody>
      </p:sp>
      <p:sp>
        <p:nvSpPr>
          <p:cNvPr id="7" name="Shape 5"/>
          <p:cNvSpPr/>
          <p:nvPr/>
        </p:nvSpPr>
        <p:spPr>
          <a:xfrm>
            <a:off x="5215830" y="1128713"/>
            <a:ext cx="3543300" cy="1434331"/>
          </a:xfrm>
          <a:prstGeom prst="roundRect">
            <a:avLst>
              <a:gd name="adj" fmla="val 1195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8" name="Text 6"/>
          <p:cNvSpPr/>
          <p:nvPr/>
        </p:nvSpPr>
        <p:spPr>
          <a:xfrm>
            <a:off x="5453955" y="1404938"/>
            <a:ext cx="3373755"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+20 %</a:t>
            </a:r>
            <a:endParaRPr lang="en-US" sz="2100" dirty="0"/>
          </a:p>
        </p:txBody>
      </p:sp>
      <p:sp>
        <p:nvSpPr>
          <p:cNvPr id="9" name="Text 7"/>
          <p:cNvSpPr/>
          <p:nvPr/>
        </p:nvSpPr>
        <p:spPr>
          <a:xfrm>
            <a:off x="5453955" y="1844948"/>
            <a:ext cx="3159062"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+20 % de gain de temps grâce à un logiciel adapté</a:t>
            </a:r>
            <a:endParaRPr lang="en-US" sz="1088" dirty="0"/>
          </a:p>
        </p:txBody>
      </p:sp>
      <p:sp>
        <p:nvSpPr>
          <p:cNvPr id="10" name="Shape 8"/>
          <p:cNvSpPr/>
          <p:nvPr/>
        </p:nvSpPr>
        <p:spPr>
          <a:xfrm>
            <a:off x="8968680" y="1128713"/>
            <a:ext cx="3543300" cy="1434331"/>
          </a:xfrm>
          <a:prstGeom prst="roundRect">
            <a:avLst>
              <a:gd name="adj" fmla="val 1195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1" name="Text 9"/>
          <p:cNvSpPr/>
          <p:nvPr/>
        </p:nvSpPr>
        <p:spPr>
          <a:xfrm>
            <a:off x="9206805" y="1404938"/>
            <a:ext cx="3373755" cy="344760"/>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+15 %</a:t>
            </a:r>
            <a:endParaRPr lang="en-US" sz="2100" dirty="0"/>
          </a:p>
        </p:txBody>
      </p:sp>
      <p:sp>
        <p:nvSpPr>
          <p:cNvPr id="12" name="Text 10"/>
          <p:cNvSpPr/>
          <p:nvPr/>
        </p:nvSpPr>
        <p:spPr>
          <a:xfrm>
            <a:off x="9206805" y="1844948"/>
            <a:ext cx="3159062"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+15 % de gain de temps supplémentaire par la centralisation de l'information</a:t>
            </a:r>
            <a:endParaRPr lang="en-US" sz="108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145125" cy="9525"/>
          </a:xfrm>
          <a:prstGeom prst="rect">
            <a:avLst/>
          </a:prstGeom>
          <a:solidFill>
            <a:srgbClr val="144D67">
              <a:alpha val="35000"/>
            </a:srgbClr>
          </a:solidFill>
          <a:ln/>
        </p:spPr>
      </p:sp>
      <p:sp>
        <p:nvSpPr>
          <p:cNvPr id="3" name="Text 1"/>
          <p:cNvSpPr/>
          <p:nvPr/>
        </p:nvSpPr>
        <p:spPr>
          <a:xfrm>
            <a:off x="702022" y="771525"/>
            <a:ext cx="1674108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EN SYNTHÈSE</a:t>
            </a:r>
            <a:endParaRPr lang="en-US" sz="975" dirty="0"/>
          </a:p>
        </p:txBody>
      </p:sp>
      <p:sp>
        <p:nvSpPr>
          <p:cNvPr id="4" name="Text 2"/>
          <p:cNvSpPr/>
          <p:nvPr/>
        </p:nvSpPr>
        <p:spPr>
          <a:xfrm>
            <a:off x="702022" y="1052513"/>
            <a:ext cx="16741080" cy="366713"/>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De fichiers dispersés à un outil métier unifié</a:t>
            </a:r>
            <a:endParaRPr lang="en-US" sz="2250" dirty="0"/>
          </a:p>
        </p:txBody>
      </p:sp>
      <p:sp>
        <p:nvSpPr>
          <p:cNvPr id="5" name="Shape 3"/>
          <p:cNvSpPr/>
          <p:nvPr/>
        </p:nvSpPr>
        <p:spPr>
          <a:xfrm>
            <a:off x="5286152" y="1762125"/>
            <a:ext cx="2341513"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6" name="Text 4"/>
          <p:cNvSpPr/>
          <p:nvPr/>
        </p:nvSpPr>
        <p:spPr>
          <a:xfrm>
            <a:off x="5429027" y="1905000"/>
            <a:ext cx="2055763"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Fichiers Excel dispersés et fragiles</a:t>
            </a:r>
            <a:endParaRPr lang="en-US" sz="1013" dirty="0"/>
          </a:p>
        </p:txBody>
      </p:sp>
      <p:sp>
        <p:nvSpPr>
          <p:cNvPr id="7" name="Text 5"/>
          <p:cNvSpPr/>
          <p:nvPr/>
        </p:nvSpPr>
        <p:spPr>
          <a:xfrm>
            <a:off x="7684815" y="187404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8" name="Shape 6"/>
          <p:cNvSpPr/>
          <p:nvPr/>
        </p:nvSpPr>
        <p:spPr>
          <a:xfrm>
            <a:off x="7989615" y="1762125"/>
            <a:ext cx="2220367"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9" name="Text 7"/>
          <p:cNvSpPr/>
          <p:nvPr/>
        </p:nvSpPr>
        <p:spPr>
          <a:xfrm>
            <a:off x="8132490" y="1905000"/>
            <a:ext cx="1934617"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Environnement Notion centralisé</a:t>
            </a:r>
            <a:endParaRPr lang="en-US" sz="1013" dirty="0"/>
          </a:p>
        </p:txBody>
      </p:sp>
      <p:sp>
        <p:nvSpPr>
          <p:cNvPr id="10" name="Text 8"/>
          <p:cNvSpPr/>
          <p:nvPr/>
        </p:nvSpPr>
        <p:spPr>
          <a:xfrm>
            <a:off x="10267131" y="187404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1" name="Shape 9"/>
          <p:cNvSpPr/>
          <p:nvPr/>
        </p:nvSpPr>
        <p:spPr>
          <a:xfrm>
            <a:off x="10571931" y="1762125"/>
            <a:ext cx="2020342"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2" name="Text 10"/>
          <p:cNvSpPr/>
          <p:nvPr/>
        </p:nvSpPr>
        <p:spPr>
          <a:xfrm>
            <a:off x="10714806" y="1905000"/>
            <a:ext cx="1734592"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Chatbot IA connecté à SAGE</a:t>
            </a:r>
            <a:endParaRPr lang="en-US" sz="1013" dirty="0"/>
          </a:p>
        </p:txBody>
      </p:sp>
      <p:sp>
        <p:nvSpPr>
          <p:cNvPr id="13" name="Text 11"/>
          <p:cNvSpPr/>
          <p:nvPr/>
        </p:nvSpPr>
        <p:spPr>
          <a:xfrm>
            <a:off x="12649423" y="187404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4" name="Shape 12"/>
          <p:cNvSpPr/>
          <p:nvPr/>
        </p:nvSpPr>
        <p:spPr>
          <a:xfrm>
            <a:off x="7100888" y="2290763"/>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5" name="Text 13"/>
          <p:cNvSpPr/>
          <p:nvPr/>
        </p:nvSpPr>
        <p:spPr>
          <a:xfrm>
            <a:off x="7243763" y="2433638"/>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Données fiables et à jour</a:t>
            </a:r>
            <a:endParaRPr lang="en-US" sz="1013" dirty="0"/>
          </a:p>
        </p:txBody>
      </p:sp>
      <p:sp>
        <p:nvSpPr>
          <p:cNvPr id="16" name="Text 14"/>
          <p:cNvSpPr/>
          <p:nvPr/>
        </p:nvSpPr>
        <p:spPr>
          <a:xfrm>
            <a:off x="8948738" y="2402681"/>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7" name="Shape 15"/>
          <p:cNvSpPr/>
          <p:nvPr/>
        </p:nvSpPr>
        <p:spPr>
          <a:xfrm>
            <a:off x="9253538" y="2290763"/>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8" name="Text 16"/>
          <p:cNvSpPr/>
          <p:nvPr/>
        </p:nvSpPr>
        <p:spPr>
          <a:xfrm>
            <a:off x="9396413" y="2433638"/>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Outil métier unifié</a:t>
            </a:r>
            <a:endParaRPr lang="en-US" sz="1013" dirty="0"/>
          </a:p>
        </p:txBody>
      </p:sp>
      <p:sp>
        <p:nvSpPr>
          <p:cNvPr id="19" name="Shape 17"/>
          <p:cNvSpPr/>
          <p:nvPr/>
        </p:nvSpPr>
        <p:spPr>
          <a:xfrm>
            <a:off x="7500565" y="3181350"/>
            <a:ext cx="3143920" cy="490538"/>
          </a:xfrm>
          <a:prstGeom prst="roundRect">
            <a:avLst>
              <a:gd name="adj" fmla="val 50000"/>
            </a:avLst>
          </a:prstGeom>
          <a:ln/>
          <a:effectLst>
            <a:outerShdw sx="100000" sy="100000" kx="0" ky="0" algn="bl" rotWithShape="0" blurRad="381000" dist="50800" dir="16200000">
              <a:srgbClr val="000000">
                <a:alpha val="30000"/>
              </a:srgbClr>
            </a:outerShdw>
          </a:effectLst>
        </p:spPr>
      </p:sp>
      <p:sp>
        <p:nvSpPr>
          <p:cNvPr id="20" name="Text 18"/>
          <p:cNvSpPr/>
          <p:nvPr/>
        </p:nvSpPr>
        <p:spPr>
          <a:xfrm>
            <a:off x="7805365" y="3333750"/>
            <a:ext cx="2372395" cy="223838"/>
          </a:xfrm>
          <a:prstGeom prst="rect">
            <a:avLst/>
          </a:prstGeom>
          <a:noFill/>
          <a:ln/>
        </p:spPr>
        <p:txBody>
          <a:bodyPr wrap="square" lIns="0" tIns="0" rIns="0" bIns="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Découvrir nos autres cas d'usage</a:t>
            </a:r>
            <a:endParaRPr lang="en-US" sz="1125" dirty="0"/>
          </a:p>
        </p:txBody>
      </p:sp>
      <p:sp>
        <p:nvSpPr>
          <p:cNvPr id="21" name="Text 19"/>
          <p:cNvSpPr/>
          <p:nvPr/>
        </p:nvSpPr>
        <p:spPr>
          <a:xfrm>
            <a:off x="10158710" y="3333750"/>
            <a:ext cx="219075" cy="223838"/>
          </a:xfrm>
          <a:prstGeom prst="rect">
            <a:avLst/>
          </a:prstGeom>
          <a:noFill/>
          <a:ln/>
        </p:spPr>
        <p:txBody>
          <a:bodyPr wrap="square" lIns="25400" tIns="25400" rIns="25400" bIns="2540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2026-07-09T14:21:56Z</dcterms:created>
  <dcterms:modified xsi:type="dcterms:W3CDTF">2026-07-09T14:21:56Z</dcterms:modified>
</cp:coreProperties>
</file>