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positionnement RH G2M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piliers de la proposition employeur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valeurs qui rassemblent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1884045" y="3215804"/>
            <a:ext cx="14519910" cy="1622971"/>
          </a:xfrm>
          <a:prstGeom prst="rect">
            <a:avLst/>
          </a:prstGeom>
          <a:noFill/>
          <a:ln/>
        </p:spPr>
        <p:txBody>
          <a:bodyPr wrap="square" lIns="25400" tIns="25400" rIns="25400" bIns="25400" rtlCol="0" anchor="t">
            <a:normAutofit/>
          </a:bodyPr>
          <a:lstStyle/>
          <a:p>
            <a:pPr algn="ctr" indent="0" marL="0">
              <a:lnSpc>
                <a:spcPct val="105987"/>
              </a:lnSpc>
              <a:buNone/>
            </a:pPr>
            <a:r>
              <a:rPr lang="en-US" sz="4800" b="1" dirty="0">
                <a:solidFill>
                  <a:srgbClr val="132946"/>
                </a:solidFill>
                <a:latin typeface="Helvetica Neue" pitchFamily="34" charset="0"/>
                <a:ea typeface="Helvetica Neue" pitchFamily="34" charset="-122"/>
                <a:cs typeface="Helvetica Neue" pitchFamily="34" charset="-120"/>
              </a:rPr>
              <a:t>Chez G2M, nous ne recrutons pas des exécutants, nous cherchons des bâtisseurs.</a:t>
            </a:r>
            <a:endParaRPr lang="en-US" sz="4800" dirty="0"/>
          </a:p>
        </p:txBody>
      </p:sp>
      <p:sp>
        <p:nvSpPr>
          <p:cNvPr id="3" name="Text 1"/>
          <p:cNvSpPr/>
          <p:nvPr/>
        </p:nvSpPr>
        <p:spPr>
          <a:xfrm>
            <a:off x="2865120" y="5257874"/>
            <a:ext cx="12557760" cy="1851422"/>
          </a:xfrm>
          <a:prstGeom prst="rect">
            <a:avLst/>
          </a:prstGeom>
          <a:noFill/>
          <a:ln/>
        </p:spPr>
        <p:txBody>
          <a:bodyPr wrap="square" lIns="25400" tIns="25400" rIns="25400" bIns="25400" rtlCol="0" anchor="t">
            <a:normAutofit/>
          </a:bodyPr>
          <a:lstStyle/>
          <a:p>
            <a:pPr algn="ctr" indent="0" marL="0">
              <a:lnSpc>
                <a:spcPct val="142090"/>
              </a:lnSpc>
              <a:buNone/>
            </a:pPr>
            <a:r>
              <a:rPr lang="en-US" sz="2100" dirty="0">
                <a:solidFill>
                  <a:srgbClr val="414853"/>
                </a:solidFill>
                <a:latin typeface="Helvetica Neue" pitchFamily="34" charset="0"/>
                <a:ea typeface="Helvetica Neue" pitchFamily="34" charset="-122"/>
                <a:cs typeface="Helvetica Neue" pitchFamily="34" charset="-120"/>
              </a:rPr>
              <a:t>Chez G2M, vous évoluez dans un environnement à taille humaine où chaque mission est une opportunité d'apprendre, d'expérimenter et de créer de la valeur. Nous encourageons la curiosité et la prise d'initiative afin que chacun puisse progresser en contribuant à des projets Data &amp; IA à fort impact.</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1524000" y="3124200"/>
            <a:ext cx="16764000" cy="552450"/>
          </a:xfrm>
          <a:prstGeom prst="rect">
            <a:avLst/>
          </a:prstGeom>
          <a:noFill/>
          <a:ln/>
        </p:spPr>
        <p:txBody>
          <a:bodyPr wrap="square" lIns="25400" tIns="25400" rIns="25400" bIns="25400" rtlCol="0" anchor="t">
            <a:normAutofit/>
          </a:bodyPr>
          <a:lstStyle/>
          <a:p>
            <a:pPr algn="l" indent="0" marL="0">
              <a:buNone/>
            </a:pPr>
            <a:r>
              <a:rPr lang="en-US" sz="3300" b="1" dirty="0">
                <a:solidFill>
                  <a:srgbClr val="132946"/>
                </a:solidFill>
                <a:latin typeface="Helvetica Neue" pitchFamily="34" charset="0"/>
                <a:ea typeface="Helvetica Neue" pitchFamily="34" charset="-122"/>
                <a:cs typeface="Helvetica Neue" pitchFamily="34" charset="-120"/>
              </a:rPr>
              <a:t>Ce que vous gagnez concrètement en nous rejoignant.</a:t>
            </a:r>
            <a:endParaRPr lang="en-US" sz="3300" dirty="0"/>
          </a:p>
        </p:txBody>
      </p:sp>
      <p:sp>
        <p:nvSpPr>
          <p:cNvPr id="3" name="Shape 1"/>
          <p:cNvSpPr/>
          <p:nvPr/>
        </p:nvSpPr>
        <p:spPr>
          <a:xfrm>
            <a:off x="1524000" y="4248150"/>
            <a:ext cx="4825975" cy="2914650"/>
          </a:xfrm>
          <a:prstGeom prst="roundRect">
            <a:avLst>
              <a:gd name="adj" fmla="val 1961"/>
            </a:avLst>
          </a:prstGeom>
          <a:ln w="9525">
            <a:solidFill>
              <a:srgbClr val="C9CED4"/>
            </a:solidFill>
            <a:prstDash val="solid"/>
          </a:ln>
        </p:spPr>
      </p:sp>
      <p:sp>
        <p:nvSpPr>
          <p:cNvPr id="4" name="Text 2"/>
          <p:cNvSpPr/>
          <p:nvPr/>
        </p:nvSpPr>
        <p:spPr>
          <a:xfrm>
            <a:off x="1712279" y="4791075"/>
            <a:ext cx="4449418" cy="342900"/>
          </a:xfrm>
          <a:prstGeom prst="rect">
            <a:avLst/>
          </a:prstGeom>
          <a:noFill/>
          <a:ln/>
        </p:spPr>
        <p:txBody>
          <a:bodyPr wrap="square" lIns="25400" tIns="25400" rIns="25400" bIns="25400" rtlCol="0" anchor="t">
            <a:normAutofit/>
          </a:bodyPr>
          <a:lstStyle/>
          <a:p>
            <a:pPr algn="ctr" indent="0" marL="0">
              <a:buNone/>
            </a:pPr>
            <a:r>
              <a:rPr lang="en-US" sz="1950" b="1" i="1" dirty="0">
                <a:solidFill>
                  <a:srgbClr val="132946"/>
                </a:solidFill>
                <a:latin typeface="Helvetica Neue" pitchFamily="34" charset="0"/>
                <a:ea typeface="Helvetica Neue" pitchFamily="34" charset="-122"/>
                <a:cs typeface="Helvetica Neue" pitchFamily="34" charset="-120"/>
              </a:rPr>
              <a:t>Construire</a:t>
            </a:r>
            <a:endParaRPr lang="en-US" sz="1950" dirty="0"/>
          </a:p>
        </p:txBody>
      </p:sp>
      <p:sp>
        <p:nvSpPr>
          <p:cNvPr id="5" name="Text 3"/>
          <p:cNvSpPr/>
          <p:nvPr/>
        </p:nvSpPr>
        <p:spPr>
          <a:xfrm>
            <a:off x="1853851" y="5324475"/>
            <a:ext cx="4166273" cy="1009650"/>
          </a:xfrm>
          <a:prstGeom prst="rect">
            <a:avLst/>
          </a:prstGeom>
          <a:noFill/>
          <a:ln/>
        </p:spPr>
        <p:txBody>
          <a:bodyPr wrap="square" lIns="25400" tIns="25400" rIns="25400" bIns="25400" rtlCol="0" anchor="t">
            <a:normAutofit/>
          </a:bodyPr>
          <a:lstStyle/>
          <a:p>
            <a:pPr algn="ctr" indent="0" marL="0">
              <a:lnSpc>
                <a:spcPct val="141667"/>
              </a:lnSpc>
              <a:buNone/>
            </a:pPr>
            <a:r>
              <a:rPr lang="en-US" sz="1500" i="1" dirty="0">
                <a:solidFill>
                  <a:srgbClr val="4E5661"/>
                </a:solidFill>
                <a:latin typeface="Helvetica Neue" pitchFamily="34" charset="0"/>
                <a:ea typeface="Helvetica Neue" pitchFamily="34" charset="-122"/>
                <a:cs typeface="Helvetica Neue" pitchFamily="34" charset="-120"/>
              </a:rPr>
              <a:t>Rejoignez une startup qui se réinvente chaque jour ! Ici, vos idées façonnent nos méthodes, nos offres et nos outils, pas l'inverse.</a:t>
            </a:r>
            <a:endParaRPr lang="en-US" sz="1500" dirty="0"/>
          </a:p>
        </p:txBody>
      </p:sp>
      <p:sp>
        <p:nvSpPr>
          <p:cNvPr id="6" name="Shape 4"/>
          <p:cNvSpPr/>
          <p:nvPr/>
        </p:nvSpPr>
        <p:spPr>
          <a:xfrm>
            <a:off x="6730975" y="4248150"/>
            <a:ext cx="4825975" cy="2914650"/>
          </a:xfrm>
          <a:prstGeom prst="roundRect">
            <a:avLst>
              <a:gd name="adj" fmla="val 1961"/>
            </a:avLst>
          </a:prstGeom>
          <a:ln w="9525">
            <a:solidFill>
              <a:srgbClr val="C9CED4"/>
            </a:solidFill>
            <a:prstDash val="solid"/>
          </a:ln>
        </p:spPr>
      </p:sp>
      <p:sp>
        <p:nvSpPr>
          <p:cNvPr id="7" name="Text 5"/>
          <p:cNvSpPr/>
          <p:nvPr/>
        </p:nvSpPr>
        <p:spPr>
          <a:xfrm>
            <a:off x="6919254" y="4791075"/>
            <a:ext cx="4449418" cy="342900"/>
          </a:xfrm>
          <a:prstGeom prst="rect">
            <a:avLst/>
          </a:prstGeom>
          <a:noFill/>
          <a:ln/>
        </p:spPr>
        <p:txBody>
          <a:bodyPr wrap="square" lIns="25400" tIns="25400" rIns="25400" bIns="25400" rtlCol="0" anchor="t">
            <a:normAutofit/>
          </a:bodyPr>
          <a:lstStyle/>
          <a:p>
            <a:pPr algn="ctr" indent="0" marL="0">
              <a:buNone/>
            </a:pPr>
            <a:r>
              <a:rPr lang="en-US" sz="1950" b="1" i="1" dirty="0">
                <a:solidFill>
                  <a:srgbClr val="132946"/>
                </a:solidFill>
                <a:latin typeface="Helvetica Neue" pitchFamily="34" charset="0"/>
                <a:ea typeface="Helvetica Neue" pitchFamily="34" charset="-122"/>
                <a:cs typeface="Helvetica Neue" pitchFamily="34" charset="-120"/>
              </a:rPr>
              <a:t>Agir</a:t>
            </a:r>
            <a:endParaRPr lang="en-US" sz="1950" dirty="0"/>
          </a:p>
        </p:txBody>
      </p:sp>
      <p:sp>
        <p:nvSpPr>
          <p:cNvPr id="8" name="Text 6"/>
          <p:cNvSpPr/>
          <p:nvPr/>
        </p:nvSpPr>
        <p:spPr>
          <a:xfrm>
            <a:off x="7060826" y="5324475"/>
            <a:ext cx="4166273" cy="1333500"/>
          </a:xfrm>
          <a:prstGeom prst="rect">
            <a:avLst/>
          </a:prstGeom>
          <a:noFill/>
          <a:ln/>
        </p:spPr>
        <p:txBody>
          <a:bodyPr wrap="square" lIns="25400" tIns="25400" rIns="25400" bIns="25400" rtlCol="0" anchor="t">
            <a:normAutofit/>
          </a:bodyPr>
          <a:lstStyle/>
          <a:p>
            <a:pPr algn="ctr" indent="0" marL="0">
              <a:lnSpc>
                <a:spcPct val="141667"/>
              </a:lnSpc>
              <a:buNone/>
            </a:pPr>
            <a:r>
              <a:rPr lang="en-US" sz="1500" i="1" dirty="0">
                <a:solidFill>
                  <a:srgbClr val="4E5661"/>
                </a:solidFill>
                <a:latin typeface="Helvetica Neue" pitchFamily="34" charset="0"/>
                <a:ea typeface="Helvetica Neue" pitchFamily="34" charset="-122"/>
                <a:cs typeface="Helvetica Neue" pitchFamily="34" charset="-120"/>
              </a:rPr>
              <a:t>Une autonomie réelle, un impact concret. Dès vos premières missions, vous collaborez directement avec les dirigeants et mesurez rapidement les résultats de votre travail.</a:t>
            </a:r>
            <a:endParaRPr lang="en-US" sz="1500" dirty="0"/>
          </a:p>
        </p:txBody>
      </p:sp>
      <p:sp>
        <p:nvSpPr>
          <p:cNvPr id="9" name="Shape 7"/>
          <p:cNvSpPr/>
          <p:nvPr/>
        </p:nvSpPr>
        <p:spPr>
          <a:xfrm>
            <a:off x="11937950" y="4248150"/>
            <a:ext cx="4825975" cy="2914650"/>
          </a:xfrm>
          <a:prstGeom prst="roundRect">
            <a:avLst>
              <a:gd name="adj" fmla="val 1961"/>
            </a:avLst>
          </a:prstGeom>
          <a:ln w="9525">
            <a:solidFill>
              <a:srgbClr val="C9CED4"/>
            </a:solidFill>
            <a:prstDash val="solid"/>
          </a:ln>
        </p:spPr>
      </p:sp>
      <p:sp>
        <p:nvSpPr>
          <p:cNvPr id="10" name="Text 8"/>
          <p:cNvSpPr/>
          <p:nvPr/>
        </p:nvSpPr>
        <p:spPr>
          <a:xfrm>
            <a:off x="12126229" y="4791075"/>
            <a:ext cx="4449418" cy="342900"/>
          </a:xfrm>
          <a:prstGeom prst="rect">
            <a:avLst/>
          </a:prstGeom>
          <a:noFill/>
          <a:ln/>
        </p:spPr>
        <p:txBody>
          <a:bodyPr wrap="square" lIns="25400" tIns="25400" rIns="25400" bIns="25400" rtlCol="0" anchor="t">
            <a:normAutofit/>
          </a:bodyPr>
          <a:lstStyle/>
          <a:p>
            <a:pPr algn="ctr" indent="0" marL="0">
              <a:buNone/>
            </a:pPr>
            <a:r>
              <a:rPr lang="en-US" sz="1950" b="1" i="1" dirty="0">
                <a:solidFill>
                  <a:srgbClr val="132946"/>
                </a:solidFill>
                <a:latin typeface="Helvetica Neue" pitchFamily="34" charset="0"/>
                <a:ea typeface="Helvetica Neue" pitchFamily="34" charset="-122"/>
                <a:cs typeface="Helvetica Neue" pitchFamily="34" charset="-120"/>
              </a:rPr>
              <a:t>Grandir</a:t>
            </a:r>
            <a:endParaRPr lang="en-US" sz="1950" dirty="0"/>
          </a:p>
        </p:txBody>
      </p:sp>
      <p:sp>
        <p:nvSpPr>
          <p:cNvPr id="11" name="Text 9"/>
          <p:cNvSpPr/>
          <p:nvPr/>
        </p:nvSpPr>
        <p:spPr>
          <a:xfrm>
            <a:off x="12267802" y="5324475"/>
            <a:ext cx="4166273" cy="1009650"/>
          </a:xfrm>
          <a:prstGeom prst="rect">
            <a:avLst/>
          </a:prstGeom>
          <a:noFill/>
          <a:ln/>
        </p:spPr>
        <p:txBody>
          <a:bodyPr wrap="square" lIns="25400" tIns="25400" rIns="25400" bIns="25400" rtlCol="0" anchor="t">
            <a:normAutofit/>
          </a:bodyPr>
          <a:lstStyle/>
          <a:p>
            <a:pPr algn="ctr" indent="0" marL="0">
              <a:lnSpc>
                <a:spcPct val="141667"/>
              </a:lnSpc>
              <a:buNone/>
            </a:pPr>
            <a:r>
              <a:rPr lang="en-US" sz="1500" i="1" dirty="0">
                <a:solidFill>
                  <a:srgbClr val="4E5661"/>
                </a:solidFill>
                <a:latin typeface="Helvetica Neue" pitchFamily="34" charset="0"/>
                <a:ea typeface="Helvetica Neue" pitchFamily="34" charset="-122"/>
                <a:cs typeface="Helvetica Neue" pitchFamily="34" charset="-120"/>
              </a:rPr>
              <a:t>Votre trajectoire avance avec la nôtre. Chez G2M, votre progression suit le rythme de l'aventure, pas les lignes d'un organigramme.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036"/>
        </a:solidFill>
      </p:bgPr>
    </p:bg>
    <p:spTree>
      <p:nvGrpSpPr>
        <p:cNvPr id="1" name=""/>
        <p:cNvGrpSpPr/>
        <p:nvPr/>
      </p:nvGrpSpPr>
      <p:grpSpPr>
        <a:xfrm>
          <a:off x="0" y="0"/>
          <a:ext cx="0" cy="0"/>
          <a:chOff x="0" y="0"/>
          <a:chExt cx="0" cy="0"/>
        </a:xfrm>
      </p:grpSpPr>
      <p:sp>
        <p:nvSpPr>
          <p:cNvPr id="2" name="Text 0"/>
          <p:cNvSpPr/>
          <p:nvPr/>
        </p:nvSpPr>
        <p:spPr>
          <a:xfrm>
            <a:off x="1524000" y="1888331"/>
            <a:ext cx="16764000" cy="600075"/>
          </a:xfrm>
          <a:prstGeom prst="rect">
            <a:avLst/>
          </a:prstGeom>
          <a:noFill/>
          <a:ln/>
        </p:spPr>
        <p:txBody>
          <a:bodyPr wrap="square" lIns="25400" tIns="25400" rIns="25400" bIns="25400" rtlCol="0" anchor="t">
            <a:normAutofit/>
          </a:bodyPr>
          <a:lstStyle/>
          <a:p>
            <a:pPr algn="l" indent="0" marL="0">
              <a:buNone/>
            </a:pPr>
            <a:r>
              <a:rPr lang="en-US" sz="3600" b="1" dirty="0">
                <a:solidFill>
                  <a:srgbClr val="F6F9FC"/>
                </a:solidFill>
                <a:latin typeface="Helvetica Neue" pitchFamily="34" charset="0"/>
                <a:ea typeface="Helvetica Neue" pitchFamily="34" charset="-122"/>
                <a:cs typeface="Helvetica Neue" pitchFamily="34" charset="-120"/>
              </a:rPr>
              <a:t>Les valeurs qui nous rassemblent</a:t>
            </a:r>
            <a:endParaRPr lang="en-US" sz="3600" dirty="0"/>
          </a:p>
        </p:txBody>
      </p:sp>
      <p:sp>
        <p:nvSpPr>
          <p:cNvPr id="3" name="Shape 1"/>
          <p:cNvSpPr/>
          <p:nvPr/>
        </p:nvSpPr>
        <p:spPr>
          <a:xfrm>
            <a:off x="1524000" y="5036344"/>
            <a:ext cx="15240000" cy="9525"/>
          </a:xfrm>
          <a:prstGeom prst="rect">
            <a:avLst/>
          </a:prstGeom>
          <a:solidFill>
            <a:srgbClr val="3E4A58">
              <a:alpha val="50000"/>
            </a:srgbClr>
          </a:solidFill>
          <a:ln/>
        </p:spPr>
      </p:sp>
      <p:sp>
        <p:nvSpPr>
          <p:cNvPr id="4" name="Text 2"/>
          <p:cNvSpPr/>
          <p:nvPr/>
        </p:nvSpPr>
        <p:spPr>
          <a:xfrm>
            <a:off x="1524000" y="3745706"/>
            <a:ext cx="16764000" cy="647700"/>
          </a:xfrm>
          <a:prstGeom prst="rect">
            <a:avLst/>
          </a:prstGeom>
          <a:noFill/>
          <a:ln/>
        </p:spPr>
        <p:txBody>
          <a:bodyPr wrap="square" lIns="25400" tIns="25400" rIns="25400" bIns="25400" rtlCol="0" anchor="t">
            <a:normAutofit/>
          </a:bodyPr>
          <a:lstStyle/>
          <a:p>
            <a:pPr algn="l" indent="0" marL="0">
              <a:lnSpc>
                <a:spcPct val="81529"/>
              </a:lnSpc>
              <a:buNone/>
            </a:pPr>
            <a:r>
              <a:rPr lang="en-US" sz="4800" b="1" dirty="0">
                <a:solidFill>
                  <a:srgbClr val="F6F9FC"/>
                </a:solidFill>
                <a:latin typeface="Helvetica Neue" pitchFamily="34" charset="0"/>
                <a:ea typeface="Helvetica Neue" pitchFamily="34" charset="-122"/>
                <a:cs typeface="Helvetica Neue" pitchFamily="34" charset="-120"/>
              </a:rPr>
              <a:t>01</a:t>
            </a:r>
            <a:endParaRPr lang="en-US" sz="4800" dirty="0"/>
          </a:p>
        </p:txBody>
      </p:sp>
      <p:sp>
        <p:nvSpPr>
          <p:cNvPr id="5" name="Text 3"/>
          <p:cNvSpPr/>
          <p:nvPr/>
        </p:nvSpPr>
        <p:spPr>
          <a:xfrm>
            <a:off x="1524000" y="4450556"/>
            <a:ext cx="16764000" cy="242888"/>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A2AFC1"/>
                </a:solidFill>
                <a:latin typeface="Helvetica Neue" pitchFamily="34" charset="0"/>
                <a:ea typeface="Helvetica Neue" pitchFamily="34" charset="-122"/>
                <a:cs typeface="Helvetica Neue" pitchFamily="34" charset="-120"/>
              </a:rPr>
              <a:t>AUTONOMIE</a:t>
            </a:r>
            <a:endParaRPr lang="en-US" sz="1350" dirty="0"/>
          </a:p>
        </p:txBody>
      </p:sp>
      <p:sp>
        <p:nvSpPr>
          <p:cNvPr id="6" name="Shape 4"/>
          <p:cNvSpPr/>
          <p:nvPr/>
        </p:nvSpPr>
        <p:spPr>
          <a:xfrm>
            <a:off x="1524000" y="6717506"/>
            <a:ext cx="15240000" cy="9525"/>
          </a:xfrm>
          <a:prstGeom prst="rect">
            <a:avLst/>
          </a:prstGeom>
          <a:solidFill>
            <a:srgbClr val="3E4A58">
              <a:alpha val="50000"/>
            </a:srgbClr>
          </a:solidFill>
          <a:ln/>
        </p:spPr>
      </p:sp>
      <p:sp>
        <p:nvSpPr>
          <p:cNvPr id="7" name="Text 5"/>
          <p:cNvSpPr/>
          <p:nvPr/>
        </p:nvSpPr>
        <p:spPr>
          <a:xfrm>
            <a:off x="2476500" y="5426869"/>
            <a:ext cx="15716250" cy="647700"/>
          </a:xfrm>
          <a:prstGeom prst="rect">
            <a:avLst/>
          </a:prstGeom>
          <a:noFill/>
          <a:ln/>
        </p:spPr>
        <p:txBody>
          <a:bodyPr wrap="square" lIns="25400" tIns="25400" rIns="25400" bIns="25400" rtlCol="0" anchor="t">
            <a:normAutofit/>
          </a:bodyPr>
          <a:lstStyle/>
          <a:p>
            <a:pPr algn="l" indent="0" marL="0">
              <a:lnSpc>
                <a:spcPct val="81529"/>
              </a:lnSpc>
              <a:buNone/>
            </a:pPr>
            <a:r>
              <a:rPr lang="en-US" sz="4800" b="1" dirty="0">
                <a:solidFill>
                  <a:srgbClr val="F6F9FC"/>
                </a:solidFill>
                <a:latin typeface="Helvetica Neue" pitchFamily="34" charset="0"/>
                <a:ea typeface="Helvetica Neue" pitchFamily="34" charset="-122"/>
                <a:cs typeface="Helvetica Neue" pitchFamily="34" charset="-120"/>
              </a:rPr>
              <a:t>02</a:t>
            </a:r>
            <a:endParaRPr lang="en-US" sz="4800" dirty="0"/>
          </a:p>
        </p:txBody>
      </p:sp>
      <p:sp>
        <p:nvSpPr>
          <p:cNvPr id="8" name="Text 6"/>
          <p:cNvSpPr/>
          <p:nvPr/>
        </p:nvSpPr>
        <p:spPr>
          <a:xfrm>
            <a:off x="2476500" y="6131719"/>
            <a:ext cx="15716250" cy="242888"/>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A2AFC1"/>
                </a:solidFill>
                <a:latin typeface="Helvetica Neue" pitchFamily="34" charset="0"/>
                <a:ea typeface="Helvetica Neue" pitchFamily="34" charset="-122"/>
                <a:cs typeface="Helvetica Neue" pitchFamily="34" charset="-120"/>
              </a:rPr>
              <a:t>ESPRIT D'ÉQUIPE</a:t>
            </a:r>
            <a:endParaRPr lang="en-US" sz="1350" dirty="0"/>
          </a:p>
        </p:txBody>
      </p:sp>
      <p:sp>
        <p:nvSpPr>
          <p:cNvPr id="9" name="Text 7"/>
          <p:cNvSpPr/>
          <p:nvPr/>
        </p:nvSpPr>
        <p:spPr>
          <a:xfrm>
            <a:off x="3429000" y="7108031"/>
            <a:ext cx="14668500" cy="647700"/>
          </a:xfrm>
          <a:prstGeom prst="rect">
            <a:avLst/>
          </a:prstGeom>
          <a:noFill/>
          <a:ln/>
        </p:spPr>
        <p:txBody>
          <a:bodyPr wrap="square" lIns="25400" tIns="25400" rIns="25400" bIns="25400" rtlCol="0" anchor="t">
            <a:normAutofit/>
          </a:bodyPr>
          <a:lstStyle/>
          <a:p>
            <a:pPr algn="l" indent="0" marL="0">
              <a:lnSpc>
                <a:spcPct val="81529"/>
              </a:lnSpc>
              <a:buNone/>
            </a:pPr>
            <a:r>
              <a:rPr lang="en-US" sz="4800" b="1" dirty="0">
                <a:solidFill>
                  <a:srgbClr val="F6F9FC"/>
                </a:solidFill>
                <a:latin typeface="Helvetica Neue" pitchFamily="34" charset="0"/>
                <a:ea typeface="Helvetica Neue" pitchFamily="34" charset="-122"/>
                <a:cs typeface="Helvetica Neue" pitchFamily="34" charset="-120"/>
              </a:rPr>
              <a:t>03</a:t>
            </a:r>
            <a:endParaRPr lang="en-US" sz="4800" dirty="0"/>
          </a:p>
        </p:txBody>
      </p:sp>
      <p:sp>
        <p:nvSpPr>
          <p:cNvPr id="10" name="Text 8"/>
          <p:cNvSpPr/>
          <p:nvPr/>
        </p:nvSpPr>
        <p:spPr>
          <a:xfrm>
            <a:off x="3429000" y="7812881"/>
            <a:ext cx="14668500" cy="242888"/>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A2AFC1"/>
                </a:solidFill>
                <a:latin typeface="Helvetica Neue" pitchFamily="34" charset="0"/>
                <a:ea typeface="Helvetica Neue" pitchFamily="34" charset="-122"/>
                <a:cs typeface="Helvetica Neue" pitchFamily="34" charset="-120"/>
              </a:rPr>
              <a:t>BIENVEILLANCE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2026-07-16T12:30:12Z</dcterms:created>
  <dcterms:modified xsi:type="dcterms:W3CDTF">2026-07-16T12:30:12Z</dcterms:modified>
</cp:coreProperties>
</file>