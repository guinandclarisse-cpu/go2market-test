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521"/>
        </a:solidFill>
      </p:bgPr>
    </p:bg>
    <p:spTree>
      <p:nvGrpSpPr>
        <p:cNvPr id="1" name=""/>
        <p:cNvGrpSpPr/>
        <p:nvPr/>
      </p:nvGrpSpPr>
      <p:grpSpPr>
        <a:xfrm>
          <a:off x="0" y="0"/>
          <a:ext cx="0" cy="0"/>
          <a:chOff x="0" y="0"/>
          <a:chExt cx="0" cy="0"/>
        </a:xfrm>
      </p:grpSpPr>
      <p:sp>
        <p:nvSpPr>
          <p:cNvPr id="2" name="Text 0"/>
          <p:cNvSpPr/>
          <p:nvPr/>
        </p:nvSpPr>
        <p:spPr>
          <a:xfrm>
            <a:off x="1143000" y="952500"/>
            <a:ext cx="14668500" cy="738188"/>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F3F5F8"/>
                </a:solidFill>
                <a:latin typeface="Helvetica" pitchFamily="34" charset="0"/>
                <a:ea typeface="Helvetica" pitchFamily="34" charset="-122"/>
                <a:cs typeface="Helvetica" pitchFamily="34" charset="-120"/>
              </a:rPr>
              <a:t>Les réponses à vos questions</a:t>
            </a:r>
            <a:endParaRPr lang="en-US" sz="4800" dirty="0"/>
          </a:p>
        </p:txBody>
      </p:sp>
      <p:sp>
        <p:nvSpPr>
          <p:cNvPr id="3" name="Text 1"/>
          <p:cNvSpPr/>
          <p:nvPr/>
        </p:nvSpPr>
        <p:spPr>
          <a:xfrm>
            <a:off x="1143000" y="1919288"/>
            <a:ext cx="11772900" cy="14097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9BA6B1"/>
                </a:solidFill>
                <a:latin typeface="Helvetica" pitchFamily="34" charset="0"/>
                <a:ea typeface="Helvetica" pitchFamily="34" charset="-122"/>
                <a:cs typeface="Helvetica" pitchFamily="34" charset="-120"/>
              </a:rPr>
              <a:t>Vous avez des questions sur la partie développement sur mesure ? Retrouvez ici les réponses aux interrogations les plus fréquentes pour vous aider à mieux comprendre notre démarche.</a:t>
            </a:r>
            <a:endParaRPr lang="en-US"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1521"/>
        </a:solidFill>
      </p:bgPr>
    </p:bg>
    <p:spTree>
      <p:nvGrpSpPr>
        <p:cNvPr id="1" name=""/>
        <p:cNvGrpSpPr/>
        <p:nvPr/>
      </p:nvGrpSpPr>
      <p:grpSpPr>
        <a:xfrm>
          <a:off x="0" y="0"/>
          <a:ext cx="0" cy="0"/>
          <a:chOff x="0" y="0"/>
          <a:chExt cx="0" cy="0"/>
        </a:xfrm>
      </p:grpSpPr>
      <p:sp>
        <p:nvSpPr>
          <p:cNvPr id="2" name="Shape 0"/>
          <p:cNvSpPr/>
          <p:nvPr/>
        </p:nvSpPr>
        <p:spPr>
          <a:xfrm>
            <a:off x="1143000" y="2897684"/>
            <a:ext cx="16002000" cy="9525"/>
          </a:xfrm>
          <a:prstGeom prst="rect">
            <a:avLst/>
          </a:prstGeom>
          <a:solidFill>
            <a:srgbClr val="2B343D"/>
          </a:solidFill>
          <a:ln/>
        </p:spPr>
      </p:sp>
      <p:sp>
        <p:nvSpPr>
          <p:cNvPr id="3" name="Text 1"/>
          <p:cNvSpPr/>
          <p:nvPr/>
        </p:nvSpPr>
        <p:spPr>
          <a:xfrm>
            <a:off x="1143000" y="3288209"/>
            <a:ext cx="15716250"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ECEFF2"/>
                </a:solidFill>
                <a:latin typeface="Helvetica" pitchFamily="34" charset="0"/>
                <a:ea typeface="Helvetica" pitchFamily="34" charset="-122"/>
                <a:cs typeface="Helvetica" pitchFamily="34" charset="-120"/>
              </a:rPr>
              <a:t>À quels types d'entreprises s'adresse le développement sur mesure ?</a:t>
            </a:r>
            <a:endParaRPr lang="en-US" sz="2400" dirty="0"/>
          </a:p>
        </p:txBody>
      </p:sp>
      <p:sp>
        <p:nvSpPr>
          <p:cNvPr id="4" name="Text 2"/>
          <p:cNvSpPr/>
          <p:nvPr/>
        </p:nvSpPr>
        <p:spPr>
          <a:xfrm>
            <a:off x="1143000" y="3812084"/>
            <a:ext cx="13735050" cy="1226641"/>
          </a:xfrm>
          <a:prstGeom prst="rect">
            <a:avLst/>
          </a:prstGeom>
          <a:noFill/>
          <a:ln/>
        </p:spPr>
        <p:txBody>
          <a:bodyPr wrap="square" lIns="25400" tIns="25400" rIns="25400" bIns="25400" rtlCol="0" anchor="t">
            <a:normAutofit/>
          </a:bodyPr>
          <a:lstStyle/>
          <a:p>
            <a:pPr algn="l" indent="0" marL="0">
              <a:lnSpc>
                <a:spcPct val="138667"/>
              </a:lnSpc>
              <a:buNone/>
            </a:pPr>
            <a:r>
              <a:rPr lang="en-US" sz="1950" dirty="0">
                <a:solidFill>
                  <a:srgbClr val="A5AFBA"/>
                </a:solidFill>
                <a:latin typeface="Helvetica" pitchFamily="34" charset="0"/>
                <a:ea typeface="Helvetica" pitchFamily="34" charset="-122"/>
                <a:cs typeface="Helvetica" pitchFamily="34" charset="-120"/>
              </a:rPr>
              <a:t>Le développement sur mesure s'adresse aux entreprises de toutes tailles souhaitant répondre à une problématique métier spécifique, automatiser certains processus ou exploiter davantage leurs données grâce à une solution Data &amp; IA adaptée à leur activité.</a:t>
            </a:r>
            <a:endParaRPr lang="en-US" sz="1950" dirty="0"/>
          </a:p>
        </p:txBody>
      </p:sp>
      <p:sp>
        <p:nvSpPr>
          <p:cNvPr id="5" name="Shape 3"/>
          <p:cNvSpPr/>
          <p:nvPr/>
        </p:nvSpPr>
        <p:spPr>
          <a:xfrm>
            <a:off x="1143000" y="5381625"/>
            <a:ext cx="16002000" cy="9525"/>
          </a:xfrm>
          <a:prstGeom prst="rect">
            <a:avLst/>
          </a:prstGeom>
          <a:solidFill>
            <a:srgbClr val="2B343D"/>
          </a:solidFill>
          <a:ln/>
        </p:spPr>
      </p:sp>
      <p:sp>
        <p:nvSpPr>
          <p:cNvPr id="6" name="Text 4"/>
          <p:cNvSpPr/>
          <p:nvPr/>
        </p:nvSpPr>
        <p:spPr>
          <a:xfrm>
            <a:off x="1143000" y="5772150"/>
            <a:ext cx="15716250"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ECEFF2"/>
                </a:solidFill>
                <a:latin typeface="Helvetica" pitchFamily="34" charset="0"/>
                <a:ea typeface="Helvetica" pitchFamily="34" charset="-122"/>
                <a:cs typeface="Helvetica" pitchFamily="34" charset="-120"/>
              </a:rPr>
              <a:t>Comment savoir si mon projet Data &amp; IA est réalisable ?</a:t>
            </a:r>
            <a:endParaRPr lang="en-US" sz="2400" dirty="0"/>
          </a:p>
        </p:txBody>
      </p:sp>
      <p:sp>
        <p:nvSpPr>
          <p:cNvPr id="7" name="Text 5"/>
          <p:cNvSpPr/>
          <p:nvPr/>
        </p:nvSpPr>
        <p:spPr>
          <a:xfrm>
            <a:off x="1143000" y="6296025"/>
            <a:ext cx="13735050" cy="1226641"/>
          </a:xfrm>
          <a:prstGeom prst="rect">
            <a:avLst/>
          </a:prstGeom>
          <a:noFill/>
          <a:ln/>
        </p:spPr>
        <p:txBody>
          <a:bodyPr wrap="square" lIns="25400" tIns="25400" rIns="25400" bIns="25400" rtlCol="0" anchor="t">
            <a:normAutofit/>
          </a:bodyPr>
          <a:lstStyle/>
          <a:p>
            <a:pPr algn="l" indent="0" marL="0">
              <a:lnSpc>
                <a:spcPct val="138667"/>
              </a:lnSpc>
              <a:buNone/>
            </a:pPr>
            <a:r>
              <a:rPr lang="en-US" sz="1950" dirty="0">
                <a:solidFill>
                  <a:srgbClr val="A5AFBA"/>
                </a:solidFill>
                <a:latin typeface="Helvetica" pitchFamily="34" charset="0"/>
                <a:ea typeface="Helvetica" pitchFamily="34" charset="-122"/>
                <a:cs typeface="Helvetica" pitchFamily="34" charset="-120"/>
              </a:rPr>
              <a:t>Avant d'engager un développement complet, G2M étudie votre besoin, vos objectifs, vos contraintes ainsi que la faisabilité technique du projet. Cette première analyse permet de définir une approche adaptée et de s'assurer que la solution envisagée répond à un besoin concret.</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1521"/>
        </a:solidFill>
      </p:bgPr>
    </p:bg>
    <p:spTree>
      <p:nvGrpSpPr>
        <p:cNvPr id="1" name=""/>
        <p:cNvGrpSpPr/>
        <p:nvPr/>
      </p:nvGrpSpPr>
      <p:grpSpPr>
        <a:xfrm>
          <a:off x="0" y="0"/>
          <a:ext cx="0" cy="0"/>
          <a:chOff x="0" y="0"/>
          <a:chExt cx="0" cy="0"/>
        </a:xfrm>
      </p:grpSpPr>
      <p:sp>
        <p:nvSpPr>
          <p:cNvPr id="2" name="Shape 0"/>
          <p:cNvSpPr/>
          <p:nvPr/>
        </p:nvSpPr>
        <p:spPr>
          <a:xfrm>
            <a:off x="1143000" y="4083397"/>
            <a:ext cx="16002000" cy="9525"/>
          </a:xfrm>
          <a:prstGeom prst="rect">
            <a:avLst/>
          </a:prstGeom>
          <a:solidFill>
            <a:srgbClr val="2B343D"/>
          </a:solidFill>
          <a:ln/>
        </p:spPr>
      </p:sp>
      <p:sp>
        <p:nvSpPr>
          <p:cNvPr id="3" name="Text 1"/>
          <p:cNvSpPr/>
          <p:nvPr/>
        </p:nvSpPr>
        <p:spPr>
          <a:xfrm>
            <a:off x="1143000" y="4473922"/>
            <a:ext cx="15716250"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ECEFF2"/>
                </a:solidFill>
                <a:latin typeface="Helvetica" pitchFamily="34" charset="0"/>
                <a:ea typeface="Helvetica" pitchFamily="34" charset="-122"/>
                <a:cs typeface="Helvetica" pitchFamily="34" charset="-120"/>
              </a:rPr>
              <a:t>Combien de temps faut-il pour développer une solution Data &amp; IA sur mesure ?</a:t>
            </a:r>
            <a:endParaRPr lang="en-US" sz="2400" dirty="0"/>
          </a:p>
        </p:txBody>
      </p:sp>
      <p:sp>
        <p:nvSpPr>
          <p:cNvPr id="4" name="Text 2"/>
          <p:cNvSpPr/>
          <p:nvPr/>
        </p:nvSpPr>
        <p:spPr>
          <a:xfrm>
            <a:off x="1143000" y="5035897"/>
            <a:ext cx="13735050" cy="1300981"/>
          </a:xfrm>
          <a:prstGeom prst="rect">
            <a:avLst/>
          </a:prstGeom>
          <a:noFill/>
          <a:ln/>
        </p:spPr>
        <p:txBody>
          <a:bodyPr wrap="square" lIns="25400" tIns="25400" rIns="25400" bIns="25400" rtlCol="0" anchor="t">
            <a:normAutofit/>
          </a:bodyPr>
          <a:lstStyle/>
          <a:p>
            <a:pPr algn="l" indent="0" marL="0">
              <a:lnSpc>
                <a:spcPct val="147333"/>
              </a:lnSpc>
              <a:buNone/>
            </a:pPr>
            <a:r>
              <a:rPr lang="en-US" sz="1950" dirty="0">
                <a:solidFill>
                  <a:srgbClr val="A5AFBA"/>
                </a:solidFill>
                <a:latin typeface="Helvetica" pitchFamily="34" charset="0"/>
                <a:ea typeface="Helvetica" pitchFamily="34" charset="-122"/>
                <a:cs typeface="Helvetica" pitchFamily="34" charset="-120"/>
              </a:rPr>
              <a:t>La durée d'un projet dépend de sa complexité, des fonctionnalités attendues, des données disponibles et du niveau d'intégration nécessaire. Un calendrier prévisionnel est défini avec vous en fonction du périmètre et des objectifs du projet.</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1521"/>
        </a:solidFill>
      </p:bgPr>
    </p:bg>
    <p:spTree>
      <p:nvGrpSpPr>
        <p:cNvPr id="1" name=""/>
        <p:cNvGrpSpPr/>
        <p:nvPr/>
      </p:nvGrpSpPr>
      <p:grpSpPr>
        <a:xfrm>
          <a:off x="0" y="0"/>
          <a:ext cx="0" cy="0"/>
          <a:chOff x="0" y="0"/>
          <a:chExt cx="0" cy="0"/>
        </a:xfrm>
      </p:grpSpPr>
      <p:sp>
        <p:nvSpPr>
          <p:cNvPr id="2" name="Shape 0"/>
          <p:cNvSpPr/>
          <p:nvPr/>
        </p:nvSpPr>
        <p:spPr>
          <a:xfrm>
            <a:off x="1143000" y="2897684"/>
            <a:ext cx="16002000" cy="9525"/>
          </a:xfrm>
          <a:prstGeom prst="rect">
            <a:avLst/>
          </a:prstGeom>
          <a:solidFill>
            <a:srgbClr val="2B343D"/>
          </a:solidFill>
          <a:ln/>
        </p:spPr>
      </p:sp>
      <p:sp>
        <p:nvSpPr>
          <p:cNvPr id="3" name="Text 1"/>
          <p:cNvSpPr/>
          <p:nvPr/>
        </p:nvSpPr>
        <p:spPr>
          <a:xfrm>
            <a:off x="1143000" y="3288209"/>
            <a:ext cx="15716250"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ECEFF2"/>
                </a:solidFill>
                <a:latin typeface="Helvetica" pitchFamily="34" charset="0"/>
                <a:ea typeface="Helvetica" pitchFamily="34" charset="-122"/>
                <a:cs typeface="Helvetica" pitchFamily="34" charset="-120"/>
              </a:rPr>
              <a:t>Quel est le coût d'un développement Data &amp; IA sur mesure ?</a:t>
            </a:r>
            <a:endParaRPr lang="en-US" sz="2400" dirty="0"/>
          </a:p>
        </p:txBody>
      </p:sp>
      <p:sp>
        <p:nvSpPr>
          <p:cNvPr id="4" name="Text 2"/>
          <p:cNvSpPr/>
          <p:nvPr/>
        </p:nvSpPr>
        <p:spPr>
          <a:xfrm>
            <a:off x="1143000" y="3812084"/>
            <a:ext cx="13735050" cy="1226641"/>
          </a:xfrm>
          <a:prstGeom prst="rect">
            <a:avLst/>
          </a:prstGeom>
          <a:noFill/>
          <a:ln/>
        </p:spPr>
        <p:txBody>
          <a:bodyPr wrap="square" lIns="25400" tIns="25400" rIns="25400" bIns="25400" rtlCol="0" anchor="t">
            <a:normAutofit/>
          </a:bodyPr>
          <a:lstStyle/>
          <a:p>
            <a:pPr algn="l" indent="0" marL="0">
              <a:lnSpc>
                <a:spcPct val="138667"/>
              </a:lnSpc>
              <a:buNone/>
            </a:pPr>
            <a:r>
              <a:rPr lang="en-US" sz="1950" dirty="0">
                <a:solidFill>
                  <a:srgbClr val="A5AFBA"/>
                </a:solidFill>
                <a:latin typeface="Helvetica" pitchFamily="34" charset="0"/>
                <a:ea typeface="Helvetica" pitchFamily="34" charset="-122"/>
                <a:cs typeface="Helvetica" pitchFamily="34" charset="-120"/>
              </a:rPr>
              <a:t>Le coût varie selon les besoins de votre entreprise, la complexité de la solution, les fonctionnalités à développer et les technologies mobilisées. Une estimation personnalisée est réalisée après l'analyse du projet et la définition de son périmètre.</a:t>
            </a:r>
            <a:endParaRPr lang="en-US" sz="1950" dirty="0"/>
          </a:p>
        </p:txBody>
      </p:sp>
      <p:sp>
        <p:nvSpPr>
          <p:cNvPr id="5" name="Shape 3"/>
          <p:cNvSpPr/>
          <p:nvPr/>
        </p:nvSpPr>
        <p:spPr>
          <a:xfrm>
            <a:off x="1143000" y="5381625"/>
            <a:ext cx="16002000" cy="9525"/>
          </a:xfrm>
          <a:prstGeom prst="rect">
            <a:avLst/>
          </a:prstGeom>
          <a:solidFill>
            <a:srgbClr val="2B343D"/>
          </a:solidFill>
          <a:ln/>
        </p:spPr>
      </p:sp>
      <p:sp>
        <p:nvSpPr>
          <p:cNvPr id="6" name="Text 4"/>
          <p:cNvSpPr/>
          <p:nvPr/>
        </p:nvSpPr>
        <p:spPr>
          <a:xfrm>
            <a:off x="1143000" y="5772150"/>
            <a:ext cx="15716250"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ECEFF2"/>
                </a:solidFill>
                <a:latin typeface="Helvetica" pitchFamily="34" charset="0"/>
                <a:ea typeface="Helvetica" pitchFamily="34" charset="-122"/>
                <a:cs typeface="Helvetica" pitchFamily="34" charset="-120"/>
              </a:rPr>
              <a:t>Serons-nous accompagnés dans la prise en main de la solution ?</a:t>
            </a:r>
            <a:endParaRPr lang="en-US" sz="2400" dirty="0"/>
          </a:p>
        </p:txBody>
      </p:sp>
      <p:sp>
        <p:nvSpPr>
          <p:cNvPr id="7" name="Text 5"/>
          <p:cNvSpPr/>
          <p:nvPr/>
        </p:nvSpPr>
        <p:spPr>
          <a:xfrm>
            <a:off x="1143000" y="6296025"/>
            <a:ext cx="13735050" cy="1226641"/>
          </a:xfrm>
          <a:prstGeom prst="rect">
            <a:avLst/>
          </a:prstGeom>
          <a:noFill/>
          <a:ln/>
        </p:spPr>
        <p:txBody>
          <a:bodyPr wrap="square" lIns="25400" tIns="25400" rIns="25400" bIns="25400" rtlCol="0" anchor="t">
            <a:normAutofit/>
          </a:bodyPr>
          <a:lstStyle/>
          <a:p>
            <a:pPr algn="l" indent="0" marL="0">
              <a:lnSpc>
                <a:spcPct val="138667"/>
              </a:lnSpc>
              <a:buNone/>
            </a:pPr>
            <a:r>
              <a:rPr lang="en-US" sz="1950" dirty="0">
                <a:solidFill>
                  <a:srgbClr val="A5AFBA"/>
                </a:solidFill>
                <a:latin typeface="Helvetica" pitchFamily="34" charset="0"/>
                <a:ea typeface="Helvetica" pitchFamily="34" charset="-122"/>
                <a:cs typeface="Helvetica" pitchFamily="34" charset="-120"/>
              </a:rPr>
              <a:t>Oui. G2M accompagne vos équipes afin de faciliter la prise en main et l'intégration de la solution dans leurs usages quotidiens. L'objectif est de favoriser son adoption et de permettre une utilisation adaptée aux besoins de votre entreprise.</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2026-07-15T13:37:41Z</dcterms:created>
  <dcterms:modified xsi:type="dcterms:W3CDTF">2026-07-15T13:37:41Z</dcterms:modified>
</cp:coreProperties>
</file>