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8288000" cy="8572500"/>
  <p:notesSz cx="85725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5200650"/>
            <a:ext cx="5686425" cy="9525"/>
          </a:xfrm>
          <a:prstGeom prst="rect">
            <a:avLst/>
          </a:prstGeom>
          <a:solidFill>
            <a:srgbClr val="005F7E">
              <a:alpha val="35000"/>
            </a:srgbClr>
          </a:solidFill>
          <a:ln/>
        </p:spPr>
      </p:sp>
      <p:sp>
        <p:nvSpPr>
          <p:cNvPr id="3" name="Shape 1"/>
          <p:cNvSpPr/>
          <p:nvPr/>
        </p:nvSpPr>
        <p:spPr>
          <a:xfrm>
            <a:off x="466279" y="924371"/>
            <a:ext cx="1908944" cy="323850"/>
          </a:xfrm>
          <a:prstGeom prst="roundRect">
            <a:avLst>
              <a:gd name="adj" fmla="val 50000"/>
            </a:avLst>
          </a:prstGeom>
          <a:solidFill>
            <a:srgbClr val="003044">
              <a:alpha val="50000"/>
            </a:srgbClr>
          </a:solidFill>
          <a:ln w="9525">
            <a:solidFill>
              <a:srgbClr val="008594">
                <a:alpha val="55000"/>
              </a:srgbClr>
            </a:solidFill>
            <a:prstDash val="solid"/>
          </a:ln>
        </p:spPr>
      </p:sp>
      <p:sp>
        <p:nvSpPr>
          <p:cNvPr id="4" name="Text 2"/>
          <p:cNvSpPr/>
          <p:nvPr/>
        </p:nvSpPr>
        <p:spPr>
          <a:xfrm>
            <a:off x="628204" y="1010096"/>
            <a:ext cx="1661294" cy="190500"/>
          </a:xfrm>
          <a:prstGeom prst="rect">
            <a:avLst/>
          </a:prstGeom>
          <a:noFill/>
          <a:ln/>
        </p:spPr>
        <p:txBody>
          <a:bodyPr wrap="square" lIns="25400" tIns="25400" rIns="25400" bIns="25400" rtlCol="0" anchor="t">
            <a:normAutofit/>
          </a:bodyPr>
          <a:lstStyle/>
          <a:p>
            <a:pPr algn="l" indent="0" marL="0">
              <a:buNone/>
            </a:pPr>
            <a:r>
              <a:rPr lang="en-US" sz="938" b="1" spc="113" kern="0" dirty="0">
                <a:solidFill>
                  <a:srgbClr val="45E6F6"/>
                </a:solidFill>
                <a:latin typeface="Arial" pitchFamily="34" charset="0"/>
                <a:ea typeface="Arial" pitchFamily="34" charset="-122"/>
                <a:cs typeface="Arial" pitchFamily="34" charset="-120"/>
              </a:rPr>
              <a:t>CHIRURGIE ESTHÉTIQUE</a:t>
            </a:r>
            <a:endParaRPr lang="en-US" sz="938" dirty="0"/>
          </a:p>
        </p:txBody>
      </p:sp>
      <p:sp>
        <p:nvSpPr>
          <p:cNvPr id="5" name="Shape 3"/>
          <p:cNvSpPr/>
          <p:nvPr/>
        </p:nvSpPr>
        <p:spPr>
          <a:xfrm>
            <a:off x="2470472" y="924371"/>
            <a:ext cx="1107058" cy="323850"/>
          </a:xfrm>
          <a:prstGeom prst="roundRect">
            <a:avLst>
              <a:gd name="adj" fmla="val 50000"/>
            </a:avLst>
          </a:prstGeom>
          <a:solidFill>
            <a:srgbClr val="003044">
              <a:alpha val="50000"/>
            </a:srgbClr>
          </a:solidFill>
          <a:ln w="9525">
            <a:solidFill>
              <a:srgbClr val="008594">
                <a:alpha val="55000"/>
              </a:srgbClr>
            </a:solidFill>
            <a:prstDash val="solid"/>
          </a:ln>
        </p:spPr>
      </p:sp>
      <p:sp>
        <p:nvSpPr>
          <p:cNvPr id="6" name="Text 4"/>
          <p:cNvSpPr/>
          <p:nvPr/>
        </p:nvSpPr>
        <p:spPr>
          <a:xfrm>
            <a:off x="2632397" y="1010096"/>
            <a:ext cx="859408" cy="190500"/>
          </a:xfrm>
          <a:prstGeom prst="rect">
            <a:avLst/>
          </a:prstGeom>
          <a:noFill/>
          <a:ln/>
        </p:spPr>
        <p:txBody>
          <a:bodyPr wrap="square" lIns="25400" tIns="25400" rIns="25400" bIns="25400" rtlCol="0" anchor="t">
            <a:normAutofit/>
          </a:bodyPr>
          <a:lstStyle/>
          <a:p>
            <a:pPr algn="l" indent="0" marL="0">
              <a:buNone/>
            </a:pPr>
            <a:r>
              <a:rPr lang="en-US" sz="938" b="1" spc="113" kern="0" dirty="0">
                <a:solidFill>
                  <a:srgbClr val="45E6F6"/>
                </a:solidFill>
                <a:latin typeface="Arial" pitchFamily="34" charset="0"/>
                <a:ea typeface="Arial" pitchFamily="34" charset="-122"/>
                <a:cs typeface="Arial" pitchFamily="34" charset="-120"/>
              </a:rPr>
              <a:t>MARKETING</a:t>
            </a:r>
            <a:endParaRPr lang="en-US" sz="938" dirty="0"/>
          </a:p>
        </p:txBody>
      </p:sp>
      <p:sp>
        <p:nvSpPr>
          <p:cNvPr id="7" name="Text 5"/>
          <p:cNvSpPr/>
          <p:nvPr/>
        </p:nvSpPr>
        <p:spPr>
          <a:xfrm>
            <a:off x="466279" y="1514921"/>
            <a:ext cx="3317720" cy="361950"/>
          </a:xfrm>
          <a:prstGeom prst="rect">
            <a:avLst/>
          </a:prstGeom>
          <a:noFill/>
          <a:ln/>
        </p:spPr>
        <p:txBody>
          <a:bodyPr wrap="square" lIns="25400" tIns="25400" rIns="25400" bIns="25400" rtlCol="0" anchor="t">
            <a:normAutofit/>
          </a:bodyPr>
          <a:lstStyle/>
          <a:p>
            <a:pPr algn="l" indent="0" marL="0">
              <a:buNone/>
            </a:pPr>
            <a:r>
              <a:rPr lang="en-US" sz="1125" spc="56" kern="0" dirty="0">
                <a:solidFill>
                  <a:srgbClr val="95A0AB"/>
                </a:solidFill>
                <a:latin typeface="Arial" pitchFamily="34" charset="0"/>
                <a:ea typeface="Arial" pitchFamily="34" charset="-122"/>
                <a:cs typeface="Arial" pitchFamily="34" charset="-120"/>
              </a:rPr>
              <a:t>CAS D'USAGE — CHIRURGIE ESTHÉTIQUE - MARKETING</a:t>
            </a:r>
            <a:endParaRPr lang="en-US" sz="1125" dirty="0"/>
          </a:p>
        </p:txBody>
      </p:sp>
      <p:sp>
        <p:nvSpPr>
          <p:cNvPr id="8" name="Shape 6"/>
          <p:cNvSpPr/>
          <p:nvPr/>
        </p:nvSpPr>
        <p:spPr>
          <a:xfrm>
            <a:off x="466279" y="1972121"/>
            <a:ext cx="3221087" cy="1069777"/>
          </a:xfrm>
          <a:prstGeom prst="rect">
            <a:avLst/>
          </a:prstGeom>
          <a:solidFill>
            <a:srgbClr val="FFFFFF"/>
          </a:solidFill>
          <a:ln/>
        </p:spPr>
      </p:sp>
      <p:sp>
        <p:nvSpPr>
          <p:cNvPr id="9" name="Text 7"/>
          <p:cNvSpPr/>
          <p:nvPr/>
        </p:nvSpPr>
        <p:spPr>
          <a:xfrm>
            <a:off x="466279" y="1972121"/>
            <a:ext cx="3317720" cy="1107877"/>
          </a:xfrm>
          <a:prstGeom prst="rect">
            <a:avLst/>
          </a:prstGeom>
          <a:noFill/>
          <a:ln/>
        </p:spPr>
        <p:txBody>
          <a:bodyPr wrap="square" lIns="25400" tIns="25400" rIns="25400" bIns="25400" rtlCol="0" anchor="t">
            <a:normAutofit/>
          </a:bodyPr>
          <a:lstStyle/>
          <a:p>
            <a:pPr algn="l" indent="0" marL="0">
              <a:lnSpc>
                <a:spcPct val="108000"/>
              </a:lnSpc>
              <a:buNone/>
            </a:pPr>
            <a:r>
              <a:rPr lang="en-US" sz="3900" b="1" dirty="0">
                <a:solidFill>
                  <a:srgbClr val="000000"/>
                </a:solidFill>
                <a:latin typeface="Arial" pitchFamily="34" charset="0"/>
                <a:ea typeface="Arial" pitchFamily="34" charset="-122"/>
                <a:cs typeface="Arial" pitchFamily="34" charset="-120"/>
              </a:rPr>
              <a:t>Veille concurrentielle</a:t>
            </a:r>
            <a:endParaRPr lang="en-US" sz="3900" dirty="0"/>
          </a:p>
        </p:txBody>
      </p:sp>
      <p:sp>
        <p:nvSpPr>
          <p:cNvPr id="10" name="Text 8"/>
          <p:cNvSpPr/>
          <p:nvPr/>
        </p:nvSpPr>
        <p:spPr>
          <a:xfrm>
            <a:off x="466279" y="3251448"/>
            <a:ext cx="3317720" cy="1139130"/>
          </a:xfrm>
          <a:prstGeom prst="rect">
            <a:avLst/>
          </a:prstGeom>
          <a:noFill/>
          <a:ln/>
        </p:spPr>
        <p:txBody>
          <a:bodyPr wrap="square" lIns="25400" tIns="25400" rIns="25400" bIns="25400" rtlCol="0" anchor="t">
            <a:normAutofit/>
          </a:bodyPr>
          <a:lstStyle/>
          <a:p>
            <a:pPr algn="l" indent="0" marL="0">
              <a:lnSpc>
                <a:spcPct val="170000"/>
              </a:lnSpc>
              <a:buNone/>
            </a:pPr>
            <a:r>
              <a:rPr lang="en-US" sz="1275" dirty="0">
                <a:solidFill>
                  <a:srgbClr val="AEB9C4"/>
                </a:solidFill>
                <a:latin typeface="Arial" pitchFamily="34" charset="0"/>
                <a:ea typeface="Arial" pitchFamily="34" charset="-122"/>
                <a:cs typeface="Arial" pitchFamily="34" charset="-120"/>
              </a:rPr>
              <a:t>Comment l'IA transforme le suivi manuel des offres et tarifs concurrents en une veille automatisée, continue et exploitable en temps réel.</a:t>
            </a:r>
            <a:endParaRPr lang="en-US" sz="1275" dirty="0"/>
          </a:p>
        </p:txBody>
      </p:sp>
      <p:sp>
        <p:nvSpPr>
          <p:cNvPr id="11" name="Shape 9"/>
          <p:cNvSpPr/>
          <p:nvPr/>
        </p:nvSpPr>
        <p:spPr>
          <a:xfrm>
            <a:off x="4296966" y="914400"/>
            <a:ext cx="830833" cy="3448050"/>
          </a:xfrm>
          <a:prstGeom prst="roundRect">
            <a:avLst>
              <a:gd name="adj" fmla="val 27515"/>
            </a:avLst>
          </a:prstGeom>
          <a:ln w="9525">
            <a:solidFill>
              <a:srgbClr val="007382">
                <a:alpha val="40000"/>
              </a:srgbClr>
            </a:solidFill>
            <a:prstDash val="solid"/>
          </a:ln>
          <a:effectLst>
            <a:outerShdw sx="100000" sy="100000" kx="0" ky="0" algn="bl" rotWithShape="0" blurRad="571500" dist="50800" dir="16200000">
              <a:srgbClr val="000000">
                <a:alpha val="30000"/>
              </a:srgbClr>
            </a:outerShdw>
          </a:effectLst>
        </p:spPr>
      </p:sp>
      <p:sp>
        <p:nvSpPr>
          <p:cNvPr id="12" name="Shape 10"/>
          <p:cNvSpPr/>
          <p:nvPr/>
        </p:nvSpPr>
        <p:spPr>
          <a:xfrm>
            <a:off x="4398094" y="1881187"/>
            <a:ext cx="628650" cy="628650"/>
          </a:xfrm>
          <a:prstGeom prst="roundRect">
            <a:avLst>
              <a:gd name="adj" fmla="val 24242"/>
            </a:avLst>
          </a:prstGeom>
          <a:solidFill>
            <a:srgbClr val="00364C">
              <a:alpha val="50000"/>
            </a:srgbClr>
          </a:solidFill>
          <a:ln w="9525">
            <a:solidFill>
              <a:srgbClr val="00B6C8">
                <a:alpha val="60000"/>
              </a:srgbClr>
            </a:solidFill>
            <a:prstDash val="solid"/>
          </a:ln>
        </p:spPr>
      </p:sp>
      <p:sp>
        <p:nvSpPr>
          <p:cNvPr id="13" name="Shape 11"/>
          <p:cNvSpPr/>
          <p:nvPr/>
        </p:nvSpPr>
        <p:spPr>
          <a:xfrm>
            <a:off x="4569544" y="2052637"/>
            <a:ext cx="285750" cy="285750"/>
          </a:xfrm>
          <a:prstGeom prst="ellipse">
            <a:avLst/>
          </a:prstGeom>
          <a:ln w="19050">
            <a:solidFill>
              <a:srgbClr val="58E5ED"/>
            </a:solidFill>
            <a:prstDash val="solid"/>
          </a:ln>
        </p:spPr>
      </p:sp>
      <p:sp>
        <p:nvSpPr>
          <p:cNvPr id="14" name="Text 12"/>
          <p:cNvSpPr/>
          <p:nvPr/>
        </p:nvSpPr>
        <p:spPr>
          <a:xfrm>
            <a:off x="4200302" y="2681288"/>
            <a:ext cx="1024235" cy="571500"/>
          </a:xfrm>
          <a:prstGeom prst="rect">
            <a:avLst/>
          </a:prstGeom>
          <a:noFill/>
          <a:ln/>
        </p:spPr>
        <p:txBody>
          <a:bodyPr wrap="square" lIns="25400" tIns="25400" rIns="25400" bIns="25400" rtlCol="0" anchor="t">
            <a:normAutofit/>
          </a:bodyPr>
          <a:lstStyle/>
          <a:p>
            <a:pPr algn="ctr" indent="0" marL="0">
              <a:buNone/>
            </a:pPr>
            <a:r>
              <a:rPr lang="en-US" sz="900" spc="90" kern="0" dirty="0">
                <a:solidFill>
                  <a:srgbClr val="83A5B0"/>
                </a:solidFill>
                <a:latin typeface="Arial" pitchFamily="34" charset="0"/>
                <a:ea typeface="Arial" pitchFamily="34" charset="-122"/>
                <a:cs typeface="Arial" pitchFamily="34" charset="-120"/>
              </a:rPr>
              <a:t>ILLUSTRATION — MARCHÉ, DONNÉES &amp; IA</a:t>
            </a:r>
            <a:endParaRPr lang="en-US" sz="900" dirty="0"/>
          </a:p>
        </p:txBody>
      </p:sp>
      <p:sp>
        <p:nvSpPr>
          <p:cNvPr id="15" name="Text 13"/>
          <p:cNvSpPr/>
          <p:nvPr/>
        </p:nvSpPr>
        <p:spPr>
          <a:xfrm>
            <a:off x="4200302" y="3271838"/>
            <a:ext cx="1024235" cy="161925"/>
          </a:xfrm>
          <a:prstGeom prst="rect">
            <a:avLst/>
          </a:prstGeom>
          <a:noFill/>
          <a:ln/>
        </p:spPr>
        <p:txBody>
          <a:bodyPr wrap="square" lIns="25400" tIns="25400" rIns="25400" bIns="25400" rtlCol="0" anchor="t">
            <a:normAutofit/>
          </a:bodyPr>
          <a:lstStyle/>
          <a:p>
            <a:pPr algn="ctr" indent="0" marL="0">
              <a:buNone/>
            </a:pPr>
            <a:r>
              <a:rPr lang="en-US" sz="825" dirty="0">
                <a:solidFill>
                  <a:srgbClr val="5F767E"/>
                </a:solidFill>
                <a:latin typeface="Courier New" pitchFamily="34" charset="0"/>
                <a:ea typeface="Courier New" pitchFamily="34" charset="-122"/>
                <a:cs typeface="Courier New" pitchFamily="34" charset="-120"/>
              </a:rPr>
              <a:t>visuel à intégrer</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B16"/>
        </a:solidFill>
      </p:bgPr>
    </p:bg>
    <p:spTree>
      <p:nvGrpSpPr>
        <p:cNvPr id="1" name=""/>
        <p:cNvGrpSpPr/>
        <p:nvPr/>
      </p:nvGrpSpPr>
      <p:grpSpPr>
        <a:xfrm>
          <a:off x="0" y="0"/>
          <a:ext cx="0" cy="0"/>
          <a:chOff x="0" y="0"/>
          <a:chExt cx="0" cy="0"/>
        </a:xfrm>
      </p:grpSpPr>
      <p:sp>
        <p:nvSpPr>
          <p:cNvPr id="2" name="Shape 0"/>
          <p:cNvSpPr/>
          <p:nvPr/>
        </p:nvSpPr>
        <p:spPr>
          <a:xfrm>
            <a:off x="466279" y="954881"/>
            <a:ext cx="514350" cy="514350"/>
          </a:xfrm>
          <a:prstGeom prst="roundRect">
            <a:avLst>
              <a:gd name="adj" fmla="val 25926"/>
            </a:avLst>
          </a:prstGeom>
          <a:solidFill>
            <a:srgbClr val="48140E">
              <a:alpha val="35000"/>
            </a:srgbClr>
          </a:solidFill>
          <a:ln w="9525">
            <a:solidFill>
              <a:srgbClr val="C15E50">
                <a:alpha val="50000"/>
              </a:srgbClr>
            </a:solidFill>
            <a:prstDash val="solid"/>
          </a:ln>
        </p:spPr>
      </p:sp>
      <p:sp>
        <p:nvSpPr>
          <p:cNvPr id="3" name="Shape 1"/>
          <p:cNvSpPr/>
          <p:nvPr/>
        </p:nvSpPr>
        <p:spPr>
          <a:xfrm>
            <a:off x="609154" y="1069181"/>
            <a:ext cx="228600" cy="285750"/>
          </a:xfrm>
          <a:prstGeom prst="roundRect">
            <a:avLst>
              <a:gd name="adj" fmla="val 12500"/>
            </a:avLst>
          </a:prstGeom>
          <a:ln w="19050">
            <a:solidFill>
              <a:srgbClr val="FF9381"/>
            </a:solidFill>
            <a:prstDash val="solid"/>
          </a:ln>
        </p:spPr>
      </p:sp>
      <p:sp>
        <p:nvSpPr>
          <p:cNvPr id="4" name="Shape 2"/>
          <p:cNvSpPr/>
          <p:nvPr/>
        </p:nvSpPr>
        <p:spPr>
          <a:xfrm>
            <a:off x="656779" y="1145381"/>
            <a:ext cx="95250" cy="19050"/>
          </a:xfrm>
          <a:prstGeom prst="rect">
            <a:avLst/>
          </a:prstGeom>
          <a:solidFill>
            <a:srgbClr val="FF9381"/>
          </a:solidFill>
          <a:ln/>
        </p:spPr>
      </p:sp>
      <p:sp>
        <p:nvSpPr>
          <p:cNvPr id="5" name="Shape 3"/>
          <p:cNvSpPr/>
          <p:nvPr/>
        </p:nvSpPr>
        <p:spPr>
          <a:xfrm>
            <a:off x="656779" y="1193006"/>
            <a:ext cx="95250" cy="19050"/>
          </a:xfrm>
          <a:prstGeom prst="rect">
            <a:avLst/>
          </a:prstGeom>
          <a:solidFill>
            <a:srgbClr val="FF9381"/>
          </a:solidFill>
          <a:ln/>
        </p:spPr>
      </p:sp>
      <p:sp>
        <p:nvSpPr>
          <p:cNvPr id="6" name="Shape 4"/>
          <p:cNvSpPr/>
          <p:nvPr/>
        </p:nvSpPr>
        <p:spPr>
          <a:xfrm>
            <a:off x="656779" y="1240631"/>
            <a:ext cx="57150" cy="19050"/>
          </a:xfrm>
          <a:prstGeom prst="rect">
            <a:avLst/>
          </a:prstGeom>
          <a:solidFill>
            <a:srgbClr val="FF9381"/>
          </a:solidFill>
          <a:ln/>
        </p:spPr>
      </p:sp>
      <p:sp>
        <p:nvSpPr>
          <p:cNvPr id="7" name="Text 5"/>
          <p:cNvSpPr/>
          <p:nvPr/>
        </p:nvSpPr>
        <p:spPr>
          <a:xfrm>
            <a:off x="1133029" y="952500"/>
            <a:ext cx="3037820" cy="185738"/>
          </a:xfrm>
          <a:prstGeom prst="rect">
            <a:avLst/>
          </a:prstGeom>
          <a:noFill/>
          <a:ln/>
        </p:spPr>
        <p:txBody>
          <a:bodyPr wrap="square" lIns="25400" tIns="25400" rIns="25400" bIns="25400" rtlCol="0" anchor="t">
            <a:normAutofit/>
          </a:bodyPr>
          <a:lstStyle/>
          <a:p>
            <a:pPr algn="l" indent="0" marL="0">
              <a:buNone/>
            </a:pPr>
            <a:r>
              <a:rPr lang="en-US" sz="975" spc="98" kern="0" dirty="0">
                <a:solidFill>
                  <a:srgbClr val="8B9AAB"/>
                </a:solidFill>
                <a:latin typeface="Arial" pitchFamily="34" charset="0"/>
                <a:ea typeface="Arial" pitchFamily="34" charset="-122"/>
                <a:cs typeface="Arial" pitchFamily="34" charset="-120"/>
              </a:rPr>
              <a:t>LE POINT DE DÉPART</a:t>
            </a:r>
            <a:endParaRPr lang="en-US" sz="975" dirty="0"/>
          </a:p>
        </p:txBody>
      </p:sp>
      <p:sp>
        <p:nvSpPr>
          <p:cNvPr id="8" name="Text 6"/>
          <p:cNvSpPr/>
          <p:nvPr/>
        </p:nvSpPr>
        <p:spPr>
          <a:xfrm>
            <a:off x="1133029" y="1119188"/>
            <a:ext cx="3037820"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Problématique client</a:t>
            </a:r>
            <a:endParaRPr lang="en-US" sz="2400" dirty="0"/>
          </a:p>
        </p:txBody>
      </p:sp>
      <p:sp>
        <p:nvSpPr>
          <p:cNvPr id="9" name="Shape 7"/>
          <p:cNvSpPr/>
          <p:nvPr/>
        </p:nvSpPr>
        <p:spPr>
          <a:xfrm>
            <a:off x="466279" y="1814513"/>
            <a:ext cx="4753868" cy="5723558"/>
          </a:xfrm>
          <a:prstGeom prst="roundRect">
            <a:avLst>
              <a:gd name="adj" fmla="val 4007"/>
            </a:avLst>
          </a:prstGeom>
          <a:ln w="9525">
            <a:solidFill>
              <a:srgbClr val="144E66">
                <a:alpha val="45000"/>
              </a:srgbClr>
            </a:solidFill>
            <a:prstDash val="solid"/>
          </a:ln>
          <a:effectLst>
            <a:outerShdw sx="100000" sy="100000" kx="0" ky="0" algn="bl" rotWithShape="0" blurRad="381000" dist="50800" dir="16200000">
              <a:srgbClr val="000000">
                <a:alpha val="30000"/>
              </a:srgbClr>
            </a:outerShdw>
          </a:effectLst>
        </p:spPr>
      </p:sp>
      <p:sp>
        <p:nvSpPr>
          <p:cNvPr id="10" name="Text 8"/>
          <p:cNvSpPr/>
          <p:nvPr/>
        </p:nvSpPr>
        <p:spPr>
          <a:xfrm>
            <a:off x="856804" y="2205038"/>
            <a:ext cx="4092003" cy="4980608"/>
          </a:xfrm>
          <a:prstGeom prst="rect">
            <a:avLst/>
          </a:prstGeom>
          <a:noFill/>
          <a:ln/>
        </p:spPr>
        <p:txBody>
          <a:bodyPr wrap="square" lIns="25400" tIns="25400" rIns="25400" bIns="25400" rtlCol="0" anchor="t">
            <a:normAutofit/>
          </a:bodyPr>
          <a:lstStyle/>
          <a:p>
            <a:pPr algn="l" indent="0" marL="0">
              <a:lnSpc>
                <a:spcPct val="185000"/>
              </a:lnSpc>
              <a:buNone/>
            </a:pPr>
            <a:r>
              <a:rPr lang="en-US" sz="1238" b="1" dirty="0">
                <a:solidFill>
                  <a:srgbClr val="FFFFFF"/>
                </a:solidFill>
                <a:latin typeface="Arial" pitchFamily="34" charset="0"/>
                <a:ea typeface="Arial" pitchFamily="34" charset="-122"/>
                <a:cs typeface="Arial" pitchFamily="34" charset="-120"/>
              </a:rPr>
              <a:t>Problématique client : </a:t>
            </a:r>
            <a:pPr algn="l" indent="0" marL="0">
              <a:lnSpc>
                <a:spcPct val="185000"/>
              </a:lnSpc>
              <a:buNone/>
            </a:pPr>
            <a:r>
              <a:rPr lang="en-US" sz="1238" dirty="0">
                <a:solidFill>
                  <a:srgbClr val="C7CFD7"/>
                </a:solidFill>
                <a:latin typeface="Arial" pitchFamily="34" charset="0"/>
                <a:ea typeface="Arial" pitchFamily="34" charset="-122"/>
                <a:cs typeface="Arial" pitchFamily="34" charset="-120"/>
              </a:rPr>
              <a:t>Le marché de la chirurgie et de la médecine esthétique est particulièrement concurrentiel et évolutif. En effet, les établissements ajustent régulièrement les forfaits et les grilles tarifaires de leurs prestations pour rester attractifs, souvent en réaction aux offres de leurs concurrents directs. Pour une clinique cherchant à se positionner efficacement, connaître en temps réel les offres et les prix pratiqués par la concurrence constitue donc un enjeu stratégique. Mais lorsqu'elle était réalisée manuellement, cette veille demandait </a:t>
            </a:r>
            <a:pPr algn="l" indent="0" marL="0">
              <a:lnSpc>
                <a:spcPct val="185000"/>
              </a:lnSpc>
              <a:buNone/>
            </a:pPr>
            <a:r>
              <a:rPr lang="en-US" sz="1238" b="1" dirty="0">
                <a:solidFill>
                  <a:srgbClr val="FFA077"/>
                </a:solidFill>
                <a:highlight>
                  <a:srgbClr val="CBB8B2"/>
                </a:highlight>
                <a:latin typeface="Arial" pitchFamily="34" charset="0"/>
                <a:ea typeface="Arial" pitchFamily="34" charset="-122"/>
                <a:cs typeface="Arial" pitchFamily="34" charset="-120"/>
              </a:rPr>
              <a:t>un temps considérable (environ 4 heures) </a:t>
            </a:r>
            <a:pPr algn="l" indent="0" marL="0">
              <a:lnSpc>
                <a:spcPct val="185000"/>
              </a:lnSpc>
              <a:buNone/>
            </a:pPr>
            <a:r>
              <a:rPr lang="en-US" sz="1238" dirty="0">
                <a:solidFill>
                  <a:srgbClr val="C7CFD7"/>
                </a:solidFill>
                <a:latin typeface="Arial" pitchFamily="34" charset="0"/>
                <a:ea typeface="Arial" pitchFamily="34" charset="-122"/>
                <a:cs typeface="Arial" pitchFamily="34" charset="-120"/>
              </a:rPr>
              <a:t>et ne pouvait être menée que ponctuellement. Les données collectées risquaient alors d'être déjà dépassées au moment de leur exploitation, ce qui réduisait la réactivité de l'entreprise dans l'adaptation de sa stratégie commerciale et tarifaire.</a:t>
            </a:r>
            <a:endParaRPr lang="en-US" sz="1238"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977503" y="1085850"/>
            <a:ext cx="1327696" cy="171450"/>
          </a:xfrm>
          <a:prstGeom prst="rect">
            <a:avLst/>
          </a:prstGeom>
          <a:noFill/>
          <a:ln/>
        </p:spPr>
        <p:txBody>
          <a:bodyPr wrap="square" lIns="25400" tIns="25400" rIns="25400" bIns="25400" rtlCol="0" anchor="t">
            <a:normAutofit/>
          </a:bodyPr>
          <a:lstStyle/>
          <a:p>
            <a:pPr algn="l" indent="0" marL="0">
              <a:buNone/>
            </a:pPr>
            <a:r>
              <a:rPr lang="en-US" sz="900" spc="90" kern="0" dirty="0">
                <a:solidFill>
                  <a:srgbClr val="B4685C"/>
                </a:solidFill>
                <a:latin typeface="Arial" pitchFamily="34" charset="0"/>
                <a:ea typeface="Arial" pitchFamily="34" charset="-122"/>
                <a:cs typeface="Arial" pitchFamily="34" charset="-120"/>
              </a:rPr>
              <a:t>VEILLE MANUELLE</a:t>
            </a:r>
            <a:endParaRPr lang="en-US" sz="900" dirty="0"/>
          </a:p>
        </p:txBody>
      </p:sp>
      <p:sp>
        <p:nvSpPr>
          <p:cNvPr id="3" name="Shape 1"/>
          <p:cNvSpPr/>
          <p:nvPr/>
        </p:nvSpPr>
        <p:spPr>
          <a:xfrm>
            <a:off x="2355949" y="1119188"/>
            <a:ext cx="66675" cy="66675"/>
          </a:xfrm>
          <a:prstGeom prst="ellipse">
            <a:avLst/>
          </a:prstGeom>
          <a:solidFill>
            <a:srgbClr val="00C9D3">
              <a:alpha val="28000"/>
            </a:srgbClr>
          </a:solidFill>
          <a:ln/>
        </p:spPr>
      </p:sp>
      <p:sp>
        <p:nvSpPr>
          <p:cNvPr id="4" name="Shape 2"/>
          <p:cNvSpPr/>
          <p:nvPr/>
        </p:nvSpPr>
        <p:spPr>
          <a:xfrm>
            <a:off x="2479774" y="1119188"/>
            <a:ext cx="66675" cy="66675"/>
          </a:xfrm>
          <a:prstGeom prst="ellipse">
            <a:avLst/>
          </a:prstGeom>
          <a:solidFill>
            <a:srgbClr val="00C9D3">
              <a:alpha val="27000"/>
            </a:srgbClr>
          </a:solidFill>
          <a:ln/>
        </p:spPr>
      </p:sp>
      <p:sp>
        <p:nvSpPr>
          <p:cNvPr id="5" name="Shape 3"/>
          <p:cNvSpPr/>
          <p:nvPr/>
        </p:nvSpPr>
        <p:spPr>
          <a:xfrm>
            <a:off x="2603599" y="1119188"/>
            <a:ext cx="66675" cy="66675"/>
          </a:xfrm>
          <a:prstGeom prst="ellipse">
            <a:avLst/>
          </a:prstGeom>
          <a:solidFill>
            <a:srgbClr val="00C9D3">
              <a:alpha val="45000"/>
            </a:srgbClr>
          </a:solidFill>
          <a:ln/>
        </p:spPr>
      </p:sp>
      <p:sp>
        <p:nvSpPr>
          <p:cNvPr id="6" name="Shape 4"/>
          <p:cNvSpPr/>
          <p:nvPr/>
        </p:nvSpPr>
        <p:spPr>
          <a:xfrm>
            <a:off x="2727424" y="1119188"/>
            <a:ext cx="66675" cy="66675"/>
          </a:xfrm>
          <a:prstGeom prst="ellipse">
            <a:avLst/>
          </a:prstGeom>
          <a:solidFill>
            <a:srgbClr val="00C9D3">
              <a:alpha val="76000"/>
            </a:srgbClr>
          </a:solidFill>
          <a:ln/>
        </p:spPr>
      </p:sp>
      <p:sp>
        <p:nvSpPr>
          <p:cNvPr id="7" name="Text 5"/>
          <p:cNvSpPr/>
          <p:nvPr/>
        </p:nvSpPr>
        <p:spPr>
          <a:xfrm>
            <a:off x="2965549" y="1085850"/>
            <a:ext cx="1917710" cy="171450"/>
          </a:xfrm>
          <a:prstGeom prst="rect">
            <a:avLst/>
          </a:prstGeom>
          <a:noFill/>
          <a:ln/>
        </p:spPr>
        <p:txBody>
          <a:bodyPr wrap="square" lIns="25400" tIns="25400" rIns="25400" bIns="25400" rtlCol="0" anchor="t">
            <a:normAutofit/>
          </a:bodyPr>
          <a:lstStyle/>
          <a:p>
            <a:pPr algn="l" indent="0" marL="0">
              <a:buNone/>
            </a:pPr>
            <a:r>
              <a:rPr lang="en-US" sz="900" spc="90" kern="0" dirty="0">
                <a:solidFill>
                  <a:srgbClr val="00C8D1"/>
                </a:solidFill>
                <a:latin typeface="Arial" pitchFamily="34" charset="0"/>
                <a:ea typeface="Arial" pitchFamily="34" charset="-122"/>
                <a:cs typeface="Arial" pitchFamily="34" charset="-120"/>
              </a:rPr>
              <a:t>AUTOMATISATION PAR L'IA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B16"/>
        </a:solidFill>
      </p:bgPr>
    </p:bg>
    <p:spTree>
      <p:nvGrpSpPr>
        <p:cNvPr id="1" name=""/>
        <p:cNvGrpSpPr/>
        <p:nvPr/>
      </p:nvGrpSpPr>
      <p:grpSpPr>
        <a:xfrm>
          <a:off x="0" y="0"/>
          <a:ext cx="0" cy="0"/>
          <a:chOff x="0" y="0"/>
          <a:chExt cx="0" cy="0"/>
        </a:xfrm>
      </p:grpSpPr>
      <p:sp>
        <p:nvSpPr>
          <p:cNvPr id="2" name="Shape 0"/>
          <p:cNvSpPr/>
          <p:nvPr/>
        </p:nvSpPr>
        <p:spPr>
          <a:xfrm>
            <a:off x="466279" y="228600"/>
            <a:ext cx="4753868" cy="6725766"/>
          </a:xfrm>
          <a:prstGeom prst="roundRect">
            <a:avLst>
              <a:gd name="adj" fmla="val 4007"/>
            </a:avLst>
          </a:prstGeom>
          <a:ln w="9525">
            <a:solidFill>
              <a:srgbClr val="008595">
                <a:alpha val="50000"/>
              </a:srgbClr>
            </a:solidFill>
            <a:prstDash val="solid"/>
          </a:ln>
          <a:effectLst>
            <a:outerShdw sx="100000" sy="100000" kx="0" ky="0" algn="bl" rotWithShape="0" blurRad="523875" dist="50800" dir="16200000">
              <a:srgbClr val="000000">
                <a:alpha val="30000"/>
              </a:srgbClr>
            </a:outerShdw>
          </a:effectLst>
        </p:spPr>
      </p:sp>
      <p:sp>
        <p:nvSpPr>
          <p:cNvPr id="3" name="Shape 1"/>
          <p:cNvSpPr/>
          <p:nvPr/>
        </p:nvSpPr>
        <p:spPr>
          <a:xfrm>
            <a:off x="3686621" y="-333375"/>
            <a:ext cx="2095500" cy="2095500"/>
          </a:xfrm>
          <a:prstGeom prst="ellipse">
            <a:avLst/>
          </a:prstGeom>
          <a:solidFill>
            <a:srgbClr val="00869A">
              <a:alpha val="15000"/>
            </a:srgbClr>
          </a:solidFill>
          <a:ln/>
        </p:spPr>
      </p:sp>
      <p:sp>
        <p:nvSpPr>
          <p:cNvPr id="4" name="Shape 2"/>
          <p:cNvSpPr/>
          <p:nvPr/>
        </p:nvSpPr>
        <p:spPr>
          <a:xfrm>
            <a:off x="894904" y="657225"/>
            <a:ext cx="438150" cy="438150"/>
          </a:xfrm>
          <a:prstGeom prst="roundRect">
            <a:avLst>
              <a:gd name="adj" fmla="val 26087"/>
            </a:avLst>
          </a:prstGeom>
          <a:solidFill>
            <a:srgbClr val="00404E">
              <a:alpha val="50000"/>
            </a:srgbClr>
          </a:solidFill>
          <a:ln w="9525">
            <a:solidFill>
              <a:srgbClr val="00B6C8">
                <a:alpha val="60000"/>
              </a:srgbClr>
            </a:solidFill>
            <a:prstDash val="solid"/>
          </a:ln>
        </p:spPr>
      </p:sp>
      <p:sp>
        <p:nvSpPr>
          <p:cNvPr id="5" name="Shape 3"/>
          <p:cNvSpPr/>
          <p:nvPr/>
        </p:nvSpPr>
        <p:spPr>
          <a:xfrm>
            <a:off x="1009204" y="771525"/>
            <a:ext cx="209550" cy="209550"/>
          </a:xfrm>
          <a:prstGeom prst="ellipse">
            <a:avLst/>
          </a:prstGeom>
          <a:ln w="19050">
            <a:solidFill>
              <a:srgbClr val="44E7EF"/>
            </a:solidFill>
            <a:prstDash val="solid"/>
          </a:ln>
        </p:spPr>
      </p:sp>
      <p:sp>
        <p:nvSpPr>
          <p:cNvPr id="6" name="Shape 4"/>
          <p:cNvSpPr/>
          <p:nvPr/>
        </p:nvSpPr>
        <p:spPr>
          <a:xfrm>
            <a:off x="1056829" y="847725"/>
            <a:ext cx="76200" cy="19050"/>
          </a:xfrm>
          <a:prstGeom prst="rect">
            <a:avLst/>
          </a:prstGeom>
          <a:solidFill>
            <a:srgbClr val="44E7EF"/>
          </a:solidFill>
          <a:ln/>
        </p:spPr>
      </p:sp>
      <p:sp>
        <p:nvSpPr>
          <p:cNvPr id="7" name="Text 5"/>
          <p:cNvSpPr/>
          <p:nvPr/>
        </p:nvSpPr>
        <p:spPr>
          <a:xfrm>
            <a:off x="1466404" y="802481"/>
            <a:ext cx="1697519" cy="185738"/>
          </a:xfrm>
          <a:prstGeom prst="rect">
            <a:avLst/>
          </a:prstGeom>
          <a:noFill/>
          <a:ln/>
        </p:spPr>
        <p:txBody>
          <a:bodyPr wrap="square" lIns="25400" tIns="25400" rIns="25400" bIns="25400" rtlCol="0" anchor="t">
            <a:normAutofit/>
          </a:bodyPr>
          <a:lstStyle/>
          <a:p>
            <a:pPr algn="l" indent="0" marL="0">
              <a:buNone/>
            </a:pPr>
            <a:r>
              <a:rPr lang="en-US" sz="975" spc="98" kern="0" dirty="0">
                <a:solidFill>
                  <a:srgbClr val="1ACFDF"/>
                </a:solidFill>
                <a:latin typeface="Arial" pitchFamily="34" charset="0"/>
                <a:ea typeface="Arial" pitchFamily="34" charset="-122"/>
                <a:cs typeface="Arial" pitchFamily="34" charset="-120"/>
              </a:rPr>
              <a:t>SOLUTION APPORTÉE</a:t>
            </a:r>
            <a:endParaRPr lang="en-US" sz="975" dirty="0"/>
          </a:p>
        </p:txBody>
      </p:sp>
      <p:sp>
        <p:nvSpPr>
          <p:cNvPr id="8" name="Text 6"/>
          <p:cNvSpPr/>
          <p:nvPr/>
        </p:nvSpPr>
        <p:spPr>
          <a:xfrm>
            <a:off x="894904" y="1323975"/>
            <a:ext cx="4013517" cy="2134716"/>
          </a:xfrm>
          <a:prstGeom prst="rect">
            <a:avLst/>
          </a:prstGeom>
          <a:noFill/>
          <a:ln/>
        </p:spPr>
        <p:txBody>
          <a:bodyPr wrap="square" lIns="25400" tIns="25400" rIns="25400" bIns="25400" rtlCol="0" anchor="t">
            <a:normAutofit/>
          </a:bodyPr>
          <a:lstStyle/>
          <a:p>
            <a:pPr algn="l" indent="0" marL="0">
              <a:lnSpc>
                <a:spcPct val="185000"/>
              </a:lnSpc>
              <a:buNone/>
            </a:pPr>
            <a:r>
              <a:rPr lang="en-US" sz="1275" b="1" dirty="0">
                <a:solidFill>
                  <a:srgbClr val="FFFFFF"/>
                </a:solidFill>
                <a:latin typeface="Arial" pitchFamily="34" charset="0"/>
                <a:ea typeface="Arial" pitchFamily="34" charset="-122"/>
                <a:cs typeface="Arial" pitchFamily="34" charset="-120"/>
              </a:rPr>
              <a:t>Solution apportée : </a:t>
            </a:r>
            <a:pPr algn="l" indent="0" marL="0">
              <a:lnSpc>
                <a:spcPct val="185000"/>
              </a:lnSpc>
              <a:buNone/>
            </a:pPr>
            <a:r>
              <a:rPr lang="en-US" sz="1275" dirty="0">
                <a:solidFill>
                  <a:srgbClr val="E0E5EB"/>
                </a:solidFill>
                <a:latin typeface="Arial" pitchFamily="34" charset="0"/>
                <a:ea typeface="Arial" pitchFamily="34" charset="-122"/>
                <a:cs typeface="Arial" pitchFamily="34" charset="-120"/>
              </a:rPr>
              <a:t>Conception d'un système de veille concurrentielle automatisée qui collecte, analyse et structure les services et prix des concurrents depuis leurs sites web. Il génère ensuite des fiches et rapports exploitables </a:t>
            </a:r>
            <a:pPr algn="l" indent="0" marL="0">
              <a:lnSpc>
                <a:spcPct val="185000"/>
              </a:lnSpc>
              <a:buNone/>
            </a:pPr>
            <a:r>
              <a:rPr lang="en-US" sz="1275" b="1" dirty="0">
                <a:solidFill>
                  <a:srgbClr val="24E9F2"/>
                </a:solidFill>
                <a:highlight>
                  <a:srgbClr val="A6BFC3"/>
                </a:highlight>
                <a:latin typeface="Arial" pitchFamily="34" charset="0"/>
                <a:ea typeface="Arial" pitchFamily="34" charset="-122"/>
                <a:cs typeface="Arial" pitchFamily="34" charset="-120"/>
              </a:rPr>
              <a:t>sans intervention manuelle </a:t>
            </a:r>
            <a:pPr algn="l" indent="0" marL="0">
              <a:lnSpc>
                <a:spcPct val="185000"/>
              </a:lnSpc>
              <a:buNone/>
            </a:pPr>
            <a:r>
              <a:rPr lang="en-US" sz="1275" dirty="0">
                <a:solidFill>
                  <a:srgbClr val="E0E5EB"/>
                </a:solidFill>
                <a:latin typeface="Arial" pitchFamily="34" charset="0"/>
                <a:ea typeface="Arial" pitchFamily="34" charset="-122"/>
                <a:cs typeface="Arial" pitchFamily="34" charset="-120"/>
              </a:rPr>
              <a:t>. L'entreprise dispose ainsi d'une vision à jour de son marché, en continu.</a:t>
            </a:r>
            <a:endParaRPr lang="en-US" sz="1275" dirty="0"/>
          </a:p>
        </p:txBody>
      </p:sp>
      <p:sp>
        <p:nvSpPr>
          <p:cNvPr id="9" name="Text 7"/>
          <p:cNvSpPr/>
          <p:nvPr/>
        </p:nvSpPr>
        <p:spPr>
          <a:xfrm>
            <a:off x="894904" y="3687291"/>
            <a:ext cx="4286280" cy="176212"/>
          </a:xfrm>
          <a:prstGeom prst="rect">
            <a:avLst/>
          </a:prstGeom>
          <a:noFill/>
          <a:ln/>
        </p:spPr>
        <p:txBody>
          <a:bodyPr wrap="square" lIns="25400" tIns="25400" rIns="25400" bIns="25400" rtlCol="0" anchor="t">
            <a:normAutofit/>
          </a:bodyPr>
          <a:lstStyle/>
          <a:p>
            <a:pPr algn="l" indent="0" marL="0">
              <a:buNone/>
            </a:pPr>
            <a:r>
              <a:rPr lang="en-US" sz="938" spc="94" kern="0" dirty="0">
                <a:solidFill>
                  <a:srgbClr val="8291A1"/>
                </a:solidFill>
                <a:latin typeface="Arial" pitchFamily="34" charset="0"/>
                <a:ea typeface="Arial" pitchFamily="34" charset="-122"/>
                <a:cs typeface="Arial" pitchFamily="34" charset="-120"/>
              </a:rPr>
              <a:t>FONCTIONNEMENT DE L'OUTIL</a:t>
            </a:r>
            <a:endParaRPr lang="en-US" sz="938" dirty="0"/>
          </a:p>
        </p:txBody>
      </p:sp>
      <p:sp>
        <p:nvSpPr>
          <p:cNvPr id="10" name="Shape 8"/>
          <p:cNvSpPr/>
          <p:nvPr/>
        </p:nvSpPr>
        <p:spPr>
          <a:xfrm>
            <a:off x="894904" y="3977804"/>
            <a:ext cx="1790700"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11" name="Text 9"/>
          <p:cNvSpPr/>
          <p:nvPr/>
        </p:nvSpPr>
        <p:spPr>
          <a:xfrm>
            <a:off x="1037779" y="4120679"/>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Sites web concurrents</a:t>
            </a:r>
            <a:endParaRPr lang="en-US" sz="1013" dirty="0"/>
          </a:p>
        </p:txBody>
      </p:sp>
      <p:sp>
        <p:nvSpPr>
          <p:cNvPr id="12" name="Text 10"/>
          <p:cNvSpPr/>
          <p:nvPr/>
        </p:nvSpPr>
        <p:spPr>
          <a:xfrm>
            <a:off x="2780854" y="4089722"/>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3" name="Shape 11"/>
          <p:cNvSpPr/>
          <p:nvPr/>
        </p:nvSpPr>
        <p:spPr>
          <a:xfrm>
            <a:off x="894904" y="4506441"/>
            <a:ext cx="1810569"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14" name="Text 12"/>
          <p:cNvSpPr/>
          <p:nvPr/>
        </p:nvSpPr>
        <p:spPr>
          <a:xfrm>
            <a:off x="1037779" y="4649316"/>
            <a:ext cx="1524819"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Web scraping automatisé</a:t>
            </a:r>
            <a:endParaRPr lang="en-US" sz="1013" dirty="0"/>
          </a:p>
        </p:txBody>
      </p:sp>
      <p:sp>
        <p:nvSpPr>
          <p:cNvPr id="15" name="Text 13"/>
          <p:cNvSpPr/>
          <p:nvPr/>
        </p:nvSpPr>
        <p:spPr>
          <a:xfrm>
            <a:off x="2800722" y="4618360"/>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6" name="Shape 14"/>
          <p:cNvSpPr/>
          <p:nvPr/>
        </p:nvSpPr>
        <p:spPr>
          <a:xfrm>
            <a:off x="894904" y="5035079"/>
            <a:ext cx="2041624"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17" name="Text 15"/>
          <p:cNvSpPr/>
          <p:nvPr/>
        </p:nvSpPr>
        <p:spPr>
          <a:xfrm>
            <a:off x="1037779" y="5177954"/>
            <a:ext cx="1755874"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Extraction et parsing par LLM</a:t>
            </a:r>
            <a:endParaRPr lang="en-US" sz="1013" dirty="0"/>
          </a:p>
        </p:txBody>
      </p:sp>
      <p:sp>
        <p:nvSpPr>
          <p:cNvPr id="18" name="Text 16"/>
          <p:cNvSpPr/>
          <p:nvPr/>
        </p:nvSpPr>
        <p:spPr>
          <a:xfrm>
            <a:off x="3031778" y="5146997"/>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9" name="Shape 17"/>
          <p:cNvSpPr/>
          <p:nvPr/>
        </p:nvSpPr>
        <p:spPr>
          <a:xfrm>
            <a:off x="894904" y="5563716"/>
            <a:ext cx="1863179"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20" name="Text 18"/>
          <p:cNvSpPr/>
          <p:nvPr/>
        </p:nvSpPr>
        <p:spPr>
          <a:xfrm>
            <a:off x="1037779" y="5706591"/>
            <a:ext cx="1577429"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Structuration des données</a:t>
            </a:r>
            <a:endParaRPr lang="en-US" sz="1013" dirty="0"/>
          </a:p>
        </p:txBody>
      </p:sp>
      <p:sp>
        <p:nvSpPr>
          <p:cNvPr id="21" name="Text 19"/>
          <p:cNvSpPr/>
          <p:nvPr/>
        </p:nvSpPr>
        <p:spPr>
          <a:xfrm>
            <a:off x="2853333" y="5675635"/>
            <a:ext cx="247650" cy="247650"/>
          </a:xfrm>
          <a:prstGeom prst="rect">
            <a:avLst/>
          </a:prstGeom>
          <a:noFill/>
          <a:ln/>
        </p:spPr>
        <p:txBody>
          <a:bodyPr wrap="square" lIns="25400" tIns="25400" rIns="25400" bIns="25400" rtlCol="0" anchor="t">
            <a:normAutofit/>
          </a:bodyPr>
          <a:lstStyle/>
          <a:p>
            <a:pPr algn="l"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22" name="Shape 20"/>
          <p:cNvSpPr/>
          <p:nvPr/>
        </p:nvSpPr>
        <p:spPr>
          <a:xfrm>
            <a:off x="894904" y="6092354"/>
            <a:ext cx="2105918" cy="433388"/>
          </a:xfrm>
          <a:prstGeom prst="roundRect">
            <a:avLst>
              <a:gd name="adj" fmla="val 26374"/>
            </a:avLst>
          </a:prstGeom>
          <a:solidFill>
            <a:srgbClr val="002834">
              <a:alpha val="60000"/>
            </a:srgbClr>
          </a:solidFill>
          <a:ln w="9525">
            <a:solidFill>
              <a:srgbClr val="0095A6">
                <a:alpha val="55000"/>
              </a:srgbClr>
            </a:solidFill>
            <a:prstDash val="solid"/>
          </a:ln>
        </p:spPr>
      </p:sp>
      <p:sp>
        <p:nvSpPr>
          <p:cNvPr id="23" name="Text 21"/>
          <p:cNvSpPr/>
          <p:nvPr/>
        </p:nvSpPr>
        <p:spPr>
          <a:xfrm>
            <a:off x="1037779" y="6235229"/>
            <a:ext cx="1820168"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FFFFFF"/>
                </a:solidFill>
                <a:latin typeface="Arial" pitchFamily="34" charset="0"/>
                <a:ea typeface="Arial" pitchFamily="34" charset="-122"/>
                <a:cs typeface="Arial" pitchFamily="34" charset="-120"/>
              </a:rPr>
              <a:t>Fiches et rapports exploitables</a:t>
            </a:r>
            <a:endParaRPr lang="en-US" sz="101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228585" y="190500"/>
            <a:ext cx="5229255" cy="185738"/>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SOUS LE CAPOT</a:t>
            </a:r>
            <a:endParaRPr lang="en-US" sz="975" dirty="0"/>
          </a:p>
        </p:txBody>
      </p:sp>
      <p:sp>
        <p:nvSpPr>
          <p:cNvPr id="3" name="Text 1"/>
          <p:cNvSpPr/>
          <p:nvPr/>
        </p:nvSpPr>
        <p:spPr>
          <a:xfrm>
            <a:off x="228585" y="395288"/>
            <a:ext cx="5229255" cy="347663"/>
          </a:xfrm>
          <a:prstGeom prst="rect">
            <a:avLst/>
          </a:prstGeom>
          <a:noFill/>
          <a:ln/>
        </p:spPr>
        <p:txBody>
          <a:bodyPr wrap="square" lIns="25400" tIns="25400" rIns="25400" bIns="25400" rtlCol="0" anchor="t">
            <a:normAutofit/>
          </a:bodyPr>
          <a:lstStyle/>
          <a:p>
            <a:pPr algn="ctr" indent="0" marL="0">
              <a:buNone/>
            </a:pPr>
            <a:r>
              <a:rPr lang="en-US" sz="2100" b="1" dirty="0">
                <a:solidFill>
                  <a:srgbClr val="FFFFFF"/>
                </a:solidFill>
                <a:latin typeface="Arial" pitchFamily="34" charset="0"/>
                <a:ea typeface="Arial" pitchFamily="34" charset="-122"/>
                <a:cs typeface="Arial" pitchFamily="34" charset="-120"/>
              </a:rPr>
              <a:t>Expertises techniques utilisées</a:t>
            </a:r>
            <a:endParaRPr lang="en-US" sz="21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6279" y="1123950"/>
            <a:ext cx="4753868" cy="2957959"/>
          </a:xfrm>
          <a:prstGeom prst="rect">
            <a:avLst/>
          </a:prstGeom>
        </p:spPr>
      </p:pic>
      <p:sp>
        <p:nvSpPr>
          <p:cNvPr id="5" name="Shape 2"/>
          <p:cNvSpPr/>
          <p:nvPr/>
        </p:nvSpPr>
        <p:spPr>
          <a:xfrm>
            <a:off x="2014538" y="1877764"/>
            <a:ext cx="1657350" cy="1657350"/>
          </a:xfrm>
          <a:prstGeom prst="ellipse">
            <a:avLst/>
          </a:prstGeom>
          <a:ln w="9525">
            <a:solidFill>
              <a:srgbClr val="00B5C7">
                <a:alpha val="70000"/>
              </a:srgbClr>
            </a:solidFill>
            <a:prstDash val="solid"/>
          </a:ln>
          <a:effectLst>
            <a:outerShdw sx="100000" sy="100000" kx="0" ky="0" algn="bl" rotWithShape="0" blurRad="523875" dist="50800" dir="16200000">
              <a:srgbClr val="000000">
                <a:alpha val="30000"/>
              </a:srgbClr>
            </a:outerShdw>
          </a:effectLst>
        </p:spPr>
      </p:sp>
      <p:sp>
        <p:nvSpPr>
          <p:cNvPr id="6" name="Text 3"/>
          <p:cNvSpPr/>
          <p:nvPr/>
        </p:nvSpPr>
        <p:spPr>
          <a:xfrm>
            <a:off x="2478956" y="2508349"/>
            <a:ext cx="728439" cy="434280"/>
          </a:xfrm>
          <a:prstGeom prst="rect">
            <a:avLst/>
          </a:prstGeom>
          <a:noFill/>
          <a:ln/>
        </p:spPr>
        <p:txBody>
          <a:bodyPr wrap="square" lIns="25400" tIns="25400" rIns="25400" bIns="25400" rtlCol="0" anchor="t">
            <a:normAutofit/>
          </a:bodyPr>
          <a:lstStyle/>
          <a:p>
            <a:pPr algn="ctr" indent="0" marL="0">
              <a:lnSpc>
                <a:spcPct val="130000"/>
              </a:lnSpc>
              <a:buNone/>
            </a:pPr>
            <a:r>
              <a:rPr lang="en-US" sz="1200" b="1" dirty="0">
                <a:solidFill>
                  <a:srgbClr val="FFFFFF"/>
                </a:solidFill>
                <a:latin typeface="Arial" pitchFamily="34" charset="0"/>
                <a:ea typeface="Arial" pitchFamily="34" charset="-122"/>
                <a:cs typeface="Arial" pitchFamily="34" charset="-120"/>
              </a:rPr>
              <a:t>Veille Data &amp; IA</a:t>
            </a:r>
            <a:endParaRPr lang="en-US" sz="1200" dirty="0"/>
          </a:p>
        </p:txBody>
      </p:sp>
      <p:sp>
        <p:nvSpPr>
          <p:cNvPr id="7" name="Shape 4"/>
          <p:cNvSpPr/>
          <p:nvPr/>
        </p:nvSpPr>
        <p:spPr>
          <a:xfrm>
            <a:off x="1614488" y="1045146"/>
            <a:ext cx="2457450" cy="685800"/>
          </a:xfrm>
          <a:prstGeom prst="roundRect">
            <a:avLst>
              <a:gd name="adj" fmla="val 19444"/>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8" name="Shape 5"/>
          <p:cNvSpPr/>
          <p:nvPr/>
        </p:nvSpPr>
        <p:spPr>
          <a:xfrm>
            <a:off x="1795463" y="1207071"/>
            <a:ext cx="361950" cy="361950"/>
          </a:xfrm>
          <a:prstGeom prst="roundRect">
            <a:avLst>
              <a:gd name="adj" fmla="val 26316"/>
            </a:avLst>
          </a:prstGeom>
          <a:solidFill>
            <a:srgbClr val="003846">
              <a:alpha val="50000"/>
            </a:srgbClr>
          </a:solidFill>
          <a:ln w="9525">
            <a:solidFill>
              <a:srgbClr val="00A3B3">
                <a:alpha val="50000"/>
              </a:srgbClr>
            </a:solidFill>
            <a:prstDash val="solid"/>
          </a:ln>
        </p:spPr>
      </p:sp>
      <p:sp>
        <p:nvSpPr>
          <p:cNvPr id="9" name="Shape 6"/>
          <p:cNvSpPr/>
          <p:nvPr/>
        </p:nvSpPr>
        <p:spPr>
          <a:xfrm>
            <a:off x="1914525" y="1326133"/>
            <a:ext cx="123825" cy="123825"/>
          </a:xfrm>
          <a:prstGeom prst="roundRect">
            <a:avLst>
              <a:gd name="adj" fmla="val 30769"/>
            </a:avLst>
          </a:prstGeom>
          <a:solidFill>
            <a:srgbClr val="28D6DF"/>
          </a:solidFill>
          <a:ln/>
        </p:spPr>
      </p:sp>
      <p:sp>
        <p:nvSpPr>
          <p:cNvPr id="10" name="Text 7"/>
          <p:cNvSpPr/>
          <p:nvPr/>
        </p:nvSpPr>
        <p:spPr>
          <a:xfrm>
            <a:off x="2271713" y="1304479"/>
            <a:ext cx="860078" cy="205234"/>
          </a:xfrm>
          <a:prstGeom prst="rect">
            <a:avLst/>
          </a:prstGeom>
          <a:noFill/>
          <a:ln/>
        </p:spPr>
        <p:txBody>
          <a:bodyPr wrap="square" lIns="25400" tIns="25400" rIns="25400" bIns="25400" rtlCol="0" anchor="t">
            <a:normAutofit/>
          </a:bodyPr>
          <a:lstStyle/>
          <a:p>
            <a:pPr algn="l" indent="0" marL="0">
              <a:lnSpc>
                <a:spcPct val="130000"/>
              </a:lnSpc>
              <a:buNone/>
            </a:pPr>
            <a:r>
              <a:rPr lang="en-US" sz="1013" b="1" dirty="0">
                <a:solidFill>
                  <a:srgbClr val="E0E5EB"/>
                </a:solidFill>
                <a:latin typeface="Arial" pitchFamily="34" charset="0"/>
                <a:ea typeface="Arial" pitchFamily="34" charset="-122"/>
                <a:cs typeface="Arial" pitchFamily="34" charset="-120"/>
              </a:rPr>
              <a:t>Web scraping</a:t>
            </a:r>
            <a:endParaRPr lang="en-US" sz="1013" dirty="0"/>
          </a:p>
        </p:txBody>
      </p:sp>
      <p:sp>
        <p:nvSpPr>
          <p:cNvPr id="11" name="Shape 8"/>
          <p:cNvSpPr/>
          <p:nvPr/>
        </p:nvSpPr>
        <p:spPr>
          <a:xfrm>
            <a:off x="241995" y="3088332"/>
            <a:ext cx="2457450" cy="825252"/>
          </a:xfrm>
          <a:prstGeom prst="roundRect">
            <a:avLst>
              <a:gd name="adj" fmla="val 16159"/>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12" name="Shape 9"/>
          <p:cNvSpPr/>
          <p:nvPr/>
        </p:nvSpPr>
        <p:spPr>
          <a:xfrm>
            <a:off x="422970" y="3319983"/>
            <a:ext cx="361950" cy="361950"/>
          </a:xfrm>
          <a:prstGeom prst="roundRect">
            <a:avLst>
              <a:gd name="adj" fmla="val 26316"/>
            </a:avLst>
          </a:prstGeom>
          <a:solidFill>
            <a:srgbClr val="003846">
              <a:alpha val="50000"/>
            </a:srgbClr>
          </a:solidFill>
          <a:ln w="9525">
            <a:solidFill>
              <a:srgbClr val="00A3B3">
                <a:alpha val="50000"/>
              </a:srgbClr>
            </a:solidFill>
            <a:prstDash val="solid"/>
          </a:ln>
        </p:spPr>
      </p:sp>
      <p:sp>
        <p:nvSpPr>
          <p:cNvPr id="13" name="Shape 10"/>
          <p:cNvSpPr/>
          <p:nvPr/>
        </p:nvSpPr>
        <p:spPr>
          <a:xfrm>
            <a:off x="542032" y="3439046"/>
            <a:ext cx="123825" cy="123825"/>
          </a:xfrm>
          <a:prstGeom prst="ellipse">
            <a:avLst/>
          </a:prstGeom>
          <a:solidFill>
            <a:srgbClr val="28D6DF"/>
          </a:solidFill>
          <a:ln/>
        </p:spPr>
      </p:sp>
      <p:sp>
        <p:nvSpPr>
          <p:cNvPr id="14" name="Text 11"/>
          <p:cNvSpPr/>
          <p:nvPr/>
        </p:nvSpPr>
        <p:spPr>
          <a:xfrm>
            <a:off x="899220" y="3250257"/>
            <a:ext cx="1695450" cy="539502"/>
          </a:xfrm>
          <a:prstGeom prst="rect">
            <a:avLst/>
          </a:prstGeom>
          <a:noFill/>
          <a:ln/>
        </p:spPr>
        <p:txBody>
          <a:bodyPr wrap="square" lIns="25400" tIns="25400" rIns="25400" bIns="25400" rtlCol="0" anchor="t">
            <a:normAutofit/>
          </a:bodyPr>
          <a:lstStyle/>
          <a:p>
            <a:pPr algn="l" indent="0" marL="0">
              <a:lnSpc>
                <a:spcPct val="130000"/>
              </a:lnSpc>
              <a:buNone/>
            </a:pPr>
            <a:r>
              <a:rPr lang="en-US" sz="1013" b="1" dirty="0">
                <a:solidFill>
                  <a:srgbClr val="E0E5EB"/>
                </a:solidFill>
                <a:latin typeface="Arial" pitchFamily="34" charset="0"/>
                <a:ea typeface="Arial" pitchFamily="34" charset="-122"/>
                <a:cs typeface="Arial" pitchFamily="34" charset="-120"/>
              </a:rPr>
              <a:t>Extraction et parsing par LLM (Large Language Model)</a:t>
            </a:r>
            <a:endParaRPr lang="en-US" sz="1013" dirty="0"/>
          </a:p>
        </p:txBody>
      </p:sp>
      <p:sp>
        <p:nvSpPr>
          <p:cNvPr id="15" name="Shape 12"/>
          <p:cNvSpPr/>
          <p:nvPr/>
        </p:nvSpPr>
        <p:spPr>
          <a:xfrm>
            <a:off x="2986906" y="3158058"/>
            <a:ext cx="2457450" cy="685800"/>
          </a:xfrm>
          <a:prstGeom prst="roundRect">
            <a:avLst>
              <a:gd name="adj" fmla="val 19444"/>
            </a:avLst>
          </a:prstGeom>
          <a:solidFill>
            <a:srgbClr val="040C18">
              <a:alpha val="85000"/>
            </a:srgbClr>
          </a:solidFill>
          <a:ln w="9525">
            <a:solidFill>
              <a:srgbClr val="006178">
                <a:alpha val="55000"/>
              </a:srgbClr>
            </a:solidFill>
            <a:prstDash val="solid"/>
          </a:ln>
          <a:effectLst>
            <a:outerShdw sx="100000" sy="100000" kx="0" ky="0" algn="bl" rotWithShape="0" blurRad="190500" dist="50800" dir="16200000">
              <a:srgbClr val="000000">
                <a:alpha val="30000"/>
              </a:srgbClr>
            </a:outerShdw>
          </a:effectLst>
        </p:spPr>
      </p:sp>
      <p:sp>
        <p:nvSpPr>
          <p:cNvPr id="16" name="Shape 13"/>
          <p:cNvSpPr/>
          <p:nvPr/>
        </p:nvSpPr>
        <p:spPr>
          <a:xfrm>
            <a:off x="3167881" y="3319983"/>
            <a:ext cx="361950" cy="361950"/>
          </a:xfrm>
          <a:prstGeom prst="roundRect">
            <a:avLst>
              <a:gd name="adj" fmla="val 26316"/>
            </a:avLst>
          </a:prstGeom>
          <a:solidFill>
            <a:srgbClr val="003846">
              <a:alpha val="50000"/>
            </a:srgbClr>
          </a:solidFill>
          <a:ln w="9525">
            <a:solidFill>
              <a:srgbClr val="00A3B3">
                <a:alpha val="50000"/>
              </a:srgbClr>
            </a:solidFill>
            <a:prstDash val="solid"/>
          </a:ln>
        </p:spPr>
      </p:sp>
      <p:sp>
        <p:nvSpPr>
          <p:cNvPr id="17" name="Shape 14"/>
          <p:cNvSpPr/>
          <p:nvPr/>
        </p:nvSpPr>
        <p:spPr>
          <a:xfrm>
            <a:off x="3286944" y="3439046"/>
            <a:ext cx="123825" cy="123825"/>
          </a:xfrm>
          <a:prstGeom prst="roundRect">
            <a:avLst>
              <a:gd name="adj" fmla="val 23077"/>
            </a:avLst>
          </a:prstGeom>
          <a:solidFill>
            <a:srgbClr val="28D6DF"/>
          </a:solidFill>
          <a:ln/>
        </p:spPr>
      </p:sp>
      <p:sp>
        <p:nvSpPr>
          <p:cNvPr id="18" name="Text 15"/>
          <p:cNvSpPr/>
          <p:nvPr/>
        </p:nvSpPr>
        <p:spPr>
          <a:xfrm>
            <a:off x="3644131" y="3333824"/>
            <a:ext cx="1695450" cy="372368"/>
          </a:xfrm>
          <a:prstGeom prst="rect">
            <a:avLst/>
          </a:prstGeom>
          <a:noFill/>
          <a:ln/>
        </p:spPr>
        <p:txBody>
          <a:bodyPr wrap="square" lIns="25400" tIns="25400" rIns="25400" bIns="25400" rtlCol="0" anchor="t">
            <a:normAutofit/>
          </a:bodyPr>
          <a:lstStyle/>
          <a:p>
            <a:pPr algn="l" indent="0" marL="0">
              <a:lnSpc>
                <a:spcPct val="130000"/>
              </a:lnSpc>
              <a:buNone/>
            </a:pPr>
            <a:r>
              <a:rPr lang="en-US" sz="1013" b="1" dirty="0">
                <a:solidFill>
                  <a:srgbClr val="E0E5EB"/>
                </a:solidFill>
                <a:latin typeface="Arial" pitchFamily="34" charset="0"/>
                <a:ea typeface="Arial" pitchFamily="34" charset="-122"/>
                <a:cs typeface="Arial" pitchFamily="34" charset="-120"/>
              </a:rPr>
              <a:t>Structuration automatisée de l'information</a:t>
            </a:r>
            <a:endParaRPr lang="en-US" sz="1013" dirty="0"/>
          </a:p>
        </p:txBody>
      </p:sp>
      <p:sp>
        <p:nvSpPr>
          <p:cNvPr id="19" name="Text 16"/>
          <p:cNvSpPr/>
          <p:nvPr/>
        </p:nvSpPr>
        <p:spPr>
          <a:xfrm>
            <a:off x="394970" y="4501009"/>
            <a:ext cx="4896484" cy="747192"/>
          </a:xfrm>
          <a:prstGeom prst="rect">
            <a:avLst/>
          </a:prstGeom>
          <a:noFill/>
          <a:ln/>
        </p:spPr>
        <p:txBody>
          <a:bodyPr wrap="square" lIns="25400" tIns="25400" rIns="25400" bIns="25400" rtlCol="0" anchor="t">
            <a:normAutofit/>
          </a:bodyPr>
          <a:lstStyle/>
          <a:p>
            <a:pPr algn="ctr" indent="0" marL="0">
              <a:lnSpc>
                <a:spcPct val="170000"/>
              </a:lnSpc>
              <a:buNone/>
            </a:pPr>
            <a:r>
              <a:rPr lang="en-US" sz="1088" b="1" dirty="0">
                <a:solidFill>
                  <a:srgbClr val="C4CFDB"/>
                </a:solidFill>
                <a:latin typeface="Arial" pitchFamily="34" charset="0"/>
                <a:ea typeface="Arial" pitchFamily="34" charset="-122"/>
                <a:cs typeface="Arial" pitchFamily="34" charset="-120"/>
              </a:rPr>
              <a:t>Expertises techniques utilisées : </a:t>
            </a:r>
            <a:pPr algn="ctr" indent="0" marL="0">
              <a:lnSpc>
                <a:spcPct val="170000"/>
              </a:lnSpc>
              <a:buNone/>
            </a:pPr>
            <a:r>
              <a:rPr lang="en-US" sz="1088" dirty="0">
                <a:solidFill>
                  <a:srgbClr val="8F9AA5"/>
                </a:solidFill>
                <a:latin typeface="Arial" pitchFamily="34" charset="0"/>
                <a:ea typeface="Arial" pitchFamily="34" charset="-122"/>
                <a:cs typeface="Arial" pitchFamily="34" charset="-120"/>
              </a:rPr>
              <a:t>Web scraping, extraction et parsing par LLM (Large Language Model), structuration automatisée de l'information.</a:t>
            </a:r>
            <a:endParaRPr lang="en-US" sz="108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B16"/>
        </a:solidFill>
      </p:bgPr>
    </p:bg>
    <p:spTree>
      <p:nvGrpSpPr>
        <p:cNvPr id="1" name=""/>
        <p:cNvGrpSpPr/>
        <p:nvPr/>
      </p:nvGrpSpPr>
      <p:grpSpPr>
        <a:xfrm>
          <a:off x="0" y="0"/>
          <a:ext cx="0" cy="0"/>
          <a:chOff x="0" y="0"/>
          <a:chExt cx="0" cy="0"/>
        </a:xfrm>
      </p:grpSpPr>
      <p:sp>
        <p:nvSpPr>
          <p:cNvPr id="2" name="Text 0"/>
          <p:cNvSpPr/>
          <p:nvPr/>
        </p:nvSpPr>
        <p:spPr>
          <a:xfrm>
            <a:off x="228585" y="190500"/>
            <a:ext cx="5229255" cy="185738"/>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RÉSULTAT</a:t>
            </a:r>
            <a:endParaRPr lang="en-US" sz="975" dirty="0"/>
          </a:p>
        </p:txBody>
      </p:sp>
      <p:sp>
        <p:nvSpPr>
          <p:cNvPr id="3" name="Text 1"/>
          <p:cNvSpPr/>
          <p:nvPr/>
        </p:nvSpPr>
        <p:spPr>
          <a:xfrm>
            <a:off x="228585" y="395288"/>
            <a:ext cx="5229255" cy="390525"/>
          </a:xfrm>
          <a:prstGeom prst="rect">
            <a:avLst/>
          </a:prstGeom>
          <a:noFill/>
          <a:ln/>
        </p:spPr>
        <p:txBody>
          <a:bodyPr wrap="square" lIns="25400" tIns="25400" rIns="25400" bIns="25400" rtlCol="0" anchor="t">
            <a:normAutofit/>
          </a:bodyPr>
          <a:lstStyle/>
          <a:p>
            <a:pPr algn="ctr" indent="0" marL="0">
              <a:buNone/>
            </a:pPr>
            <a:r>
              <a:rPr lang="en-US" sz="2400" b="1" dirty="0">
                <a:solidFill>
                  <a:srgbClr val="FFFFFF"/>
                </a:solidFill>
                <a:latin typeface="Arial" pitchFamily="34" charset="0"/>
                <a:ea typeface="Arial" pitchFamily="34" charset="-122"/>
                <a:cs typeface="Arial" pitchFamily="34" charset="-120"/>
              </a:rPr>
              <a:t>Bénéfices pour le client</a:t>
            </a:r>
            <a:endParaRPr lang="en-US" sz="2400" dirty="0"/>
          </a:p>
        </p:txBody>
      </p:sp>
      <p:sp>
        <p:nvSpPr>
          <p:cNvPr id="4" name="Shape 2"/>
          <p:cNvSpPr/>
          <p:nvPr/>
        </p:nvSpPr>
        <p:spPr>
          <a:xfrm>
            <a:off x="466279" y="1128713"/>
            <a:ext cx="4753868" cy="1456283"/>
          </a:xfrm>
          <a:prstGeom prst="roundRect">
            <a:avLst>
              <a:gd name="adj" fmla="val 11773"/>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5" name="Text 3"/>
          <p:cNvSpPr/>
          <p:nvPr/>
        </p:nvSpPr>
        <p:spPr>
          <a:xfrm>
            <a:off x="704404" y="1404938"/>
            <a:ext cx="4705380" cy="366713"/>
          </a:xfrm>
          <a:prstGeom prst="rect">
            <a:avLst/>
          </a:prstGeom>
          <a:noFill/>
          <a:ln/>
        </p:spPr>
        <p:txBody>
          <a:bodyPr wrap="square" lIns="25400" tIns="25400" rIns="25400" bIns="25400" rtlCol="0" anchor="t">
            <a:normAutofit/>
          </a:bodyPr>
          <a:lstStyle/>
          <a:p>
            <a:pPr algn="l" indent="0" marL="0">
              <a:lnSpc>
                <a:spcPct val="115000"/>
              </a:lnSpc>
              <a:buNone/>
            </a:pPr>
            <a:r>
              <a:rPr lang="en-US" sz="2250" b="1" dirty="0">
                <a:solidFill>
                  <a:srgbClr val="00DFE8"/>
                </a:solidFill>
                <a:latin typeface="Arial" pitchFamily="34" charset="0"/>
                <a:ea typeface="Arial" pitchFamily="34" charset="-122"/>
                <a:cs typeface="Arial" pitchFamily="34" charset="-120"/>
              </a:rPr>
              <a:t>≈ 89 %</a:t>
            </a:r>
            <a:endParaRPr lang="en-US" sz="2250" dirty="0"/>
          </a:p>
        </p:txBody>
      </p:sp>
      <p:sp>
        <p:nvSpPr>
          <p:cNvPr id="6" name="Text 4"/>
          <p:cNvSpPr/>
          <p:nvPr/>
        </p:nvSpPr>
        <p:spPr>
          <a:xfrm>
            <a:off x="704404" y="1866900"/>
            <a:ext cx="4405947" cy="479971"/>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Recall ≈ 89 % (taux de récupération des informations réellement présentes en ligne)</a:t>
            </a:r>
            <a:endParaRPr lang="en-US" sz="1088" dirty="0"/>
          </a:p>
        </p:txBody>
      </p:sp>
      <p:sp>
        <p:nvSpPr>
          <p:cNvPr id="7" name="Shape 5"/>
          <p:cNvSpPr/>
          <p:nvPr/>
        </p:nvSpPr>
        <p:spPr>
          <a:xfrm>
            <a:off x="466279" y="2794546"/>
            <a:ext cx="4753868" cy="1235348"/>
          </a:xfrm>
          <a:prstGeom prst="roundRect">
            <a:avLst>
              <a:gd name="adj" fmla="val 13879"/>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8" name="Text 6"/>
          <p:cNvSpPr/>
          <p:nvPr/>
        </p:nvSpPr>
        <p:spPr>
          <a:xfrm>
            <a:off x="704404" y="3070771"/>
            <a:ext cx="4705380" cy="366713"/>
          </a:xfrm>
          <a:prstGeom prst="rect">
            <a:avLst/>
          </a:prstGeom>
          <a:noFill/>
          <a:ln/>
        </p:spPr>
        <p:txBody>
          <a:bodyPr wrap="square" lIns="25400" tIns="25400" rIns="25400" bIns="25400" rtlCol="0" anchor="t">
            <a:normAutofit/>
          </a:bodyPr>
          <a:lstStyle/>
          <a:p>
            <a:pPr algn="l" indent="0" marL="0">
              <a:lnSpc>
                <a:spcPct val="115000"/>
              </a:lnSpc>
              <a:buNone/>
            </a:pPr>
            <a:r>
              <a:rPr lang="en-US" sz="2250" b="1" dirty="0">
                <a:solidFill>
                  <a:srgbClr val="00DFE8"/>
                </a:solidFill>
                <a:latin typeface="Arial" pitchFamily="34" charset="0"/>
                <a:ea typeface="Arial" pitchFamily="34" charset="-122"/>
                <a:cs typeface="Arial" pitchFamily="34" charset="-120"/>
              </a:rPr>
              <a:t>≈ 88 %</a:t>
            </a:r>
            <a:endParaRPr lang="en-US" sz="2250" dirty="0"/>
          </a:p>
        </p:txBody>
      </p:sp>
      <p:sp>
        <p:nvSpPr>
          <p:cNvPr id="9" name="Text 7"/>
          <p:cNvSpPr/>
          <p:nvPr/>
        </p:nvSpPr>
        <p:spPr>
          <a:xfrm>
            <a:off x="704404" y="3532733"/>
            <a:ext cx="4705380" cy="259035"/>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Précision ≈ 88 % (fiabilité des informations récupérées)</a:t>
            </a:r>
            <a:endParaRPr lang="en-US" sz="1088" dirty="0"/>
          </a:p>
        </p:txBody>
      </p:sp>
      <p:sp>
        <p:nvSpPr>
          <p:cNvPr id="10" name="Shape 8"/>
          <p:cNvSpPr/>
          <p:nvPr/>
        </p:nvSpPr>
        <p:spPr>
          <a:xfrm>
            <a:off x="466279" y="4239444"/>
            <a:ext cx="4753868" cy="1456283"/>
          </a:xfrm>
          <a:prstGeom prst="roundRect">
            <a:avLst>
              <a:gd name="adj" fmla="val 11773"/>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11" name="Text 9"/>
          <p:cNvSpPr/>
          <p:nvPr/>
        </p:nvSpPr>
        <p:spPr>
          <a:xfrm>
            <a:off x="704404" y="4515669"/>
            <a:ext cx="4705380" cy="366713"/>
          </a:xfrm>
          <a:prstGeom prst="rect">
            <a:avLst/>
          </a:prstGeom>
          <a:noFill/>
          <a:ln/>
        </p:spPr>
        <p:txBody>
          <a:bodyPr wrap="square" lIns="25400" tIns="25400" rIns="25400" bIns="25400" rtlCol="0" anchor="t">
            <a:normAutofit/>
          </a:bodyPr>
          <a:lstStyle/>
          <a:p>
            <a:pPr algn="l" indent="0" marL="0">
              <a:lnSpc>
                <a:spcPct val="115000"/>
              </a:lnSpc>
              <a:buNone/>
            </a:pPr>
            <a:r>
              <a:rPr lang="en-US" sz="2250" b="1" dirty="0">
                <a:solidFill>
                  <a:srgbClr val="00DFE8"/>
                </a:solidFill>
                <a:latin typeface="Arial" pitchFamily="34" charset="0"/>
                <a:ea typeface="Arial" pitchFamily="34" charset="-122"/>
                <a:cs typeface="Arial" pitchFamily="34" charset="-120"/>
              </a:rPr>
              <a:t>4h → 15min</a:t>
            </a:r>
            <a:endParaRPr lang="en-US" sz="2250" dirty="0"/>
          </a:p>
        </p:txBody>
      </p:sp>
      <p:sp>
        <p:nvSpPr>
          <p:cNvPr id="12" name="Text 10"/>
          <p:cNvSpPr/>
          <p:nvPr/>
        </p:nvSpPr>
        <p:spPr>
          <a:xfrm>
            <a:off x="704404" y="4977631"/>
            <a:ext cx="4405947" cy="479971"/>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Automatisation complète de la veille concurrentielle 4 heures --&gt; 15 minutes si contrôle</a:t>
            </a:r>
            <a:endParaRPr lang="en-US" sz="1088" dirty="0"/>
          </a:p>
        </p:txBody>
      </p:sp>
      <p:sp>
        <p:nvSpPr>
          <p:cNvPr id="13" name="Shape 11"/>
          <p:cNvSpPr/>
          <p:nvPr/>
        </p:nvSpPr>
        <p:spPr>
          <a:xfrm>
            <a:off x="466279" y="5905277"/>
            <a:ext cx="4753868" cy="1456283"/>
          </a:xfrm>
          <a:prstGeom prst="roundRect">
            <a:avLst>
              <a:gd name="adj" fmla="val 11773"/>
            </a:avLst>
          </a:prstGeom>
          <a:ln w="9525">
            <a:solidFill>
              <a:srgbClr val="006271">
                <a:alpha val="45000"/>
              </a:srgbClr>
            </a:solidFill>
            <a:prstDash val="solid"/>
          </a:ln>
          <a:effectLst>
            <a:outerShdw sx="100000" sy="100000" kx="0" ky="0" algn="bl" rotWithShape="0" blurRad="285750" dist="50800" dir="16200000">
              <a:srgbClr val="000000">
                <a:alpha val="30000"/>
              </a:srgbClr>
            </a:outerShdw>
          </a:effectLst>
        </p:spPr>
      </p:sp>
      <p:sp>
        <p:nvSpPr>
          <p:cNvPr id="14" name="Text 12"/>
          <p:cNvSpPr/>
          <p:nvPr/>
        </p:nvSpPr>
        <p:spPr>
          <a:xfrm>
            <a:off x="704404" y="6181502"/>
            <a:ext cx="4705380" cy="366713"/>
          </a:xfrm>
          <a:prstGeom prst="rect">
            <a:avLst/>
          </a:prstGeom>
          <a:noFill/>
          <a:ln/>
        </p:spPr>
        <p:txBody>
          <a:bodyPr wrap="square" lIns="25400" tIns="25400" rIns="25400" bIns="25400" rtlCol="0" anchor="t">
            <a:normAutofit/>
          </a:bodyPr>
          <a:lstStyle/>
          <a:p>
            <a:pPr algn="l" indent="0" marL="0">
              <a:lnSpc>
                <a:spcPct val="115000"/>
              </a:lnSpc>
              <a:buNone/>
            </a:pPr>
            <a:r>
              <a:rPr lang="en-US" sz="2250" b="1" dirty="0">
                <a:solidFill>
                  <a:srgbClr val="00DFE8"/>
                </a:solidFill>
                <a:latin typeface="Arial" pitchFamily="34" charset="0"/>
                <a:ea typeface="Arial" pitchFamily="34" charset="-122"/>
                <a:cs typeface="Arial" pitchFamily="34" charset="-120"/>
              </a:rPr>
              <a:t>✓</a:t>
            </a:r>
            <a:endParaRPr lang="en-US" sz="2250" dirty="0"/>
          </a:p>
        </p:txBody>
      </p:sp>
      <p:sp>
        <p:nvSpPr>
          <p:cNvPr id="15" name="Text 13"/>
          <p:cNvSpPr/>
          <p:nvPr/>
        </p:nvSpPr>
        <p:spPr>
          <a:xfrm>
            <a:off x="704404" y="6643464"/>
            <a:ext cx="4405947" cy="479971"/>
          </a:xfrm>
          <a:prstGeom prst="rect">
            <a:avLst/>
          </a:prstGeom>
          <a:noFill/>
          <a:ln/>
        </p:spPr>
        <p:txBody>
          <a:bodyPr wrap="square" lIns="25400" tIns="25400" rIns="25400" bIns="25400" rtlCol="0" anchor="t">
            <a:normAutofit/>
          </a:bodyPr>
          <a:lstStyle/>
          <a:p>
            <a:pPr algn="l" indent="0" marL="0">
              <a:lnSpc>
                <a:spcPct val="160000"/>
              </a:lnSpc>
              <a:buNone/>
            </a:pPr>
            <a:r>
              <a:rPr lang="en-US" sz="1088" dirty="0">
                <a:solidFill>
                  <a:srgbClr val="C7CFD7"/>
                </a:solidFill>
                <a:latin typeface="Arial" pitchFamily="34" charset="0"/>
                <a:ea typeface="Arial" pitchFamily="34" charset="-122"/>
                <a:cs typeface="Arial" pitchFamily="34" charset="-120"/>
              </a:rPr>
              <a:t>Solution autonome et transposable, adaptable à de nouveaux concurrents sans refonte</a:t>
            </a:r>
            <a:endParaRPr lang="en-US" sz="108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686425" cy="9525"/>
          </a:xfrm>
          <a:prstGeom prst="rect">
            <a:avLst/>
          </a:prstGeom>
          <a:solidFill>
            <a:srgbClr val="144D67">
              <a:alpha val="35000"/>
            </a:srgbClr>
          </a:solidFill>
          <a:ln/>
        </p:spPr>
      </p:sp>
      <p:sp>
        <p:nvSpPr>
          <p:cNvPr id="3" name="Text 1"/>
          <p:cNvSpPr/>
          <p:nvPr/>
        </p:nvSpPr>
        <p:spPr>
          <a:xfrm>
            <a:off x="228585" y="771525"/>
            <a:ext cx="5229255" cy="185738"/>
          </a:xfrm>
          <a:prstGeom prst="rect">
            <a:avLst/>
          </a:prstGeom>
          <a:noFill/>
          <a:ln/>
        </p:spPr>
        <p:txBody>
          <a:bodyPr wrap="square" lIns="25400" tIns="25400" rIns="25400" bIns="25400" rtlCol="0" anchor="t">
            <a:normAutofit/>
          </a:bodyPr>
          <a:lstStyle/>
          <a:p>
            <a:pPr algn="ctr" indent="0" marL="0">
              <a:buNone/>
            </a:pPr>
            <a:r>
              <a:rPr lang="en-US" sz="975" spc="98" kern="0" dirty="0">
                <a:solidFill>
                  <a:srgbClr val="8B9AAB"/>
                </a:solidFill>
                <a:latin typeface="Arial" pitchFamily="34" charset="0"/>
                <a:ea typeface="Arial" pitchFamily="34" charset="-122"/>
                <a:cs typeface="Arial" pitchFamily="34" charset="-120"/>
              </a:rPr>
              <a:t>EN SYNTHÈSE</a:t>
            </a:r>
            <a:endParaRPr lang="en-US" sz="975" dirty="0"/>
          </a:p>
        </p:txBody>
      </p:sp>
      <p:sp>
        <p:nvSpPr>
          <p:cNvPr id="4" name="Text 2"/>
          <p:cNvSpPr/>
          <p:nvPr/>
        </p:nvSpPr>
        <p:spPr>
          <a:xfrm>
            <a:off x="394970" y="1052513"/>
            <a:ext cx="4896484" cy="695325"/>
          </a:xfrm>
          <a:prstGeom prst="rect">
            <a:avLst/>
          </a:prstGeom>
          <a:noFill/>
          <a:ln/>
        </p:spPr>
        <p:txBody>
          <a:bodyPr wrap="square" lIns="25400" tIns="25400" rIns="25400" bIns="25400" rtlCol="0" anchor="t">
            <a:normAutofit/>
          </a:bodyPr>
          <a:lstStyle/>
          <a:p>
            <a:pPr algn="ctr" indent="0" marL="0">
              <a:buNone/>
            </a:pPr>
            <a:r>
              <a:rPr lang="en-US" sz="2250" b="1" dirty="0">
                <a:solidFill>
                  <a:srgbClr val="FFFFFF"/>
                </a:solidFill>
                <a:latin typeface="Arial" pitchFamily="34" charset="0"/>
                <a:ea typeface="Arial" pitchFamily="34" charset="-122"/>
                <a:cs typeface="Arial" pitchFamily="34" charset="-120"/>
              </a:rPr>
              <a:t>D'une veille manuelle à un marché suivi en continu</a:t>
            </a:r>
            <a:endParaRPr lang="en-US" sz="2250" dirty="0"/>
          </a:p>
        </p:txBody>
      </p:sp>
      <p:sp>
        <p:nvSpPr>
          <p:cNvPr id="5" name="Shape 3"/>
          <p:cNvSpPr/>
          <p:nvPr/>
        </p:nvSpPr>
        <p:spPr>
          <a:xfrm>
            <a:off x="1631677" y="2090738"/>
            <a:ext cx="2156371"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6" name="Text 4"/>
          <p:cNvSpPr/>
          <p:nvPr/>
        </p:nvSpPr>
        <p:spPr>
          <a:xfrm>
            <a:off x="1774552" y="2233613"/>
            <a:ext cx="1870621"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Veille manuelle et chronophage</a:t>
            </a:r>
            <a:endParaRPr lang="en-US" sz="1013" dirty="0"/>
          </a:p>
        </p:txBody>
      </p:sp>
      <p:sp>
        <p:nvSpPr>
          <p:cNvPr id="7" name="Text 5"/>
          <p:cNvSpPr/>
          <p:nvPr/>
        </p:nvSpPr>
        <p:spPr>
          <a:xfrm>
            <a:off x="3845198" y="2202656"/>
            <a:ext cx="247650" cy="24765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8" name="Shape 6"/>
          <p:cNvSpPr/>
          <p:nvPr/>
        </p:nvSpPr>
        <p:spPr>
          <a:xfrm>
            <a:off x="1542529" y="2619375"/>
            <a:ext cx="2334667"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9" name="Text 7"/>
          <p:cNvSpPr/>
          <p:nvPr/>
        </p:nvSpPr>
        <p:spPr>
          <a:xfrm>
            <a:off x="1685404" y="2762250"/>
            <a:ext cx="2048917"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Scraping et extraction automatisés</a:t>
            </a:r>
            <a:endParaRPr lang="en-US" sz="1013" dirty="0"/>
          </a:p>
        </p:txBody>
      </p:sp>
      <p:sp>
        <p:nvSpPr>
          <p:cNvPr id="10" name="Text 8"/>
          <p:cNvSpPr/>
          <p:nvPr/>
        </p:nvSpPr>
        <p:spPr>
          <a:xfrm>
            <a:off x="3934346" y="2731294"/>
            <a:ext cx="247650" cy="24765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1" name="Shape 9"/>
          <p:cNvSpPr/>
          <p:nvPr/>
        </p:nvSpPr>
        <p:spPr>
          <a:xfrm>
            <a:off x="738188" y="3148013"/>
            <a:ext cx="1790700"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12" name="Text 10"/>
          <p:cNvSpPr/>
          <p:nvPr/>
        </p:nvSpPr>
        <p:spPr>
          <a:xfrm>
            <a:off x="881063" y="3290888"/>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Données structurées</a:t>
            </a:r>
            <a:endParaRPr lang="en-US" sz="1013" dirty="0"/>
          </a:p>
        </p:txBody>
      </p:sp>
      <p:sp>
        <p:nvSpPr>
          <p:cNvPr id="13" name="Text 11"/>
          <p:cNvSpPr/>
          <p:nvPr/>
        </p:nvSpPr>
        <p:spPr>
          <a:xfrm>
            <a:off x="2586038" y="3259931"/>
            <a:ext cx="247650" cy="24765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4" name="Shape 12"/>
          <p:cNvSpPr/>
          <p:nvPr/>
        </p:nvSpPr>
        <p:spPr>
          <a:xfrm>
            <a:off x="2890838" y="3148013"/>
            <a:ext cx="1790700"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15" name="Text 13"/>
          <p:cNvSpPr/>
          <p:nvPr/>
        </p:nvSpPr>
        <p:spPr>
          <a:xfrm>
            <a:off x="3033713" y="3290888"/>
            <a:ext cx="1504950"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Fiches exploitables</a:t>
            </a:r>
            <a:endParaRPr lang="en-US" sz="1013" dirty="0"/>
          </a:p>
        </p:txBody>
      </p:sp>
      <p:sp>
        <p:nvSpPr>
          <p:cNvPr id="16" name="Text 14"/>
          <p:cNvSpPr/>
          <p:nvPr/>
        </p:nvSpPr>
        <p:spPr>
          <a:xfrm>
            <a:off x="4738687" y="3259931"/>
            <a:ext cx="247650" cy="247650"/>
          </a:xfrm>
          <a:prstGeom prst="rect">
            <a:avLst/>
          </a:prstGeom>
          <a:noFill/>
          <a:ln/>
        </p:spPr>
        <p:txBody>
          <a:bodyPr wrap="square" lIns="25400" tIns="25400" rIns="25400" bIns="25400" rtlCol="0" anchor="t">
            <a:normAutofit/>
          </a:bodyPr>
          <a:lstStyle/>
          <a:p>
            <a:pPr algn="ctr" indent="0" marL="0">
              <a:buNone/>
            </a:pPr>
            <a:r>
              <a:rPr lang="en-US" sz="1350" dirty="0">
                <a:solidFill>
                  <a:srgbClr val="00C9D3"/>
                </a:solidFill>
                <a:latin typeface="Arial" pitchFamily="34" charset="0"/>
                <a:ea typeface="Arial" pitchFamily="34" charset="-122"/>
                <a:cs typeface="Arial" pitchFamily="34" charset="-120"/>
              </a:rPr>
              <a:t>→</a:t>
            </a:r>
            <a:endParaRPr lang="en-US" sz="1350" dirty="0"/>
          </a:p>
        </p:txBody>
      </p:sp>
      <p:sp>
        <p:nvSpPr>
          <p:cNvPr id="17" name="Shape 15"/>
          <p:cNvSpPr/>
          <p:nvPr/>
        </p:nvSpPr>
        <p:spPr>
          <a:xfrm>
            <a:off x="1804541" y="3676650"/>
            <a:ext cx="2077343" cy="433388"/>
          </a:xfrm>
          <a:prstGeom prst="roundRect">
            <a:avLst>
              <a:gd name="adj" fmla="val 26374"/>
            </a:avLst>
          </a:prstGeom>
          <a:solidFill>
            <a:srgbClr val="001A28">
              <a:alpha val="70000"/>
            </a:srgbClr>
          </a:solidFill>
          <a:ln w="9525">
            <a:solidFill>
              <a:srgbClr val="008391">
                <a:alpha val="50000"/>
              </a:srgbClr>
            </a:solidFill>
            <a:prstDash val="solid"/>
          </a:ln>
        </p:spPr>
      </p:sp>
      <p:sp>
        <p:nvSpPr>
          <p:cNvPr id="18" name="Text 16"/>
          <p:cNvSpPr/>
          <p:nvPr/>
        </p:nvSpPr>
        <p:spPr>
          <a:xfrm>
            <a:off x="1947416" y="3819525"/>
            <a:ext cx="1791593" cy="185737"/>
          </a:xfrm>
          <a:prstGeom prst="rect">
            <a:avLst/>
          </a:prstGeom>
          <a:noFill/>
          <a:ln/>
        </p:spPr>
        <p:txBody>
          <a:bodyPr wrap="square" lIns="25400" tIns="25400" rIns="25400" bIns="25400" rtlCol="0" anchor="t">
            <a:normAutofit/>
          </a:bodyPr>
          <a:lstStyle/>
          <a:p>
            <a:pPr algn="ctr" indent="0" marL="0">
              <a:buNone/>
            </a:pPr>
            <a:r>
              <a:rPr lang="en-US" sz="1013" b="1" dirty="0">
                <a:solidFill>
                  <a:srgbClr val="D4DFEB"/>
                </a:solidFill>
                <a:latin typeface="Arial" pitchFamily="34" charset="0"/>
                <a:ea typeface="Arial" pitchFamily="34" charset="-122"/>
                <a:cs typeface="Arial" pitchFamily="34" charset="-120"/>
              </a:rPr>
              <a:t>Décisions tarifaires en continu</a:t>
            </a:r>
            <a:endParaRPr lang="en-US" sz="1013" dirty="0"/>
          </a:p>
        </p:txBody>
      </p:sp>
      <p:sp>
        <p:nvSpPr>
          <p:cNvPr id="19" name="Shape 17"/>
          <p:cNvSpPr/>
          <p:nvPr/>
        </p:nvSpPr>
        <p:spPr>
          <a:xfrm>
            <a:off x="1271215" y="4567238"/>
            <a:ext cx="3143920" cy="490538"/>
          </a:xfrm>
          <a:prstGeom prst="roundRect">
            <a:avLst>
              <a:gd name="adj" fmla="val 50000"/>
            </a:avLst>
          </a:prstGeom>
          <a:ln/>
          <a:effectLst>
            <a:outerShdw sx="100000" sy="100000" kx="0" ky="0" algn="bl" rotWithShape="0" blurRad="381000" dist="50800" dir="16200000">
              <a:srgbClr val="000000">
                <a:alpha val="30000"/>
              </a:srgbClr>
            </a:outerShdw>
          </a:effectLst>
        </p:spPr>
      </p:sp>
      <p:sp>
        <p:nvSpPr>
          <p:cNvPr id="20" name="Text 18"/>
          <p:cNvSpPr/>
          <p:nvPr/>
        </p:nvSpPr>
        <p:spPr>
          <a:xfrm>
            <a:off x="1576015" y="4719638"/>
            <a:ext cx="2372395" cy="223838"/>
          </a:xfrm>
          <a:prstGeom prst="rect">
            <a:avLst/>
          </a:prstGeom>
          <a:noFill/>
          <a:ln/>
        </p:spPr>
        <p:txBody>
          <a:bodyPr wrap="square" lIns="0" tIns="0" rIns="0" bIns="0" rtlCol="0" anchor="t">
            <a:normAutofit/>
          </a:bodyPr>
          <a:lstStyle/>
          <a:p>
            <a:pPr algn="ctr" indent="0" marL="0">
              <a:buNone/>
            </a:pPr>
            <a:r>
              <a:rPr lang="en-US" sz="1125" b="1" dirty="0">
                <a:solidFill>
                  <a:srgbClr val="061019"/>
                </a:solidFill>
                <a:latin typeface="Arial" pitchFamily="34" charset="0"/>
                <a:ea typeface="Arial" pitchFamily="34" charset="-122"/>
                <a:cs typeface="Arial" pitchFamily="34" charset="-120"/>
              </a:rPr>
              <a:t>Découvrir nos autres cas d'usage</a:t>
            </a:r>
            <a:endParaRPr lang="en-US" sz="1125" dirty="0"/>
          </a:p>
        </p:txBody>
      </p:sp>
      <p:sp>
        <p:nvSpPr>
          <p:cNvPr id="21" name="Text 19"/>
          <p:cNvSpPr/>
          <p:nvPr/>
        </p:nvSpPr>
        <p:spPr>
          <a:xfrm>
            <a:off x="3929360" y="4719638"/>
            <a:ext cx="219075" cy="223838"/>
          </a:xfrm>
          <a:prstGeom prst="rect">
            <a:avLst/>
          </a:prstGeom>
          <a:noFill/>
          <a:ln/>
        </p:spPr>
        <p:txBody>
          <a:bodyPr wrap="square" lIns="25400" tIns="25400" rIns="25400" bIns="25400" rtlCol="0" anchor="t">
            <a:normAutofit/>
          </a:bodyPr>
          <a:lstStyle/>
          <a:p>
            <a:pPr algn="ctr" indent="0" marL="0">
              <a:buNone/>
            </a:pPr>
            <a:r>
              <a:rPr lang="en-US" sz="1125" b="1" dirty="0">
                <a:solidFill>
                  <a:srgbClr val="061019"/>
                </a:solidFill>
                <a:latin typeface="Arial" pitchFamily="34" charset="0"/>
                <a:ea typeface="Arial" pitchFamily="34" charset="-122"/>
                <a:cs typeface="Arial" pitchFamily="34" charset="-120"/>
              </a:rPr>
              <a:t>→</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2026-07-09T12:35:36Z</dcterms:created>
  <dcterms:modified xsi:type="dcterms:W3CDTF">2026-07-09T12:35:36Z</dcterms:modified>
</cp:coreProperties>
</file>