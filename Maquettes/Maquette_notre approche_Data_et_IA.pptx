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image" Target="../media/image-2-13.png"/><Relationship Id="rId14" Type="http://schemas.openxmlformats.org/officeDocument/2006/relationships/image" Target="../media/image-2-14.svg"/><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F8FA1">
                  <a:alpha val="100000"/>
                </a:srgbClr>
              </a:gs>
              <a:gs pos="45000">
                <a:srgbClr val="175866">
                  <a:alpha val="100000"/>
                </a:srgbClr>
              </a:gs>
              <a:gs pos="100000">
                <a:srgbClr val="0A2A33">
                  <a:alpha val="100000"/>
                </a:srgbClr>
              </a:gs>
            </a:gsLst>
            <a:path path="circle">
              <a:fillToRect l="50000" t="20000" r="50000" b="80000"/>
            </a:path>
          </a:gradFill>
          <a:ln/>
        </p:spPr>
      </p:sp>
      <p:sp>
        <p:nvSpPr>
          <p:cNvPr id="3" name="Text 1"/>
          <p:cNvSpPr/>
          <p:nvPr/>
        </p:nvSpPr>
        <p:spPr>
          <a:xfrm>
            <a:off x="702183" y="762000"/>
            <a:ext cx="17188434" cy="2124075"/>
          </a:xfrm>
          <a:prstGeom prst="rect">
            <a:avLst/>
          </a:prstGeom>
          <a:noFill/>
          <a:ln/>
        </p:spPr>
        <p:txBody>
          <a:bodyPr wrap="square" lIns="25400" tIns="25400" rIns="25400" bIns="25400" rtlCol="0" anchor="t">
            <a:normAutofit/>
          </a:bodyPr>
          <a:lstStyle/>
          <a:p>
            <a:pPr algn="ctr" indent="0" marL="0">
              <a:buNone/>
            </a:pPr>
            <a:r>
              <a:rPr lang="en-US" sz="4500" b="1" dirty="0">
                <a:solidFill>
                  <a:srgbClr val="FFFFFF"/>
                </a:solidFill>
                <a:latin typeface="Open Sans" pitchFamily="34" charset="0"/>
                <a:ea typeface="Open Sans" pitchFamily="34" charset="-122"/>
                <a:cs typeface="Open Sans" pitchFamily="34" charset="-120"/>
              </a:rPr>
              <a:t>Notre approche de travail soutient votre transformation Data &amp; IA</a:t>
            </a:r>
            <a:endParaRPr lang="en-US" sz="4500" dirty="0"/>
          </a:p>
        </p:txBody>
      </p:sp>
      <p:sp>
        <p:nvSpPr>
          <p:cNvPr id="4" name="Text 2"/>
          <p:cNvSpPr/>
          <p:nvPr/>
        </p:nvSpPr>
        <p:spPr>
          <a:xfrm>
            <a:off x="952500" y="3133725"/>
            <a:ext cx="15697200" cy="152400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alpha val="92000"/>
                  </a:srgbClr>
                </a:solidFill>
                <a:latin typeface="Helvetica" pitchFamily="34" charset="0"/>
                <a:ea typeface="Helvetica" pitchFamily="34" charset="-122"/>
                <a:cs typeface="Helvetica" pitchFamily="34" charset="-120"/>
              </a:rPr>
              <a:t>G2M n'est pas un intégrateur qui cherche à placer un produit. Nous sommes un cabinet de conseil spécialisé en Data &amp; IA, et notre premier réflexe est toujours de comprendre votre réalité opérationnelle avant de parler de technologies. Chaque mission est construite à partir de votre secteur, de vos équipes, vos processus. Nous aspirons à être votre sparring partner. Nous challengeons, nous proposons, nous formons, mais la décision reste toujours la vôtre.</a:t>
            </a:r>
            <a:endParaRPr lang="en-US" sz="1950" dirty="0"/>
          </a:p>
        </p:txBody>
      </p:sp>
      <p:sp>
        <p:nvSpPr>
          <p:cNvPr id="5" name="Shape 3"/>
          <p:cNvSpPr/>
          <p:nvPr/>
        </p:nvSpPr>
        <p:spPr>
          <a:xfrm>
            <a:off x="952500" y="5391150"/>
            <a:ext cx="5257800" cy="2956322"/>
          </a:xfrm>
          <a:prstGeom prst="roundRect">
            <a:avLst>
              <a:gd name="adj" fmla="val 4511"/>
            </a:avLst>
          </a:prstGeom>
          <a:solidFill>
            <a:srgbClr val="FFFFFF">
              <a:alpha val="10000"/>
            </a:srgbClr>
          </a:solidFill>
          <a:ln/>
        </p:spPr>
      </p:sp>
      <p:sp>
        <p:nvSpPr>
          <p:cNvPr id="6" name="Shape 4"/>
          <p:cNvSpPr/>
          <p:nvPr/>
        </p:nvSpPr>
        <p:spPr>
          <a:xfrm>
            <a:off x="1200150" y="5619750"/>
            <a:ext cx="419100" cy="419100"/>
          </a:xfrm>
          <a:prstGeom prst="ellipse">
            <a:avLst/>
          </a:prstGeom>
          <a:solidFill>
            <a:srgbClr val="FFFFFF"/>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04925" y="5724525"/>
            <a:ext cx="209550" cy="209550"/>
          </a:xfrm>
          <a:prstGeom prst="rect">
            <a:avLst/>
          </a:prstGeom>
        </p:spPr>
      </p:pic>
      <p:sp>
        <p:nvSpPr>
          <p:cNvPr id="8" name="Text 5"/>
          <p:cNvSpPr/>
          <p:nvPr/>
        </p:nvSpPr>
        <p:spPr>
          <a:xfrm>
            <a:off x="1200150" y="6172200"/>
            <a:ext cx="52387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Helvetica" pitchFamily="34" charset="0"/>
                <a:ea typeface="Helvetica" pitchFamily="34" charset="-122"/>
                <a:cs typeface="Helvetica" pitchFamily="34" charset="-120"/>
              </a:rPr>
              <a:t>Sur-mesure, pas sur étagère</a:t>
            </a:r>
            <a:endParaRPr lang="en-US" sz="1950" dirty="0"/>
          </a:p>
        </p:txBody>
      </p:sp>
      <p:sp>
        <p:nvSpPr>
          <p:cNvPr id="9" name="Text 6"/>
          <p:cNvSpPr/>
          <p:nvPr/>
        </p:nvSpPr>
        <p:spPr>
          <a:xfrm>
            <a:off x="1200150" y="6553200"/>
            <a:ext cx="4905375" cy="131802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FFFFFF">
                    <a:alpha val="88000"/>
                  </a:srgbClr>
                </a:solidFill>
                <a:latin typeface="Helvetica" pitchFamily="34" charset="0"/>
                <a:ea typeface="Helvetica" pitchFamily="34" charset="-122"/>
                <a:cs typeface="Helvetica" pitchFamily="34" charset="-120"/>
              </a:rPr>
              <a:t>Nos solutions sont conçues pour votre contexte précis. Nous refusons les solutions génériques qui créent des dépendances sans créer de valeur.</a:t>
            </a:r>
            <a:endParaRPr lang="en-US" sz="1800" dirty="0"/>
          </a:p>
        </p:txBody>
      </p:sp>
      <p:sp>
        <p:nvSpPr>
          <p:cNvPr id="10" name="Shape 7"/>
          <p:cNvSpPr/>
          <p:nvPr/>
        </p:nvSpPr>
        <p:spPr>
          <a:xfrm>
            <a:off x="6515100" y="5391150"/>
            <a:ext cx="5257800" cy="2956322"/>
          </a:xfrm>
          <a:prstGeom prst="roundRect">
            <a:avLst>
              <a:gd name="adj" fmla="val 4511"/>
            </a:avLst>
          </a:prstGeom>
          <a:solidFill>
            <a:srgbClr val="FFFFFF">
              <a:alpha val="10000"/>
            </a:srgbClr>
          </a:solidFill>
          <a:ln/>
        </p:spPr>
      </p:sp>
      <p:sp>
        <p:nvSpPr>
          <p:cNvPr id="11" name="Shape 8"/>
          <p:cNvSpPr/>
          <p:nvPr/>
        </p:nvSpPr>
        <p:spPr>
          <a:xfrm>
            <a:off x="6762750" y="5619750"/>
            <a:ext cx="419100" cy="419100"/>
          </a:xfrm>
          <a:prstGeom prst="ellipse">
            <a:avLst/>
          </a:prstGeom>
          <a:solidFill>
            <a:srgbClr val="FFFFFF"/>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67525" y="5724525"/>
            <a:ext cx="209550" cy="209550"/>
          </a:xfrm>
          <a:prstGeom prst="rect">
            <a:avLst/>
          </a:prstGeom>
        </p:spPr>
      </p:pic>
      <p:sp>
        <p:nvSpPr>
          <p:cNvPr id="13" name="Text 9"/>
          <p:cNvSpPr/>
          <p:nvPr/>
        </p:nvSpPr>
        <p:spPr>
          <a:xfrm>
            <a:off x="6762750" y="6172200"/>
            <a:ext cx="4905375" cy="60960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Helvetica" pitchFamily="34" charset="0"/>
                <a:ea typeface="Helvetica" pitchFamily="34" charset="-122"/>
                <a:cs typeface="Helvetica" pitchFamily="34" charset="-120"/>
              </a:rPr>
              <a:t>Le métier d'abord, la technologie ensuite</a:t>
            </a:r>
            <a:endParaRPr lang="en-US" sz="1950" dirty="0"/>
          </a:p>
        </p:txBody>
      </p:sp>
      <p:sp>
        <p:nvSpPr>
          <p:cNvPr id="14" name="Text 10"/>
          <p:cNvSpPr/>
          <p:nvPr/>
        </p:nvSpPr>
        <p:spPr>
          <a:xfrm>
            <a:off x="6762750" y="6838950"/>
            <a:ext cx="4905375" cy="131802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FFFFFF">
                    <a:alpha val="88000"/>
                  </a:srgbClr>
                </a:solidFill>
                <a:latin typeface="Helvetica" pitchFamily="34" charset="0"/>
                <a:ea typeface="Helvetica" pitchFamily="34" charset="-122"/>
                <a:cs typeface="Helvetica" pitchFamily="34" charset="-120"/>
              </a:rPr>
              <a:t>Nous diagnostiquons votre besoin réel avant de proposer une solution technique. L'IA n'est pas une fin en soi, c'est un levier au service de vos objectifs.</a:t>
            </a:r>
            <a:endParaRPr lang="en-US" sz="1800" dirty="0"/>
          </a:p>
        </p:txBody>
      </p:sp>
      <p:sp>
        <p:nvSpPr>
          <p:cNvPr id="15" name="Shape 11"/>
          <p:cNvSpPr/>
          <p:nvPr/>
        </p:nvSpPr>
        <p:spPr>
          <a:xfrm>
            <a:off x="12077700" y="5391150"/>
            <a:ext cx="5257800" cy="2956322"/>
          </a:xfrm>
          <a:prstGeom prst="roundRect">
            <a:avLst>
              <a:gd name="adj" fmla="val 4511"/>
            </a:avLst>
          </a:prstGeom>
          <a:solidFill>
            <a:srgbClr val="FFFFFF">
              <a:alpha val="10000"/>
            </a:srgbClr>
          </a:solidFill>
          <a:ln/>
        </p:spPr>
      </p:sp>
      <p:sp>
        <p:nvSpPr>
          <p:cNvPr id="16" name="Shape 12"/>
          <p:cNvSpPr/>
          <p:nvPr/>
        </p:nvSpPr>
        <p:spPr>
          <a:xfrm>
            <a:off x="12325350" y="5619750"/>
            <a:ext cx="419100" cy="419100"/>
          </a:xfrm>
          <a:prstGeom prst="ellipse">
            <a:avLst/>
          </a:prstGeom>
          <a:solidFill>
            <a:srgbClr val="FFFFFF"/>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30125" y="5724525"/>
            <a:ext cx="209550" cy="209550"/>
          </a:xfrm>
          <a:prstGeom prst="rect">
            <a:avLst/>
          </a:prstGeom>
        </p:spPr>
      </p:pic>
      <p:sp>
        <p:nvSpPr>
          <p:cNvPr id="18" name="Text 13"/>
          <p:cNvSpPr/>
          <p:nvPr/>
        </p:nvSpPr>
        <p:spPr>
          <a:xfrm>
            <a:off x="12325350" y="6172200"/>
            <a:ext cx="523875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Helvetica" pitchFamily="34" charset="0"/>
                <a:ea typeface="Helvetica" pitchFamily="34" charset="-122"/>
                <a:cs typeface="Helvetica" pitchFamily="34" charset="-120"/>
              </a:rPr>
              <a:t>Proximité client assurée</a:t>
            </a:r>
            <a:endParaRPr lang="en-US" sz="1950" dirty="0"/>
          </a:p>
        </p:txBody>
      </p:sp>
      <p:sp>
        <p:nvSpPr>
          <p:cNvPr id="19" name="Text 14"/>
          <p:cNvSpPr/>
          <p:nvPr/>
        </p:nvSpPr>
        <p:spPr>
          <a:xfrm>
            <a:off x="12325350" y="6553200"/>
            <a:ext cx="4905375"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FFFFFF">
                    <a:alpha val="88000"/>
                  </a:srgbClr>
                </a:solidFill>
                <a:latin typeface="Helvetica" pitchFamily="34" charset="0"/>
                <a:ea typeface="Helvetica" pitchFamily="34" charset="-122"/>
                <a:cs typeface="Helvetica" pitchFamily="34" charset="-120"/>
              </a:rPr>
              <a:t>Vous avez un interlocuteur dédié, de la phase de cadrage jusqu'au déploiement. Pas de relais, pas de perte d'information.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F8FA1">
                  <a:alpha val="100000"/>
                </a:srgbClr>
              </a:gs>
              <a:gs pos="45000">
                <a:srgbClr val="175866">
                  <a:alpha val="100000"/>
                </a:srgbClr>
              </a:gs>
              <a:gs pos="100000">
                <a:srgbClr val="0A2A33">
                  <a:alpha val="100000"/>
                </a:srgbClr>
              </a:gs>
            </a:gsLst>
            <a:lin ang="4200000" scaled="0"/>
          </a:gradFill>
          <a:ln/>
        </p:spPr>
      </p:sp>
      <p:sp>
        <p:nvSpPr>
          <p:cNvPr id="3" name="Text 1"/>
          <p:cNvSpPr/>
          <p:nvPr/>
        </p:nvSpPr>
        <p:spPr>
          <a:xfrm>
            <a:off x="952500" y="762000"/>
            <a:ext cx="180213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Helvetica" pitchFamily="34" charset="0"/>
                <a:ea typeface="Helvetica" pitchFamily="34" charset="-122"/>
                <a:cs typeface="Helvetica" pitchFamily="34" charset="-120"/>
              </a:rPr>
              <a:t>Des engagements clairs</a:t>
            </a:r>
            <a:endParaRPr lang="en-US" sz="3000" dirty="0"/>
          </a:p>
        </p:txBody>
      </p:sp>
      <p:sp>
        <p:nvSpPr>
          <p:cNvPr id="4" name="Text 2"/>
          <p:cNvSpPr/>
          <p:nvPr/>
        </p:nvSpPr>
        <p:spPr>
          <a:xfrm>
            <a:off x="952500" y="1409700"/>
            <a:ext cx="16678275" cy="1135335"/>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FFFFFF">
                    <a:alpha val="92000"/>
                  </a:srgbClr>
                </a:solidFill>
                <a:latin typeface="Helvetica" pitchFamily="34" charset="0"/>
                <a:ea typeface="Helvetica" pitchFamily="34" charset="-122"/>
                <a:cs typeface="Helvetica" pitchFamily="34" charset="-120"/>
              </a:rPr>
              <a:t>Avant de démarrer une mission, nous formalisons ensemble un périmètre précis : ce qui est inclus, ce qui ne l'est pas, et pourquoi. Cela vous permet de savoir à l'avance ce que vous recevrez, quand, et comment en mesurer l'impact. Nos interventions s'appuient sur quatre engagements qui garantissent la réussite de chaque projet : un budget maîtrisé, des délais respectés, des livrables clairement définis et un retour sur investissement mesurable.</a:t>
            </a:r>
            <a:endParaRPr lang="en-US" sz="1800" dirty="0"/>
          </a:p>
        </p:txBody>
      </p:sp>
      <p:sp>
        <p:nvSpPr>
          <p:cNvPr id="5" name="Shape 3"/>
          <p:cNvSpPr/>
          <p:nvPr/>
        </p:nvSpPr>
        <p:spPr>
          <a:xfrm>
            <a:off x="952500" y="2811735"/>
            <a:ext cx="3924300" cy="723900"/>
          </a:xfrm>
          <a:prstGeom prst="roundRect">
            <a:avLst>
              <a:gd name="adj" fmla="val 50000"/>
            </a:avLst>
          </a:prstGeom>
          <a:solidFill>
            <a:srgbClr val="0E3540"/>
          </a:solidFill>
          <a:ln/>
        </p:spPr>
      </p:sp>
      <p:sp>
        <p:nvSpPr>
          <p:cNvPr id="6" name="Shape 4"/>
          <p:cNvSpPr/>
          <p:nvPr/>
        </p:nvSpPr>
        <p:spPr>
          <a:xfrm>
            <a:off x="1219200" y="2983185"/>
            <a:ext cx="381000" cy="381000"/>
          </a:xfrm>
          <a:prstGeom prst="ellipse">
            <a:avLst/>
          </a:prstGeom>
          <a:ln w="19050">
            <a:solidFill>
              <a:srgbClr val="7FD4E0"/>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33500" y="3097485"/>
            <a:ext cx="152400" cy="152400"/>
          </a:xfrm>
          <a:prstGeom prst="rect">
            <a:avLst/>
          </a:prstGeom>
        </p:spPr>
      </p:pic>
      <p:sp>
        <p:nvSpPr>
          <p:cNvPr id="8" name="Text 5"/>
          <p:cNvSpPr/>
          <p:nvPr/>
        </p:nvSpPr>
        <p:spPr>
          <a:xfrm>
            <a:off x="1752600" y="3042717"/>
            <a:ext cx="1098575" cy="300038"/>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Helvetica" pitchFamily="34" charset="0"/>
                <a:ea typeface="Helvetica" pitchFamily="34" charset="-122"/>
                <a:cs typeface="Helvetica" pitchFamily="34" charset="-120"/>
              </a:rPr>
              <a:t>BUDGET</a:t>
            </a:r>
            <a:endParaRPr lang="en-US" sz="1800" dirty="0"/>
          </a:p>
        </p:txBody>
      </p:sp>
      <p:sp>
        <p:nvSpPr>
          <p:cNvPr id="9" name="Shape 6"/>
          <p:cNvSpPr/>
          <p:nvPr/>
        </p:nvSpPr>
        <p:spPr>
          <a:xfrm>
            <a:off x="5105400" y="2811735"/>
            <a:ext cx="3924300" cy="723900"/>
          </a:xfrm>
          <a:prstGeom prst="roundRect">
            <a:avLst>
              <a:gd name="adj" fmla="val 50000"/>
            </a:avLst>
          </a:prstGeom>
          <a:solidFill>
            <a:srgbClr val="0E3540"/>
          </a:solidFill>
          <a:ln/>
        </p:spPr>
      </p:sp>
      <p:sp>
        <p:nvSpPr>
          <p:cNvPr id="10" name="Shape 7"/>
          <p:cNvSpPr/>
          <p:nvPr/>
        </p:nvSpPr>
        <p:spPr>
          <a:xfrm>
            <a:off x="5372100" y="2983185"/>
            <a:ext cx="381000" cy="381000"/>
          </a:xfrm>
          <a:prstGeom prst="ellipse">
            <a:avLst/>
          </a:prstGeom>
          <a:ln w="19050">
            <a:solidFill>
              <a:srgbClr val="7FD4E0"/>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0" y="3097485"/>
            <a:ext cx="152400" cy="152400"/>
          </a:xfrm>
          <a:prstGeom prst="rect">
            <a:avLst/>
          </a:prstGeom>
        </p:spPr>
      </p:pic>
      <p:sp>
        <p:nvSpPr>
          <p:cNvPr id="12" name="Text 8"/>
          <p:cNvSpPr/>
          <p:nvPr/>
        </p:nvSpPr>
        <p:spPr>
          <a:xfrm>
            <a:off x="5905500" y="3042717"/>
            <a:ext cx="971624" cy="300038"/>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Helvetica" pitchFamily="34" charset="0"/>
                <a:ea typeface="Helvetica" pitchFamily="34" charset="-122"/>
                <a:cs typeface="Helvetica" pitchFamily="34" charset="-120"/>
              </a:rPr>
              <a:t>DÉLAIS</a:t>
            </a:r>
            <a:endParaRPr lang="en-US" sz="1800" dirty="0"/>
          </a:p>
        </p:txBody>
      </p:sp>
      <p:sp>
        <p:nvSpPr>
          <p:cNvPr id="13" name="Shape 9"/>
          <p:cNvSpPr/>
          <p:nvPr/>
        </p:nvSpPr>
        <p:spPr>
          <a:xfrm>
            <a:off x="9258300" y="2811735"/>
            <a:ext cx="3924300" cy="723900"/>
          </a:xfrm>
          <a:prstGeom prst="roundRect">
            <a:avLst>
              <a:gd name="adj" fmla="val 50000"/>
            </a:avLst>
          </a:prstGeom>
          <a:solidFill>
            <a:srgbClr val="0E3540"/>
          </a:solidFill>
          <a:ln/>
        </p:spPr>
      </p:sp>
      <p:sp>
        <p:nvSpPr>
          <p:cNvPr id="14" name="Shape 10"/>
          <p:cNvSpPr/>
          <p:nvPr/>
        </p:nvSpPr>
        <p:spPr>
          <a:xfrm>
            <a:off x="9525000" y="2983185"/>
            <a:ext cx="381000" cy="381000"/>
          </a:xfrm>
          <a:prstGeom prst="ellipse">
            <a:avLst/>
          </a:prstGeom>
          <a:ln w="19050">
            <a:solidFill>
              <a:srgbClr val="7FD4E0"/>
            </a:solidFill>
            <a:prstDash val="solid"/>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39300" y="3097485"/>
            <a:ext cx="152400" cy="152400"/>
          </a:xfrm>
          <a:prstGeom prst="rect">
            <a:avLst/>
          </a:prstGeom>
        </p:spPr>
      </p:pic>
      <p:sp>
        <p:nvSpPr>
          <p:cNvPr id="16" name="Text 11"/>
          <p:cNvSpPr/>
          <p:nvPr/>
        </p:nvSpPr>
        <p:spPr>
          <a:xfrm>
            <a:off x="10058400" y="3042717"/>
            <a:ext cx="1519319" cy="300038"/>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Helvetica" pitchFamily="34" charset="0"/>
                <a:ea typeface="Helvetica" pitchFamily="34" charset="-122"/>
                <a:cs typeface="Helvetica" pitchFamily="34" charset="-120"/>
              </a:rPr>
              <a:t>LIVRABLES</a:t>
            </a:r>
            <a:endParaRPr lang="en-US" sz="1800" dirty="0"/>
          </a:p>
        </p:txBody>
      </p:sp>
      <p:sp>
        <p:nvSpPr>
          <p:cNvPr id="17" name="Shape 12"/>
          <p:cNvSpPr/>
          <p:nvPr/>
        </p:nvSpPr>
        <p:spPr>
          <a:xfrm>
            <a:off x="13411200" y="2811735"/>
            <a:ext cx="3924300" cy="723900"/>
          </a:xfrm>
          <a:prstGeom prst="roundRect">
            <a:avLst>
              <a:gd name="adj" fmla="val 50000"/>
            </a:avLst>
          </a:prstGeom>
          <a:solidFill>
            <a:srgbClr val="0E3540"/>
          </a:solidFill>
          <a:ln/>
        </p:spPr>
      </p:sp>
      <p:sp>
        <p:nvSpPr>
          <p:cNvPr id="18" name="Shape 13"/>
          <p:cNvSpPr/>
          <p:nvPr/>
        </p:nvSpPr>
        <p:spPr>
          <a:xfrm>
            <a:off x="13677900" y="2983185"/>
            <a:ext cx="381000" cy="381000"/>
          </a:xfrm>
          <a:prstGeom prst="ellipse">
            <a:avLst/>
          </a:prstGeom>
          <a:ln w="19050">
            <a:solidFill>
              <a:srgbClr val="7FD4E0"/>
            </a:solidFill>
            <a:prstDash val="solid"/>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792200" y="3097485"/>
            <a:ext cx="152400" cy="152400"/>
          </a:xfrm>
          <a:prstGeom prst="rect">
            <a:avLst/>
          </a:prstGeom>
        </p:spPr>
      </p:pic>
      <p:sp>
        <p:nvSpPr>
          <p:cNvPr id="20" name="Text 14"/>
          <p:cNvSpPr/>
          <p:nvPr/>
        </p:nvSpPr>
        <p:spPr>
          <a:xfrm>
            <a:off x="14211300" y="3042717"/>
            <a:ext cx="2245787" cy="300038"/>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FFFFF"/>
                </a:solidFill>
                <a:latin typeface="Helvetica" pitchFamily="34" charset="0"/>
                <a:ea typeface="Helvetica" pitchFamily="34" charset="-122"/>
                <a:cs typeface="Helvetica" pitchFamily="34" charset="-120"/>
              </a:rPr>
              <a:t>ROI MESURABLE</a:t>
            </a:r>
            <a:endParaRPr lang="en-US" sz="1800" dirty="0"/>
          </a:p>
        </p:txBody>
      </p:sp>
      <p:sp>
        <p:nvSpPr>
          <p:cNvPr id="21" name="Text 15"/>
          <p:cNvSpPr/>
          <p:nvPr/>
        </p:nvSpPr>
        <p:spPr>
          <a:xfrm>
            <a:off x="952500" y="3954735"/>
            <a:ext cx="180213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Helvetica" pitchFamily="34" charset="0"/>
                <a:ea typeface="Helvetica" pitchFamily="34" charset="-122"/>
                <a:cs typeface="Helvetica" pitchFamily="34" charset="-120"/>
              </a:rPr>
              <a:t>La sécurité de vos données, sans compromis.</a:t>
            </a:r>
            <a:endParaRPr lang="en-US" sz="3000" dirty="0"/>
          </a:p>
        </p:txBody>
      </p:sp>
      <p:sp>
        <p:nvSpPr>
          <p:cNvPr id="22" name="Text 16"/>
          <p:cNvSpPr/>
          <p:nvPr/>
        </p:nvSpPr>
        <p:spPr>
          <a:xfrm>
            <a:off x="952500" y="4602435"/>
            <a:ext cx="16678275" cy="1501080"/>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FFFFFF">
                    <a:alpha val="92000"/>
                  </a:srgbClr>
                </a:solidFill>
                <a:latin typeface="Helvetica" pitchFamily="34" charset="0"/>
                <a:ea typeface="Helvetica" pitchFamily="34" charset="-122"/>
                <a:cs typeface="Helvetica" pitchFamily="34" charset="-120"/>
              </a:rPr>
              <a:t>La protection de vos données est au cœur de nos engagements. Chez G2M, nous mettons en œuvre des solutions d'hébergement fiables ainsi que des mesures de sécurité adaptées afin de garantir la confidentialité, l'intégrité et la disponibilité de vos données. Parce que la confiance est un élément essentiel de chaque collaboration, nous veillons à assurer un environnement sécurisé, conforme aux bonnes pratiques en matière de gestion et de protection des données.</a:t>
            </a:r>
            <a:endParaRPr lang="en-US" sz="1800" dirty="0"/>
          </a:p>
        </p:txBody>
      </p:sp>
      <p:sp>
        <p:nvSpPr>
          <p:cNvPr id="23" name="Shape 17"/>
          <p:cNvSpPr/>
          <p:nvPr/>
        </p:nvSpPr>
        <p:spPr>
          <a:xfrm>
            <a:off x="952500" y="6370216"/>
            <a:ext cx="5257800" cy="3047702"/>
          </a:xfrm>
          <a:prstGeom prst="roundRect">
            <a:avLst>
              <a:gd name="adj" fmla="val 4375"/>
            </a:avLst>
          </a:prstGeom>
          <a:solidFill>
            <a:srgbClr val="FFFFFF">
              <a:alpha val="10000"/>
            </a:srgbClr>
          </a:solidFill>
          <a:ln/>
        </p:spPr>
      </p:sp>
      <p:sp>
        <p:nvSpPr>
          <p:cNvPr id="24" name="Shape 18"/>
          <p:cNvSpPr/>
          <p:nvPr/>
        </p:nvSpPr>
        <p:spPr>
          <a:xfrm>
            <a:off x="1200150" y="6598816"/>
            <a:ext cx="419100" cy="419100"/>
          </a:xfrm>
          <a:prstGeom prst="ellipse">
            <a:avLst/>
          </a:prstGeom>
          <a:solidFill>
            <a:srgbClr val="FFFFFF"/>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04925" y="6703591"/>
            <a:ext cx="209550" cy="209550"/>
          </a:xfrm>
          <a:prstGeom prst="rect">
            <a:avLst/>
          </a:prstGeom>
        </p:spPr>
      </p:pic>
      <p:sp>
        <p:nvSpPr>
          <p:cNvPr id="26" name="Text 19"/>
          <p:cNvSpPr/>
          <p:nvPr/>
        </p:nvSpPr>
        <p:spPr>
          <a:xfrm>
            <a:off x="1200150" y="7151266"/>
            <a:ext cx="5238750" cy="323850"/>
          </a:xfrm>
          <a:prstGeom prst="rect">
            <a:avLst/>
          </a:prstGeom>
          <a:noFill/>
          <a:ln/>
        </p:spPr>
        <p:txBody>
          <a:bodyPr wrap="square" lIns="25400" tIns="25400" rIns="25400" bIns="25400" rtlCol="0" anchor="t">
            <a:normAutofit/>
          </a:bodyPr>
          <a:lstStyle/>
          <a:p>
            <a:pPr algn="l" indent="0" marL="0">
              <a:buNone/>
            </a:pPr>
            <a:r>
              <a:rPr lang="en-US" sz="1950" b="1" spc="38" kern="0" dirty="0">
                <a:solidFill>
                  <a:srgbClr val="FFFFFF"/>
                </a:solidFill>
                <a:latin typeface="Helvetica" pitchFamily="34" charset="0"/>
                <a:ea typeface="Helvetica" pitchFamily="34" charset="-122"/>
                <a:cs typeface="Helvetica" pitchFamily="34" charset="-120"/>
              </a:rPr>
              <a:t>HÉBERGEMENT FIABLE</a:t>
            </a:r>
            <a:endParaRPr lang="en-US" sz="1950" dirty="0"/>
          </a:p>
        </p:txBody>
      </p:sp>
      <p:sp>
        <p:nvSpPr>
          <p:cNvPr id="27" name="Text 20"/>
          <p:cNvSpPr/>
          <p:nvPr/>
        </p:nvSpPr>
        <p:spPr>
          <a:xfrm>
            <a:off x="1200150" y="7589416"/>
            <a:ext cx="4905375" cy="131802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FFFFFF">
                    <a:alpha val="88000"/>
                  </a:srgbClr>
                </a:solidFill>
                <a:latin typeface="Helvetica" pitchFamily="34" charset="0"/>
                <a:ea typeface="Helvetica" pitchFamily="34" charset="-122"/>
                <a:cs typeface="Helvetica" pitchFamily="34" charset="-120"/>
              </a:rPr>
              <a:t>Hébergement souverain. Vos données sont hébergées dans des datacenters français et européens, garantissant leur localisation et leur sécurité.</a:t>
            </a:r>
            <a:endParaRPr lang="en-US" sz="1800" dirty="0"/>
          </a:p>
        </p:txBody>
      </p:sp>
      <p:sp>
        <p:nvSpPr>
          <p:cNvPr id="28" name="Shape 21"/>
          <p:cNvSpPr/>
          <p:nvPr/>
        </p:nvSpPr>
        <p:spPr>
          <a:xfrm>
            <a:off x="6515100" y="6370216"/>
            <a:ext cx="5257800" cy="3047702"/>
          </a:xfrm>
          <a:prstGeom prst="roundRect">
            <a:avLst>
              <a:gd name="adj" fmla="val 4375"/>
            </a:avLst>
          </a:prstGeom>
          <a:solidFill>
            <a:srgbClr val="FFFFFF">
              <a:alpha val="10000"/>
            </a:srgbClr>
          </a:solidFill>
          <a:ln/>
        </p:spPr>
      </p:sp>
      <p:sp>
        <p:nvSpPr>
          <p:cNvPr id="29" name="Shape 22"/>
          <p:cNvSpPr/>
          <p:nvPr/>
        </p:nvSpPr>
        <p:spPr>
          <a:xfrm>
            <a:off x="6762750" y="6598816"/>
            <a:ext cx="419100" cy="419100"/>
          </a:xfrm>
          <a:prstGeom prst="ellipse">
            <a:avLst/>
          </a:prstGeom>
          <a:solidFill>
            <a:srgbClr val="FFFFFF"/>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67525" y="6703591"/>
            <a:ext cx="209550" cy="209550"/>
          </a:xfrm>
          <a:prstGeom prst="rect">
            <a:avLst/>
          </a:prstGeom>
        </p:spPr>
      </p:pic>
      <p:sp>
        <p:nvSpPr>
          <p:cNvPr id="31" name="Text 23"/>
          <p:cNvSpPr/>
          <p:nvPr/>
        </p:nvSpPr>
        <p:spPr>
          <a:xfrm>
            <a:off x="6762750" y="7151266"/>
            <a:ext cx="5238750" cy="323850"/>
          </a:xfrm>
          <a:prstGeom prst="rect">
            <a:avLst/>
          </a:prstGeom>
          <a:noFill/>
          <a:ln/>
        </p:spPr>
        <p:txBody>
          <a:bodyPr wrap="square" lIns="25400" tIns="25400" rIns="25400" bIns="25400" rtlCol="0" anchor="t">
            <a:normAutofit/>
          </a:bodyPr>
          <a:lstStyle/>
          <a:p>
            <a:pPr algn="l" indent="0" marL="0">
              <a:buNone/>
            </a:pPr>
            <a:r>
              <a:rPr lang="en-US" sz="1950" b="1" spc="38" kern="0" dirty="0">
                <a:solidFill>
                  <a:srgbClr val="FFFFFF"/>
                </a:solidFill>
                <a:latin typeface="Helvetica" pitchFamily="34" charset="0"/>
                <a:ea typeface="Helvetica" pitchFamily="34" charset="-122"/>
                <a:cs typeface="Helvetica" pitchFamily="34" charset="-120"/>
              </a:rPr>
              <a:t>HÉBERGEMENT CERTIFIÉ</a:t>
            </a:r>
            <a:endParaRPr lang="en-US" sz="1950" dirty="0"/>
          </a:p>
        </p:txBody>
      </p:sp>
      <p:sp>
        <p:nvSpPr>
          <p:cNvPr id="32" name="Text 24"/>
          <p:cNvSpPr/>
          <p:nvPr/>
        </p:nvSpPr>
        <p:spPr>
          <a:xfrm>
            <a:off x="6762750" y="7589416"/>
            <a:ext cx="4905375"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FFFFFF">
                    <a:alpha val="88000"/>
                  </a:srgbClr>
                </a:solidFill>
                <a:latin typeface="Helvetica" pitchFamily="34" charset="0"/>
                <a:ea typeface="Helvetica" pitchFamily="34" charset="-122"/>
                <a:cs typeface="Helvetica" pitchFamily="34" charset="-120"/>
              </a:rPr>
              <a:t>Hébergement certifié. Nous privilégions des hébergements certifiés ISO 27001 et HDS, reconnus pour leur haut niveau de sécurité.</a:t>
            </a:r>
            <a:endParaRPr lang="en-US" sz="1800" dirty="0"/>
          </a:p>
        </p:txBody>
      </p:sp>
      <p:sp>
        <p:nvSpPr>
          <p:cNvPr id="33" name="Shape 25"/>
          <p:cNvSpPr/>
          <p:nvPr/>
        </p:nvSpPr>
        <p:spPr>
          <a:xfrm>
            <a:off x="12077700" y="6370216"/>
            <a:ext cx="5257800" cy="3047702"/>
          </a:xfrm>
          <a:prstGeom prst="roundRect">
            <a:avLst>
              <a:gd name="adj" fmla="val 4375"/>
            </a:avLst>
          </a:prstGeom>
          <a:solidFill>
            <a:srgbClr val="FFFFFF">
              <a:alpha val="10000"/>
            </a:srgbClr>
          </a:solidFill>
          <a:ln/>
        </p:spPr>
      </p:sp>
      <p:sp>
        <p:nvSpPr>
          <p:cNvPr id="34" name="Shape 26"/>
          <p:cNvSpPr/>
          <p:nvPr/>
        </p:nvSpPr>
        <p:spPr>
          <a:xfrm>
            <a:off x="12325350" y="6598816"/>
            <a:ext cx="419100" cy="419100"/>
          </a:xfrm>
          <a:prstGeom prst="ellipse">
            <a:avLst/>
          </a:prstGeom>
          <a:solidFill>
            <a:srgbClr val="FFFFFF"/>
          </a:solidFill>
          <a:ln/>
        </p:spPr>
      </p:sp>
      <p:pic>
        <p:nvPicPr>
          <p:cNvPr id="3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430125" y="6703591"/>
            <a:ext cx="209550" cy="209550"/>
          </a:xfrm>
          <a:prstGeom prst="rect">
            <a:avLst/>
          </a:prstGeom>
        </p:spPr>
      </p:pic>
      <p:sp>
        <p:nvSpPr>
          <p:cNvPr id="36" name="Text 27"/>
          <p:cNvSpPr/>
          <p:nvPr/>
        </p:nvSpPr>
        <p:spPr>
          <a:xfrm>
            <a:off x="12325350" y="7151266"/>
            <a:ext cx="5238750" cy="323850"/>
          </a:xfrm>
          <a:prstGeom prst="rect">
            <a:avLst/>
          </a:prstGeom>
          <a:noFill/>
          <a:ln/>
        </p:spPr>
        <p:txBody>
          <a:bodyPr wrap="square" lIns="25400" tIns="25400" rIns="25400" bIns="25400" rtlCol="0" anchor="t">
            <a:normAutofit/>
          </a:bodyPr>
          <a:lstStyle/>
          <a:p>
            <a:pPr algn="l" indent="0" marL="0">
              <a:buNone/>
            </a:pPr>
            <a:r>
              <a:rPr lang="en-US" sz="1950" b="1" spc="38" kern="0" dirty="0">
                <a:solidFill>
                  <a:srgbClr val="FFFFFF"/>
                </a:solidFill>
                <a:latin typeface="Helvetica" pitchFamily="34" charset="0"/>
                <a:ea typeface="Helvetica" pitchFamily="34" charset="-122"/>
                <a:cs typeface="Helvetica" pitchFamily="34" charset="-120"/>
              </a:rPr>
              <a:t>INFRASTRUCTURE RESPONSABLE</a:t>
            </a:r>
            <a:endParaRPr lang="en-US" sz="1950" dirty="0"/>
          </a:p>
        </p:txBody>
      </p:sp>
      <p:sp>
        <p:nvSpPr>
          <p:cNvPr id="37" name="Text 28"/>
          <p:cNvSpPr/>
          <p:nvPr/>
        </p:nvSpPr>
        <p:spPr>
          <a:xfrm>
            <a:off x="12325350" y="7589416"/>
            <a:ext cx="4905375" cy="163800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FFFFFF">
                    <a:alpha val="88000"/>
                  </a:srgbClr>
                </a:solidFill>
                <a:latin typeface="Helvetica" pitchFamily="34" charset="0"/>
                <a:ea typeface="Helvetica" pitchFamily="34" charset="-122"/>
                <a:cs typeface="Helvetica" pitchFamily="34" charset="-120"/>
              </a:rPr>
              <a:t>Nous privilégions des datacenters certifiés Tier III et HDS, engagés dans une démarche de performance énergétique, afin d'assurer une infrastructure fiable et à faible empreinte carbone.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EEF8FA">
                  <a:alpha val="100000"/>
                </a:srgbClr>
              </a:gs>
              <a:gs pos="55000">
                <a:srgbClr val="BFE3EA">
                  <a:alpha val="100000"/>
                </a:srgbClr>
              </a:gs>
              <a:gs pos="100000">
                <a:srgbClr val="EEF8FA">
                  <a:alpha val="100000"/>
                </a:srgbClr>
              </a:gs>
            </a:gsLst>
            <a:path path="circle">
              <a:fillToRect l="50000" t="50000" r="50000" b="50000"/>
            </a:path>
          </a:gradFill>
          <a:ln/>
        </p:spPr>
      </p:sp>
      <p:sp>
        <p:nvSpPr>
          <p:cNvPr id="3" name="Text 1"/>
          <p:cNvSpPr/>
          <p:nvPr/>
        </p:nvSpPr>
        <p:spPr>
          <a:xfrm>
            <a:off x="952500" y="762000"/>
            <a:ext cx="18021300" cy="609600"/>
          </a:xfrm>
          <a:prstGeom prst="rect">
            <a:avLst/>
          </a:prstGeom>
          <a:noFill/>
          <a:ln/>
        </p:spPr>
        <p:txBody>
          <a:bodyPr wrap="square" lIns="25400" tIns="25400" rIns="25400" bIns="25400" rtlCol="0" anchor="t">
            <a:normAutofit/>
          </a:bodyPr>
          <a:lstStyle/>
          <a:p>
            <a:pPr algn="l" indent="0" marL="0">
              <a:buNone/>
            </a:pPr>
            <a:r>
              <a:rPr lang="en-US" sz="3900" b="1" dirty="0">
                <a:solidFill>
                  <a:srgbClr val="0D2B33"/>
                </a:solidFill>
                <a:latin typeface="Helvetica" pitchFamily="34" charset="0"/>
                <a:ea typeface="Helvetica" pitchFamily="34" charset="-122"/>
                <a:cs typeface="Helvetica" pitchFamily="34" charset="-120"/>
              </a:rPr>
              <a:t>Aucun éditeur ne nous dicte nos choix.</a:t>
            </a:r>
            <a:endParaRPr lang="en-US" sz="3900" dirty="0"/>
          </a:p>
        </p:txBody>
      </p:sp>
      <p:sp>
        <p:nvSpPr>
          <p:cNvPr id="4" name="Shape 2"/>
          <p:cNvSpPr/>
          <p:nvPr/>
        </p:nvSpPr>
        <p:spPr>
          <a:xfrm>
            <a:off x="933450" y="4695825"/>
            <a:ext cx="3657600" cy="2133600"/>
          </a:xfrm>
          <a:prstGeom prst="roundRect">
            <a:avLst>
              <a:gd name="adj" fmla="val 50000"/>
            </a:avLst>
          </a:prstGeom>
          <a:ln w="19050">
            <a:solidFill>
              <a:srgbClr val="1A7A8C"/>
            </a:solidFill>
            <a:prstDash val="solid"/>
          </a:ln>
        </p:spPr>
      </p:sp>
      <p:sp>
        <p:nvSpPr>
          <p:cNvPr id="5" name="Shape 3"/>
          <p:cNvSpPr/>
          <p:nvPr/>
        </p:nvSpPr>
        <p:spPr>
          <a:xfrm rot="3599999">
            <a:off x="933451" y="4695825"/>
            <a:ext cx="3657599" cy="2133599"/>
          </a:xfrm>
          <a:prstGeom prst="roundRect">
            <a:avLst>
              <a:gd name="adj" fmla="val 50000"/>
            </a:avLst>
          </a:prstGeom>
          <a:ln w="19050">
            <a:solidFill>
              <a:srgbClr val="1A7A8C"/>
            </a:solidFill>
            <a:prstDash val="solid"/>
          </a:ln>
        </p:spPr>
      </p:sp>
      <p:sp>
        <p:nvSpPr>
          <p:cNvPr id="6" name="Shape 4"/>
          <p:cNvSpPr/>
          <p:nvPr/>
        </p:nvSpPr>
        <p:spPr>
          <a:xfrm rot="7200001">
            <a:off x="933451" y="4695825"/>
            <a:ext cx="3657599" cy="2133599"/>
          </a:xfrm>
          <a:prstGeom prst="roundRect">
            <a:avLst>
              <a:gd name="adj" fmla="val 50000"/>
            </a:avLst>
          </a:prstGeom>
          <a:ln w="19050">
            <a:solidFill>
              <a:srgbClr val="1A7A8C"/>
            </a:solidFill>
            <a:prstDash val="solid"/>
          </a:ln>
        </p:spPr>
      </p:sp>
      <p:sp>
        <p:nvSpPr>
          <p:cNvPr id="7" name="Shape 5"/>
          <p:cNvSpPr/>
          <p:nvPr/>
        </p:nvSpPr>
        <p:spPr>
          <a:xfrm>
            <a:off x="5524500" y="4162425"/>
            <a:ext cx="11811000" cy="914400"/>
          </a:xfrm>
          <a:prstGeom prst="roundRect">
            <a:avLst>
              <a:gd name="adj" fmla="val 10417"/>
            </a:avLst>
          </a:prstGeom>
          <a:solidFill>
            <a:srgbClr val="3D8FA0"/>
          </a:solidFill>
          <a:ln/>
        </p:spPr>
      </p:sp>
      <p:sp>
        <p:nvSpPr>
          <p:cNvPr id="8" name="Shape 6"/>
          <p:cNvSpPr/>
          <p:nvPr/>
        </p:nvSpPr>
        <p:spPr>
          <a:xfrm>
            <a:off x="5524500" y="5305425"/>
            <a:ext cx="11811000" cy="914400"/>
          </a:xfrm>
          <a:prstGeom prst="roundRect">
            <a:avLst>
              <a:gd name="adj" fmla="val 10417"/>
            </a:avLst>
          </a:prstGeom>
          <a:solidFill>
            <a:srgbClr val="3D8FA0"/>
          </a:solidFill>
          <a:ln/>
        </p:spPr>
      </p:sp>
      <p:sp>
        <p:nvSpPr>
          <p:cNvPr id="9" name="Shape 7"/>
          <p:cNvSpPr/>
          <p:nvPr/>
        </p:nvSpPr>
        <p:spPr>
          <a:xfrm>
            <a:off x="5524500" y="6448425"/>
            <a:ext cx="11811000" cy="914400"/>
          </a:xfrm>
          <a:prstGeom prst="roundRect">
            <a:avLst>
              <a:gd name="adj" fmla="val 10417"/>
            </a:avLst>
          </a:prstGeom>
          <a:solidFill>
            <a:srgbClr val="3D8FA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F8FA1">
                  <a:alpha val="100000"/>
                </a:srgbClr>
              </a:gs>
              <a:gs pos="45000">
                <a:srgbClr val="175866">
                  <a:alpha val="100000"/>
                </a:srgbClr>
              </a:gs>
              <a:gs pos="100000">
                <a:srgbClr val="0A2A33">
                  <a:alpha val="100000"/>
                </a:srgbClr>
              </a:gs>
            </a:gsLst>
            <a:lin ang="4200000" scaled="0"/>
          </a:gradFill>
          <a:ln/>
        </p:spPr>
      </p:sp>
      <p:sp>
        <p:nvSpPr>
          <p:cNvPr id="3" name="Text 1"/>
          <p:cNvSpPr/>
          <p:nvPr/>
        </p:nvSpPr>
        <p:spPr>
          <a:xfrm>
            <a:off x="952500" y="762000"/>
            <a:ext cx="18021300" cy="609600"/>
          </a:xfrm>
          <a:prstGeom prst="rect">
            <a:avLst/>
          </a:prstGeom>
          <a:noFill/>
          <a:ln/>
        </p:spPr>
        <p:txBody>
          <a:bodyPr wrap="square" lIns="25400" tIns="25400" rIns="25400" bIns="25400" rtlCol="0" anchor="t">
            <a:normAutofit/>
          </a:bodyPr>
          <a:lstStyle/>
          <a:p>
            <a:pPr algn="l" indent="0" marL="0">
              <a:buNone/>
            </a:pPr>
            <a:r>
              <a:rPr lang="en-US" sz="3900" b="1" dirty="0">
                <a:solidFill>
                  <a:srgbClr val="FFFFFF"/>
                </a:solidFill>
                <a:latin typeface="Helvetica" pitchFamily="34" charset="0"/>
                <a:ea typeface="Helvetica" pitchFamily="34" charset="-122"/>
                <a:cs typeface="Helvetica" pitchFamily="34" charset="-120"/>
              </a:rPr>
              <a:t>La sécurité de vos données, sans compromis.</a:t>
            </a:r>
            <a:endParaRPr lang="en-US" sz="3900" dirty="0"/>
          </a:p>
        </p:txBody>
      </p:sp>
      <p:sp>
        <p:nvSpPr>
          <p:cNvPr id="4" name="Text 2"/>
          <p:cNvSpPr/>
          <p:nvPr/>
        </p:nvSpPr>
        <p:spPr>
          <a:xfrm>
            <a:off x="952500" y="1581150"/>
            <a:ext cx="16678275" cy="769590"/>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FFFFFF">
                    <a:alpha val="92000"/>
                  </a:srgbClr>
                </a:solidFill>
                <a:latin typeface="Helvetica" pitchFamily="34" charset="0"/>
                <a:ea typeface="Helvetica" pitchFamily="34" charset="-122"/>
                <a:cs typeface="Helvetica" pitchFamily="34" charset="-120"/>
              </a:rPr>
              <a:t>Chez G2M, la protection de vos données est notre priorité absolue. Nous comprenons l'importance de garantir la confidentialité, l'intégrité et la disponibilité de vos informations. Cette page a pour objectif de vous informer sur notre approche en matière d'hébergement et de sécurité des données.</a:t>
            </a:r>
            <a:endParaRPr lang="en-US" sz="1800" dirty="0"/>
          </a:p>
        </p:txBody>
      </p:sp>
      <p:sp>
        <p:nvSpPr>
          <p:cNvPr id="5" name="Text 3"/>
          <p:cNvSpPr/>
          <p:nvPr/>
        </p:nvSpPr>
        <p:spPr>
          <a:xfrm>
            <a:off x="952500" y="2503140"/>
            <a:ext cx="16678275" cy="1135335"/>
          </a:xfrm>
          <a:prstGeom prst="rect">
            <a:avLst/>
          </a:prstGeom>
          <a:noFill/>
          <a:ln/>
        </p:spPr>
        <p:txBody>
          <a:bodyPr wrap="square" lIns="25400" tIns="25400" rIns="25400" bIns="25400" rtlCol="0" anchor="t">
            <a:normAutofit/>
          </a:bodyPr>
          <a:lstStyle/>
          <a:p>
            <a:pPr algn="l" indent="0" marL="0">
              <a:lnSpc>
                <a:spcPct val="139636"/>
              </a:lnSpc>
              <a:buNone/>
            </a:pPr>
            <a:r>
              <a:rPr lang="en-US" sz="1800" dirty="0">
                <a:solidFill>
                  <a:srgbClr val="FFFFFF">
                    <a:alpha val="92000"/>
                  </a:srgbClr>
                </a:solidFill>
                <a:latin typeface="Helvetica" pitchFamily="34" charset="0"/>
                <a:ea typeface="Helvetica" pitchFamily="34" charset="-122"/>
                <a:cs typeface="Helvetica" pitchFamily="34" charset="-120"/>
              </a:rPr>
              <a:t>Nous comprenons que la confiance est essentielle dans toute relation commerciale, et nous nous engageons à maintenir un niveau élevé de sécurité pour protéger vos données. Si vous avez des questions ou des préoccupations, n'hésitez pas à nous contacter. Merci de faire confiance à G2M pour la gestion sécurisée de vos informations.</a:t>
            </a:r>
            <a:endParaRPr lang="en-US" sz="1800" dirty="0"/>
          </a:p>
        </p:txBody>
      </p:sp>
      <p:sp>
        <p:nvSpPr>
          <p:cNvPr id="6" name="Shape 4"/>
          <p:cNvSpPr/>
          <p:nvPr/>
        </p:nvSpPr>
        <p:spPr>
          <a:xfrm>
            <a:off x="952500" y="3943276"/>
            <a:ext cx="5257800" cy="3531691"/>
          </a:xfrm>
          <a:prstGeom prst="roundRect">
            <a:avLst>
              <a:gd name="adj" fmla="val 3776"/>
            </a:avLst>
          </a:prstGeom>
          <a:solidFill>
            <a:srgbClr val="CFE6EC"/>
          </a:solidFill>
          <a:ln/>
        </p:spPr>
      </p:sp>
      <p:sp>
        <p:nvSpPr>
          <p:cNvPr id="7" name="Shape 5"/>
          <p:cNvSpPr/>
          <p:nvPr/>
        </p:nvSpPr>
        <p:spPr>
          <a:xfrm>
            <a:off x="1257300" y="4248076"/>
            <a:ext cx="609600" cy="609600"/>
          </a:xfrm>
          <a:prstGeom prst="ellipse">
            <a:avLst/>
          </a:prstGeom>
          <a:solidFill>
            <a:srgbClr val="FFFFFF"/>
          </a:solidFill>
          <a:ln/>
        </p:spPr>
      </p:sp>
      <p:sp>
        <p:nvSpPr>
          <p:cNvPr id="8" name="Text 6"/>
          <p:cNvSpPr/>
          <p:nvPr/>
        </p:nvSpPr>
        <p:spPr>
          <a:xfrm>
            <a:off x="1257300" y="5048176"/>
            <a:ext cx="5113020" cy="323850"/>
          </a:xfrm>
          <a:prstGeom prst="rect">
            <a:avLst/>
          </a:prstGeom>
          <a:noFill/>
          <a:ln/>
        </p:spPr>
        <p:txBody>
          <a:bodyPr wrap="square" lIns="25400" tIns="25400" rIns="25400" bIns="25400" rtlCol="0" anchor="t">
            <a:normAutofit/>
          </a:bodyPr>
          <a:lstStyle/>
          <a:p>
            <a:pPr algn="l" indent="0" marL="0">
              <a:buNone/>
            </a:pPr>
            <a:r>
              <a:rPr lang="en-US" sz="1950" b="1" spc="75" kern="0" dirty="0">
                <a:solidFill>
                  <a:srgbClr val="0D2B33"/>
                </a:solidFill>
                <a:latin typeface="Helvetica" pitchFamily="34" charset="0"/>
                <a:ea typeface="Helvetica" pitchFamily="34" charset="-122"/>
                <a:cs typeface="Helvetica" pitchFamily="34" charset="-120"/>
              </a:rPr>
              <a:t>HÉBERGEMENT FIABLE</a:t>
            </a:r>
            <a:endParaRPr lang="en-US" sz="1950" dirty="0"/>
          </a:p>
        </p:txBody>
      </p:sp>
      <p:sp>
        <p:nvSpPr>
          <p:cNvPr id="9" name="Text 7"/>
          <p:cNvSpPr/>
          <p:nvPr/>
        </p:nvSpPr>
        <p:spPr>
          <a:xfrm>
            <a:off x="1306830" y="5524426"/>
            <a:ext cx="4674870" cy="1272406"/>
          </a:xfrm>
          <a:prstGeom prst="rect">
            <a:avLst/>
          </a:prstGeom>
          <a:noFill/>
          <a:ln/>
        </p:spPr>
        <p:txBody>
          <a:bodyPr wrap="square" lIns="25400" tIns="25400" rIns="25400" bIns="25400" rtlCol="0" anchor="t">
            <a:normAutofit/>
          </a:bodyPr>
          <a:lstStyle/>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Redondances &amp; sauvegardes</a:t>
            </a:r>
            <a:endParaRPr lang="en-US" sz="1800" dirty="0"/>
          </a:p>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Disponibilité élevée</a:t>
            </a:r>
            <a:endParaRPr lang="en-US" sz="1800" dirty="0"/>
          </a:p>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Sécurité physique</a:t>
            </a:r>
            <a:endParaRPr lang="en-US" sz="1800" dirty="0"/>
          </a:p>
        </p:txBody>
      </p:sp>
      <p:sp>
        <p:nvSpPr>
          <p:cNvPr id="10" name="Shape 8"/>
          <p:cNvSpPr/>
          <p:nvPr/>
        </p:nvSpPr>
        <p:spPr>
          <a:xfrm>
            <a:off x="6515100" y="3943276"/>
            <a:ext cx="5257800" cy="3531691"/>
          </a:xfrm>
          <a:prstGeom prst="roundRect">
            <a:avLst>
              <a:gd name="adj" fmla="val 3776"/>
            </a:avLst>
          </a:prstGeom>
          <a:solidFill>
            <a:srgbClr val="CFE6EC"/>
          </a:solidFill>
          <a:ln/>
        </p:spPr>
      </p:sp>
      <p:sp>
        <p:nvSpPr>
          <p:cNvPr id="11" name="Shape 9"/>
          <p:cNvSpPr/>
          <p:nvPr/>
        </p:nvSpPr>
        <p:spPr>
          <a:xfrm>
            <a:off x="6819900" y="4248076"/>
            <a:ext cx="609600" cy="609600"/>
          </a:xfrm>
          <a:prstGeom prst="ellipse">
            <a:avLst/>
          </a:prstGeom>
          <a:solidFill>
            <a:srgbClr val="FFFFFF"/>
          </a:solidFill>
          <a:ln/>
        </p:spPr>
      </p:sp>
      <p:sp>
        <p:nvSpPr>
          <p:cNvPr id="12" name="Text 10"/>
          <p:cNvSpPr/>
          <p:nvPr/>
        </p:nvSpPr>
        <p:spPr>
          <a:xfrm>
            <a:off x="6819900" y="5048176"/>
            <a:ext cx="5113020" cy="323850"/>
          </a:xfrm>
          <a:prstGeom prst="rect">
            <a:avLst/>
          </a:prstGeom>
          <a:noFill/>
          <a:ln/>
        </p:spPr>
        <p:txBody>
          <a:bodyPr wrap="square" lIns="25400" tIns="25400" rIns="25400" bIns="25400" rtlCol="0" anchor="t">
            <a:normAutofit/>
          </a:bodyPr>
          <a:lstStyle/>
          <a:p>
            <a:pPr algn="l" indent="0" marL="0">
              <a:buNone/>
            </a:pPr>
            <a:r>
              <a:rPr lang="en-US" sz="1950" b="1" spc="75" kern="0" dirty="0">
                <a:solidFill>
                  <a:srgbClr val="0D2B33"/>
                </a:solidFill>
                <a:latin typeface="Helvetica" pitchFamily="34" charset="0"/>
                <a:ea typeface="Helvetica" pitchFamily="34" charset="-122"/>
                <a:cs typeface="Helvetica" pitchFamily="34" charset="-120"/>
              </a:rPr>
              <a:t>SÉCURITÉ DES DONNÉES</a:t>
            </a:r>
            <a:endParaRPr lang="en-US" sz="1950" dirty="0"/>
          </a:p>
        </p:txBody>
      </p:sp>
      <p:sp>
        <p:nvSpPr>
          <p:cNvPr id="13" name="Text 11"/>
          <p:cNvSpPr/>
          <p:nvPr/>
        </p:nvSpPr>
        <p:spPr>
          <a:xfrm>
            <a:off x="6869430" y="5524426"/>
            <a:ext cx="4674870" cy="1683841"/>
          </a:xfrm>
          <a:prstGeom prst="rect">
            <a:avLst/>
          </a:prstGeom>
          <a:noFill/>
          <a:ln/>
        </p:spPr>
        <p:txBody>
          <a:bodyPr wrap="square" lIns="25400" tIns="25400" rIns="25400" bIns="25400" rtlCol="0" anchor="t">
            <a:normAutofit/>
          </a:bodyPr>
          <a:lstStyle/>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Cryptage</a:t>
            </a:r>
            <a:endParaRPr lang="en-US" sz="1800" dirty="0"/>
          </a:p>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Authentification forte</a:t>
            </a:r>
            <a:endParaRPr lang="en-US" sz="1800" dirty="0"/>
          </a:p>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Surveillance continue</a:t>
            </a:r>
            <a:endParaRPr lang="en-US" sz="1800" dirty="0"/>
          </a:p>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Mises à jour régulières</a:t>
            </a:r>
            <a:endParaRPr lang="en-US" sz="1800" dirty="0"/>
          </a:p>
        </p:txBody>
      </p:sp>
      <p:sp>
        <p:nvSpPr>
          <p:cNvPr id="14" name="Shape 12"/>
          <p:cNvSpPr/>
          <p:nvPr/>
        </p:nvSpPr>
        <p:spPr>
          <a:xfrm>
            <a:off x="12077700" y="3943276"/>
            <a:ext cx="5257800" cy="3531691"/>
          </a:xfrm>
          <a:prstGeom prst="roundRect">
            <a:avLst>
              <a:gd name="adj" fmla="val 3776"/>
            </a:avLst>
          </a:prstGeom>
          <a:solidFill>
            <a:srgbClr val="CFE6EC"/>
          </a:solidFill>
          <a:ln/>
        </p:spPr>
      </p:sp>
      <p:sp>
        <p:nvSpPr>
          <p:cNvPr id="15" name="Shape 13"/>
          <p:cNvSpPr/>
          <p:nvPr/>
        </p:nvSpPr>
        <p:spPr>
          <a:xfrm>
            <a:off x="12382500" y="4248076"/>
            <a:ext cx="609600" cy="609600"/>
          </a:xfrm>
          <a:prstGeom prst="ellipse">
            <a:avLst/>
          </a:prstGeom>
          <a:solidFill>
            <a:srgbClr val="FFFFFF"/>
          </a:solidFill>
          <a:ln/>
        </p:spPr>
      </p:sp>
      <p:sp>
        <p:nvSpPr>
          <p:cNvPr id="16" name="Text 14"/>
          <p:cNvSpPr/>
          <p:nvPr/>
        </p:nvSpPr>
        <p:spPr>
          <a:xfrm>
            <a:off x="12382500" y="5048176"/>
            <a:ext cx="5113020" cy="323850"/>
          </a:xfrm>
          <a:prstGeom prst="rect">
            <a:avLst/>
          </a:prstGeom>
          <a:noFill/>
          <a:ln/>
        </p:spPr>
        <p:txBody>
          <a:bodyPr wrap="square" lIns="25400" tIns="25400" rIns="25400" bIns="25400" rtlCol="0" anchor="t">
            <a:normAutofit/>
          </a:bodyPr>
          <a:lstStyle/>
          <a:p>
            <a:pPr algn="l" indent="0" marL="0">
              <a:buNone/>
            </a:pPr>
            <a:r>
              <a:rPr lang="en-US" sz="1950" b="1" spc="75" kern="0" dirty="0">
                <a:solidFill>
                  <a:srgbClr val="0D2B33"/>
                </a:solidFill>
                <a:latin typeface="Helvetica" pitchFamily="34" charset="0"/>
                <a:ea typeface="Helvetica" pitchFamily="34" charset="-122"/>
                <a:cs typeface="Helvetica" pitchFamily="34" charset="-120"/>
              </a:rPr>
              <a:t>RESPECT DE LA CONFIDENTIALITÉ</a:t>
            </a:r>
            <a:endParaRPr lang="en-US" sz="1950" dirty="0"/>
          </a:p>
        </p:txBody>
      </p:sp>
      <p:sp>
        <p:nvSpPr>
          <p:cNvPr id="17" name="Text 15"/>
          <p:cNvSpPr/>
          <p:nvPr/>
        </p:nvSpPr>
        <p:spPr>
          <a:xfrm>
            <a:off x="12432030" y="5524426"/>
            <a:ext cx="4674870" cy="860971"/>
          </a:xfrm>
          <a:prstGeom prst="rect">
            <a:avLst/>
          </a:prstGeom>
          <a:noFill/>
          <a:ln/>
        </p:spPr>
        <p:txBody>
          <a:bodyPr wrap="square" lIns="25400" tIns="25400" rIns="25400" bIns="25400" rtlCol="0" anchor="t">
            <a:normAutofit/>
          </a:bodyPr>
          <a:lstStyle/>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Politique de confidentialité</a:t>
            </a:r>
            <a:endParaRPr lang="en-US" sz="1800" dirty="0"/>
          </a:p>
          <a:p>
            <a:pPr algn="l" marL="160020" indent="-160020">
              <a:lnSpc>
                <a:spcPct val="157091"/>
              </a:lnSpc>
              <a:buSzPct val="100000"/>
              <a:buChar char="•"/>
              <a:tabLst>
                <a:tab pos="160020" algn="l"/>
              </a:tabLst>
            </a:pPr>
            <a:r>
              <a:rPr lang="en-US" sz="1800" dirty="0">
                <a:solidFill>
                  <a:srgbClr val="0D2B33"/>
                </a:solidFill>
                <a:latin typeface="Helvetica" pitchFamily="34" charset="0"/>
                <a:ea typeface="Helvetica" pitchFamily="34" charset="-122"/>
                <a:cs typeface="Helvetica" pitchFamily="34" charset="-120"/>
              </a:rPr>
              <a:t>Formation du personnel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2026-07-16T08:34:58Z</dcterms:created>
  <dcterms:modified xsi:type="dcterms:W3CDTF">2026-07-16T08:34:58Z</dcterms:modified>
</cp:coreProperties>
</file>