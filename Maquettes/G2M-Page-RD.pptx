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001250"/>
  <p:notesSz cx="1000125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ccdsp.fr/booster2"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6390084"/>
            <a:ext cx="18145125" cy="9525"/>
          </a:xfrm>
          <a:prstGeom prst="rect">
            <a:avLst/>
          </a:prstGeom>
          <a:solidFill>
            <a:srgbClr val="005F7E">
              <a:alpha val="35000"/>
            </a:srgbClr>
          </a:solidFill>
          <a:ln/>
        </p:spPr>
      </p:sp>
      <p:sp>
        <p:nvSpPr>
          <p:cNvPr id="3" name="Shape 1"/>
          <p:cNvSpPr/>
          <p:nvPr/>
        </p:nvSpPr>
        <p:spPr>
          <a:xfrm>
            <a:off x="7839075" y="1047750"/>
            <a:ext cx="2466901"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4" name="Text 2"/>
          <p:cNvSpPr/>
          <p:nvPr/>
        </p:nvSpPr>
        <p:spPr>
          <a:xfrm>
            <a:off x="7981950" y="1133475"/>
            <a:ext cx="2181151" cy="190500"/>
          </a:xfrm>
          <a:prstGeom prst="rect">
            <a:avLst/>
          </a:prstGeom>
          <a:noFill/>
          <a:ln/>
        </p:spPr>
        <p:txBody>
          <a:bodyPr wrap="square" lIns="25400" tIns="25400" rIns="25400" bIns="25400" rtlCol="0" anchor="t">
            <a:normAutofit/>
          </a:bodyPr>
          <a:lstStyle/>
          <a:p>
            <a:pPr algn="ctr" indent="0" marL="0">
              <a:buNone/>
            </a:pPr>
            <a:r>
              <a:rPr lang="en-US" sz="938" b="1" spc="113" kern="0" dirty="0">
                <a:solidFill>
                  <a:srgbClr val="45E6F6"/>
                </a:solidFill>
                <a:latin typeface="Arial" pitchFamily="34" charset="0"/>
                <a:ea typeface="Arial" pitchFamily="34" charset="-122"/>
                <a:cs typeface="Arial" pitchFamily="34" charset="-120"/>
              </a:rPr>
              <a:t>RECHERCHE &amp; DÉVELOPPEMENT</a:t>
            </a:r>
            <a:endParaRPr lang="en-US" sz="938" dirty="0"/>
          </a:p>
        </p:txBody>
      </p:sp>
      <p:sp>
        <p:nvSpPr>
          <p:cNvPr id="5" name="Shape 3"/>
          <p:cNvSpPr/>
          <p:nvPr/>
        </p:nvSpPr>
        <p:spPr>
          <a:xfrm>
            <a:off x="5167313" y="1638300"/>
            <a:ext cx="7810500" cy="565770"/>
          </a:xfrm>
          <a:prstGeom prst="rect">
            <a:avLst/>
          </a:prstGeom>
          <a:solidFill>
            <a:srgbClr val="FFFFFF"/>
          </a:solidFill>
          <a:ln/>
        </p:spPr>
      </p:sp>
      <p:sp>
        <p:nvSpPr>
          <p:cNvPr id="6" name="Text 4"/>
          <p:cNvSpPr/>
          <p:nvPr/>
        </p:nvSpPr>
        <p:spPr>
          <a:xfrm>
            <a:off x="4776788" y="1638300"/>
            <a:ext cx="8591550" cy="603870"/>
          </a:xfrm>
          <a:prstGeom prst="rect">
            <a:avLst/>
          </a:prstGeom>
          <a:noFill/>
          <a:ln/>
        </p:spPr>
        <p:txBody>
          <a:bodyPr wrap="square" lIns="25400" tIns="25400" rIns="25400" bIns="25400" rtlCol="0" anchor="t">
            <a:normAutofit/>
          </a:bodyPr>
          <a:lstStyle/>
          <a:p>
            <a:pPr algn="ctr" indent="0" marL="0">
              <a:lnSpc>
                <a:spcPct val="110000"/>
              </a:lnSpc>
              <a:buNone/>
            </a:pPr>
            <a:r>
              <a:rPr lang="en-US" sz="4050" b="1" dirty="0">
                <a:solidFill>
                  <a:srgbClr val="000000"/>
                </a:solidFill>
                <a:latin typeface="Arial" pitchFamily="34" charset="0"/>
                <a:ea typeface="Arial" pitchFamily="34" charset="-122"/>
                <a:cs typeface="Arial" pitchFamily="34" charset="-120"/>
              </a:rPr>
              <a:t>Laboratoire G2M</a:t>
            </a:r>
            <a:endParaRPr lang="en-US" sz="4050" dirty="0"/>
          </a:p>
        </p:txBody>
      </p:sp>
      <p:sp>
        <p:nvSpPr>
          <p:cNvPr id="7" name="Text 5"/>
          <p:cNvSpPr/>
          <p:nvPr/>
        </p:nvSpPr>
        <p:spPr>
          <a:xfrm>
            <a:off x="5050155" y="2432670"/>
            <a:ext cx="8044815" cy="906735"/>
          </a:xfrm>
          <a:prstGeom prst="rect">
            <a:avLst/>
          </a:prstGeom>
          <a:noFill/>
          <a:ln/>
        </p:spPr>
        <p:txBody>
          <a:bodyPr wrap="square" lIns="25400" tIns="25400" rIns="25400" bIns="25400" rtlCol="0" anchor="t">
            <a:normAutofit/>
          </a:bodyPr>
          <a:lstStyle/>
          <a:p>
            <a:pPr algn="ctr" indent="0" marL="0">
              <a:lnSpc>
                <a:spcPct val="160000"/>
              </a:lnSpc>
              <a:buNone/>
            </a:pPr>
            <a:r>
              <a:rPr lang="en-US" sz="1425" dirty="0">
                <a:solidFill>
                  <a:srgbClr val="D0D8E1"/>
                </a:solidFill>
                <a:latin typeface="Arial" pitchFamily="34" charset="0"/>
                <a:ea typeface="Arial" pitchFamily="34" charset="-122"/>
                <a:cs typeface="Arial" pitchFamily="34" charset="-120"/>
              </a:rPr>
              <a:t>G2M développe des activités dédiées à la recherche et au développement à travers le Laboratoire G2M, agréé CII (Crédit d'Impôt Innovation) par le ministère de la Recherche et de l'Innovation.</a:t>
            </a:r>
            <a:endParaRPr lang="en-US" sz="1425" dirty="0"/>
          </a:p>
        </p:txBody>
      </p:sp>
      <p:sp>
        <p:nvSpPr>
          <p:cNvPr id="8" name="Text 6"/>
          <p:cNvSpPr/>
          <p:nvPr/>
        </p:nvSpPr>
        <p:spPr>
          <a:xfrm>
            <a:off x="5736908" y="3510855"/>
            <a:ext cx="6671310" cy="1169491"/>
          </a:xfrm>
          <a:prstGeom prst="rect">
            <a:avLst/>
          </a:prstGeom>
          <a:noFill/>
          <a:ln/>
        </p:spPr>
        <p:txBody>
          <a:bodyPr wrap="square" lIns="25400" tIns="25400" rIns="25400" bIns="25400" rtlCol="0" anchor="t">
            <a:normAutofit/>
          </a:bodyPr>
          <a:lstStyle/>
          <a:p>
            <a:pPr algn="ctr" indent="0" marL="0">
              <a:lnSpc>
                <a:spcPct val="180000"/>
              </a:lnSpc>
              <a:buNone/>
            </a:pPr>
            <a:r>
              <a:rPr lang="en-US" sz="1238" dirty="0">
                <a:solidFill>
                  <a:srgbClr val="9BA6B1"/>
                </a:solidFill>
                <a:latin typeface="Arial" pitchFamily="34" charset="0"/>
                <a:ea typeface="Arial" pitchFamily="34" charset="-122"/>
                <a:cs typeface="Arial" pitchFamily="34" charset="-120"/>
              </a:rPr>
              <a:t>Au-delà du conseil et de l'accompagnement de nos clients, G2M investit une part significative de son activité dans l'exploration de technologies d'intelligence artificielle en amont des usages. Cette démarche de recherche appliquée nourrit directement les solutions que nous déployons sur le terrain, industriel comme tertiaire.</a:t>
            </a:r>
            <a:endParaRPr lang="en-US" sz="1238" dirty="0"/>
          </a:p>
        </p:txBody>
      </p:sp>
      <p:sp>
        <p:nvSpPr>
          <p:cNvPr id="9" name="Shape 7"/>
          <p:cNvSpPr/>
          <p:nvPr/>
        </p:nvSpPr>
        <p:spPr>
          <a:xfrm>
            <a:off x="7698284" y="4985147"/>
            <a:ext cx="2748483"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10" name="Text 8"/>
          <p:cNvSpPr/>
          <p:nvPr/>
        </p:nvSpPr>
        <p:spPr>
          <a:xfrm>
            <a:off x="8003084" y="5137547"/>
            <a:ext cx="1976958"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Échanger avec l'équipe R&amp;D</a:t>
            </a:r>
            <a:endParaRPr lang="en-US" sz="1125" dirty="0"/>
          </a:p>
        </p:txBody>
      </p:sp>
      <p:sp>
        <p:nvSpPr>
          <p:cNvPr id="11" name="Text 9"/>
          <p:cNvSpPr/>
          <p:nvPr/>
        </p:nvSpPr>
        <p:spPr>
          <a:xfrm>
            <a:off x="9960992" y="5137547"/>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29580" y="1028700"/>
            <a:ext cx="117348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Une démarche de recherche structurée en trois étapes</a:t>
            </a:r>
            <a:endParaRPr lang="en-US" sz="2400" dirty="0"/>
          </a:p>
        </p:txBody>
      </p:sp>
      <p:sp>
        <p:nvSpPr>
          <p:cNvPr id="3" name="Text 1"/>
          <p:cNvSpPr/>
          <p:nvPr/>
        </p:nvSpPr>
        <p:spPr>
          <a:xfrm>
            <a:off x="3068895" y="1571625"/>
            <a:ext cx="7456170" cy="571500"/>
          </a:xfrm>
          <a:prstGeom prst="rect">
            <a:avLst/>
          </a:prstGeom>
          <a:noFill/>
          <a:ln/>
        </p:spPr>
        <p:txBody>
          <a:bodyPr wrap="square" lIns="25400" tIns="25400" rIns="25400" bIns="25400" rtlCol="0" anchor="t">
            <a:normAutofit/>
          </a:bodyPr>
          <a:lstStyle/>
          <a:p>
            <a:pPr algn="ctr" indent="0" marL="0">
              <a:lnSpc>
                <a:spcPct val="175000"/>
              </a:lnSpc>
              <a:buNone/>
            </a:pPr>
            <a:r>
              <a:rPr lang="en-US" sz="1200" dirty="0">
                <a:solidFill>
                  <a:srgbClr val="A5AFBA"/>
                </a:solidFill>
                <a:latin typeface="Arial" pitchFamily="34" charset="0"/>
                <a:ea typeface="Arial" pitchFamily="34" charset="-122"/>
                <a:cs typeface="Arial" pitchFamily="34" charset="-120"/>
              </a:rPr>
              <a:t>Le Laboratoire G2M organise ses travaux autour d'un processus rigoureux, de l'identification d'une problématique jusqu'à sa validation expérimentale.</a:t>
            </a:r>
            <a:endParaRPr lang="en-US" sz="1200" dirty="0"/>
          </a:p>
        </p:txBody>
      </p:sp>
      <p:sp>
        <p:nvSpPr>
          <p:cNvPr id="4" name="Shape 2"/>
          <p:cNvSpPr/>
          <p:nvPr/>
        </p:nvSpPr>
        <p:spPr>
          <a:xfrm>
            <a:off x="1461075" y="2638153"/>
            <a:ext cx="10671811" cy="1524544"/>
          </a:xfrm>
          <a:prstGeom prst="roundRect">
            <a:avLst>
              <a:gd name="adj" fmla="val 11246"/>
            </a:avLst>
          </a:prstGeom>
          <a:ln w="9525">
            <a:solidFill>
              <a:srgbClr val="006271">
                <a:alpha val="45000"/>
              </a:srgbClr>
            </a:solidFill>
            <a:prstDash val="solid"/>
          </a:ln>
        </p:spPr>
      </p:sp>
      <p:sp>
        <p:nvSpPr>
          <p:cNvPr id="5" name="Text 3"/>
          <p:cNvSpPr/>
          <p:nvPr/>
        </p:nvSpPr>
        <p:spPr>
          <a:xfrm>
            <a:off x="1775512" y="3209857"/>
            <a:ext cx="288207" cy="419237"/>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490A0">
                    <a:alpha val="55000"/>
                  </a:srgbClr>
                </a:solidFill>
                <a:latin typeface="Arial" pitchFamily="34" charset="0"/>
                <a:ea typeface="Arial" pitchFamily="34" charset="-122"/>
                <a:cs typeface="Arial" pitchFamily="34" charset="-120"/>
              </a:rPr>
              <a:t>1</a:t>
            </a:r>
            <a:endParaRPr lang="en-US" sz="3000" dirty="0"/>
          </a:p>
        </p:txBody>
      </p:sp>
      <p:sp>
        <p:nvSpPr>
          <p:cNvPr id="6" name="Text 4"/>
          <p:cNvSpPr/>
          <p:nvPr/>
        </p:nvSpPr>
        <p:spPr>
          <a:xfrm>
            <a:off x="2254314" y="3291072"/>
            <a:ext cx="8815626" cy="256733"/>
          </a:xfrm>
          <a:prstGeom prst="rect">
            <a:avLst/>
          </a:prstGeom>
          <a:noFill/>
          <a:ln/>
        </p:spPr>
        <p:txBody>
          <a:bodyPr wrap="square" lIns="25400" tIns="25400" rIns="25400" bIns="25400" rtlCol="0" anchor="t">
            <a:normAutofit/>
          </a:bodyPr>
          <a:lstStyle/>
          <a:p>
            <a:pPr algn="l" indent="0" marL="0">
              <a:lnSpc>
                <a:spcPct val="135000"/>
              </a:lnSpc>
              <a:buNone/>
            </a:pPr>
            <a:r>
              <a:rPr lang="en-US" sz="1275" b="1" dirty="0">
                <a:solidFill>
                  <a:srgbClr val="FFFFFF"/>
                </a:solidFill>
                <a:latin typeface="Arial" pitchFamily="34" charset="0"/>
                <a:ea typeface="Arial" pitchFamily="34" charset="-122"/>
                <a:cs typeface="Arial" pitchFamily="34" charset="-120"/>
              </a:rPr>
              <a:t>Identification et formalisation des problématiques</a:t>
            </a:r>
            <a:endParaRPr lang="en-US" sz="1275" dirty="0"/>
          </a:p>
        </p:txBody>
      </p:sp>
      <p:sp>
        <p:nvSpPr>
          <p:cNvPr id="7" name="Text 5"/>
          <p:cNvSpPr/>
          <p:nvPr/>
        </p:nvSpPr>
        <p:spPr>
          <a:xfrm>
            <a:off x="10535315" y="3328962"/>
            <a:ext cx="1124696" cy="181026"/>
          </a:xfrm>
          <a:prstGeom prst="rect">
            <a:avLst/>
          </a:prstGeom>
          <a:noFill/>
          <a:ln/>
        </p:spPr>
        <p:txBody>
          <a:bodyPr wrap="square" lIns="25400" tIns="25400" rIns="25400" bIns="25400" rtlCol="0" anchor="t">
            <a:normAutofit/>
          </a:bodyPr>
          <a:lstStyle/>
          <a:p>
            <a:pPr algn="l" indent="0" marL="0">
              <a:buNone/>
            </a:pPr>
            <a:r>
              <a:rPr lang="en-US" sz="938" spc="47" kern="0" dirty="0">
                <a:solidFill>
                  <a:srgbClr val="00B5C5"/>
                </a:solidFill>
                <a:latin typeface="Arial" pitchFamily="34" charset="0"/>
                <a:ea typeface="Arial" pitchFamily="34" charset="-122"/>
                <a:cs typeface="Arial" pitchFamily="34" charset="-120"/>
              </a:rPr>
              <a:t>EN SAVOIR PLUS</a:t>
            </a:r>
            <a:endParaRPr lang="en-US" sz="938" dirty="0"/>
          </a:p>
        </p:txBody>
      </p:sp>
      <p:sp>
        <p:nvSpPr>
          <p:cNvPr id="8" name="Text 6"/>
          <p:cNvSpPr/>
          <p:nvPr/>
        </p:nvSpPr>
        <p:spPr>
          <a:xfrm>
            <a:off x="11660039" y="3307523"/>
            <a:ext cx="234609" cy="223904"/>
          </a:xfrm>
          <a:prstGeom prst="rect">
            <a:avLst/>
          </a:prstGeom>
          <a:noFill/>
          <a:ln/>
        </p:spPr>
        <p:txBody>
          <a:bodyPr wrap="square" lIns="25400" tIns="25400" rIns="25400" bIns="25400" rtlCol="0" anchor="t">
            <a:normAutofit/>
          </a:bodyPr>
          <a:lstStyle/>
          <a:p>
            <a:pPr algn="l" indent="0" marL="0">
              <a:buNone/>
            </a:pPr>
            <a:r>
              <a:rPr lang="en-US" sz="1200" spc="47" kern="0" dirty="0">
                <a:solidFill>
                  <a:srgbClr val="00B5C5"/>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1461075" y="4352653"/>
            <a:ext cx="10671811" cy="1524544"/>
          </a:xfrm>
          <a:prstGeom prst="roundRect">
            <a:avLst>
              <a:gd name="adj" fmla="val 11246"/>
            </a:avLst>
          </a:prstGeom>
          <a:ln w="9525">
            <a:solidFill>
              <a:srgbClr val="006271">
                <a:alpha val="45000"/>
              </a:srgbClr>
            </a:solidFill>
            <a:prstDash val="solid"/>
          </a:ln>
        </p:spPr>
      </p:sp>
      <p:sp>
        <p:nvSpPr>
          <p:cNvPr id="10" name="Text 8"/>
          <p:cNvSpPr/>
          <p:nvPr/>
        </p:nvSpPr>
        <p:spPr>
          <a:xfrm>
            <a:off x="1775512" y="4924356"/>
            <a:ext cx="288207" cy="419237"/>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490A0">
                    <a:alpha val="55000"/>
                  </a:srgbClr>
                </a:solidFill>
                <a:latin typeface="Arial" pitchFamily="34" charset="0"/>
                <a:ea typeface="Arial" pitchFamily="34" charset="-122"/>
                <a:cs typeface="Arial" pitchFamily="34" charset="-120"/>
              </a:rPr>
              <a:t>2</a:t>
            </a:r>
            <a:endParaRPr lang="en-US" sz="3000" dirty="0"/>
          </a:p>
        </p:txBody>
      </p:sp>
      <p:sp>
        <p:nvSpPr>
          <p:cNvPr id="11" name="Text 9"/>
          <p:cNvSpPr/>
          <p:nvPr/>
        </p:nvSpPr>
        <p:spPr>
          <a:xfrm>
            <a:off x="2254314" y="5005571"/>
            <a:ext cx="8815626" cy="256733"/>
          </a:xfrm>
          <a:prstGeom prst="rect">
            <a:avLst/>
          </a:prstGeom>
          <a:noFill/>
          <a:ln/>
        </p:spPr>
        <p:txBody>
          <a:bodyPr wrap="square" lIns="25400" tIns="25400" rIns="25400" bIns="25400" rtlCol="0" anchor="t">
            <a:normAutofit/>
          </a:bodyPr>
          <a:lstStyle/>
          <a:p>
            <a:pPr algn="l" indent="0" marL="0">
              <a:lnSpc>
                <a:spcPct val="135000"/>
              </a:lnSpc>
              <a:buNone/>
            </a:pPr>
            <a:r>
              <a:rPr lang="en-US" sz="1275" b="1" dirty="0">
                <a:solidFill>
                  <a:srgbClr val="FFFFFF"/>
                </a:solidFill>
                <a:latin typeface="Arial" pitchFamily="34" charset="0"/>
                <a:ea typeface="Arial" pitchFamily="34" charset="-122"/>
                <a:cs typeface="Arial" pitchFamily="34" charset="-120"/>
              </a:rPr>
              <a:t>Analyse théorique de concepts scientifiques et techniques des pistes de recherche</a:t>
            </a:r>
            <a:endParaRPr lang="en-US" sz="1275" dirty="0"/>
          </a:p>
        </p:txBody>
      </p:sp>
      <p:sp>
        <p:nvSpPr>
          <p:cNvPr id="12" name="Text 10"/>
          <p:cNvSpPr/>
          <p:nvPr/>
        </p:nvSpPr>
        <p:spPr>
          <a:xfrm>
            <a:off x="10535315" y="5043462"/>
            <a:ext cx="1124696" cy="181026"/>
          </a:xfrm>
          <a:prstGeom prst="rect">
            <a:avLst/>
          </a:prstGeom>
          <a:noFill/>
          <a:ln/>
        </p:spPr>
        <p:txBody>
          <a:bodyPr wrap="square" lIns="25400" tIns="25400" rIns="25400" bIns="25400" rtlCol="0" anchor="t">
            <a:normAutofit/>
          </a:bodyPr>
          <a:lstStyle/>
          <a:p>
            <a:pPr algn="l" indent="0" marL="0">
              <a:buNone/>
            </a:pPr>
            <a:r>
              <a:rPr lang="en-US" sz="938" spc="47" kern="0" dirty="0">
                <a:solidFill>
                  <a:srgbClr val="00B5C5"/>
                </a:solidFill>
                <a:latin typeface="Arial" pitchFamily="34" charset="0"/>
                <a:ea typeface="Arial" pitchFamily="34" charset="-122"/>
                <a:cs typeface="Arial" pitchFamily="34" charset="-120"/>
              </a:rPr>
              <a:t>EN SAVOIR PLUS</a:t>
            </a:r>
            <a:endParaRPr lang="en-US" sz="938" dirty="0"/>
          </a:p>
        </p:txBody>
      </p:sp>
      <p:sp>
        <p:nvSpPr>
          <p:cNvPr id="13" name="Text 11"/>
          <p:cNvSpPr/>
          <p:nvPr/>
        </p:nvSpPr>
        <p:spPr>
          <a:xfrm>
            <a:off x="11660039" y="5022023"/>
            <a:ext cx="234609" cy="223905"/>
          </a:xfrm>
          <a:prstGeom prst="rect">
            <a:avLst/>
          </a:prstGeom>
          <a:noFill/>
          <a:ln/>
        </p:spPr>
        <p:txBody>
          <a:bodyPr wrap="square" lIns="25400" tIns="25400" rIns="25400" bIns="25400" rtlCol="0" anchor="t">
            <a:normAutofit/>
          </a:bodyPr>
          <a:lstStyle/>
          <a:p>
            <a:pPr algn="l" indent="0" marL="0">
              <a:buNone/>
            </a:pPr>
            <a:r>
              <a:rPr lang="en-US" sz="1200" spc="47" kern="0" dirty="0">
                <a:solidFill>
                  <a:srgbClr val="00B5C5"/>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1461075" y="6067153"/>
            <a:ext cx="10671811" cy="1524544"/>
          </a:xfrm>
          <a:prstGeom prst="roundRect">
            <a:avLst>
              <a:gd name="adj" fmla="val 11246"/>
            </a:avLst>
          </a:prstGeom>
          <a:ln w="9525">
            <a:solidFill>
              <a:srgbClr val="006271">
                <a:alpha val="45000"/>
              </a:srgbClr>
            </a:solidFill>
            <a:prstDash val="solid"/>
          </a:ln>
        </p:spPr>
      </p:sp>
      <p:sp>
        <p:nvSpPr>
          <p:cNvPr id="15" name="Text 13"/>
          <p:cNvSpPr/>
          <p:nvPr/>
        </p:nvSpPr>
        <p:spPr>
          <a:xfrm>
            <a:off x="1775512" y="6638856"/>
            <a:ext cx="288207" cy="419237"/>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490A0">
                    <a:alpha val="55000"/>
                  </a:srgbClr>
                </a:solidFill>
                <a:latin typeface="Arial" pitchFamily="34" charset="0"/>
                <a:ea typeface="Arial" pitchFamily="34" charset="-122"/>
                <a:cs typeface="Arial" pitchFamily="34" charset="-120"/>
              </a:rPr>
              <a:t>3</a:t>
            </a:r>
            <a:endParaRPr lang="en-US" sz="3000" dirty="0"/>
          </a:p>
        </p:txBody>
      </p:sp>
      <p:sp>
        <p:nvSpPr>
          <p:cNvPr id="16" name="Text 14"/>
          <p:cNvSpPr/>
          <p:nvPr/>
        </p:nvSpPr>
        <p:spPr>
          <a:xfrm>
            <a:off x="2254314" y="6720071"/>
            <a:ext cx="8815626" cy="256733"/>
          </a:xfrm>
          <a:prstGeom prst="rect">
            <a:avLst/>
          </a:prstGeom>
          <a:noFill/>
          <a:ln/>
        </p:spPr>
        <p:txBody>
          <a:bodyPr wrap="square" lIns="25400" tIns="25400" rIns="25400" bIns="25400" rtlCol="0" anchor="t">
            <a:normAutofit/>
          </a:bodyPr>
          <a:lstStyle/>
          <a:p>
            <a:pPr algn="l" indent="0" marL="0">
              <a:lnSpc>
                <a:spcPct val="135000"/>
              </a:lnSpc>
              <a:buNone/>
            </a:pPr>
            <a:r>
              <a:rPr lang="en-US" sz="1275" b="1" dirty="0">
                <a:solidFill>
                  <a:srgbClr val="FFFFFF"/>
                </a:solidFill>
                <a:latin typeface="Arial" pitchFamily="34" charset="0"/>
                <a:ea typeface="Arial" pitchFamily="34" charset="-122"/>
                <a:cs typeface="Arial" pitchFamily="34" charset="-120"/>
              </a:rPr>
              <a:t>Conception et réalisation de travaux expérimentaux et de démonstrateurs technologiques</a:t>
            </a:r>
            <a:endParaRPr lang="en-US" sz="1275" dirty="0"/>
          </a:p>
        </p:txBody>
      </p:sp>
      <p:sp>
        <p:nvSpPr>
          <p:cNvPr id="17" name="Text 15"/>
          <p:cNvSpPr/>
          <p:nvPr/>
        </p:nvSpPr>
        <p:spPr>
          <a:xfrm>
            <a:off x="10535315" y="6757962"/>
            <a:ext cx="1124696" cy="181026"/>
          </a:xfrm>
          <a:prstGeom prst="rect">
            <a:avLst/>
          </a:prstGeom>
          <a:noFill/>
          <a:ln/>
        </p:spPr>
        <p:txBody>
          <a:bodyPr wrap="square" lIns="25400" tIns="25400" rIns="25400" bIns="25400" rtlCol="0" anchor="t">
            <a:normAutofit/>
          </a:bodyPr>
          <a:lstStyle/>
          <a:p>
            <a:pPr algn="l" indent="0" marL="0">
              <a:buNone/>
            </a:pPr>
            <a:r>
              <a:rPr lang="en-US" sz="938" spc="47" kern="0" dirty="0">
                <a:solidFill>
                  <a:srgbClr val="00B5C5"/>
                </a:solidFill>
                <a:latin typeface="Arial" pitchFamily="34" charset="0"/>
                <a:ea typeface="Arial" pitchFamily="34" charset="-122"/>
                <a:cs typeface="Arial" pitchFamily="34" charset="-120"/>
              </a:rPr>
              <a:t>EN SAVOIR PLUS</a:t>
            </a:r>
            <a:endParaRPr lang="en-US" sz="938" dirty="0"/>
          </a:p>
        </p:txBody>
      </p:sp>
      <p:sp>
        <p:nvSpPr>
          <p:cNvPr id="18" name="Text 16"/>
          <p:cNvSpPr/>
          <p:nvPr/>
        </p:nvSpPr>
        <p:spPr>
          <a:xfrm>
            <a:off x="11660039" y="6736523"/>
            <a:ext cx="234609" cy="223905"/>
          </a:xfrm>
          <a:prstGeom prst="rect">
            <a:avLst/>
          </a:prstGeom>
          <a:noFill/>
          <a:ln/>
        </p:spPr>
        <p:txBody>
          <a:bodyPr wrap="square" lIns="25400" tIns="25400" rIns="25400" bIns="25400" rtlCol="0" anchor="t">
            <a:normAutofit/>
          </a:bodyPr>
          <a:lstStyle/>
          <a:p>
            <a:pPr algn="l" indent="0" marL="0">
              <a:buNone/>
            </a:pPr>
            <a:r>
              <a:rPr lang="en-US" sz="1200" spc="47" kern="0" dirty="0">
                <a:solidFill>
                  <a:srgbClr val="00B5C5"/>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2774573" y="7972425"/>
            <a:ext cx="8044815" cy="569565"/>
          </a:xfrm>
          <a:prstGeom prst="rect">
            <a:avLst/>
          </a:prstGeom>
          <a:noFill/>
          <a:ln/>
        </p:spPr>
        <p:txBody>
          <a:bodyPr wrap="square" lIns="25400" tIns="25400" rIns="25400" bIns="25400" rtlCol="0" anchor="t">
            <a:normAutofit/>
          </a:bodyPr>
          <a:lstStyle/>
          <a:p>
            <a:pPr algn="ctr" indent="0" marL="0">
              <a:lnSpc>
                <a:spcPct val="180000"/>
              </a:lnSpc>
              <a:buNone/>
            </a:pPr>
            <a:r>
              <a:rPr lang="en-US" sz="1163" dirty="0">
                <a:solidFill>
                  <a:srgbClr val="8F9AA5"/>
                </a:solidFill>
                <a:latin typeface="Arial" pitchFamily="34" charset="0"/>
                <a:ea typeface="Arial" pitchFamily="34" charset="-122"/>
                <a:cs typeface="Arial" pitchFamily="34" charset="-120"/>
              </a:rPr>
              <a:t>Ce laboratoire constitue un levier d'exploration continue qui renforce l'expertise de G2M et sa capacité à relever des défis scientifiques et technologiques dans des domaines variés.</a:t>
            </a:r>
            <a:endParaRPr lang="en-US" sz="116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10530" y="190500"/>
            <a:ext cx="121539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NOS AXES DE RECHERCHE</a:t>
            </a:r>
            <a:endParaRPr lang="en-US" sz="975" dirty="0"/>
          </a:p>
        </p:txBody>
      </p:sp>
      <p:sp>
        <p:nvSpPr>
          <p:cNvPr id="3" name="Text 1"/>
          <p:cNvSpPr/>
          <p:nvPr/>
        </p:nvSpPr>
        <p:spPr>
          <a:xfrm>
            <a:off x="910530" y="414338"/>
            <a:ext cx="121539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Trois axes technologiques au cœur de nos travaux</a:t>
            </a:r>
            <a:endParaRPr lang="en-US" sz="2400" dirty="0"/>
          </a:p>
        </p:txBody>
      </p:sp>
      <p:sp>
        <p:nvSpPr>
          <p:cNvPr id="4" name="Shape 2"/>
          <p:cNvSpPr/>
          <p:nvPr/>
        </p:nvSpPr>
        <p:spPr>
          <a:xfrm>
            <a:off x="1462980" y="1223963"/>
            <a:ext cx="3530575" cy="2908846"/>
          </a:xfrm>
          <a:prstGeom prst="roundRect">
            <a:avLst>
              <a:gd name="adj" fmla="val 5894"/>
            </a:avLst>
          </a:prstGeom>
          <a:ln w="9525">
            <a:solidFill>
              <a:srgbClr val="007382">
                <a:alpha val="40000"/>
              </a:srgbClr>
            </a:solidFill>
            <a:prstDash val="solid"/>
          </a:ln>
          <a:effectLst>
            <a:outerShdw sx="100000" sy="100000" kx="0" ky="0" algn="bl" rotWithShape="0" blurRad="285750" dist="50800" dir="16200000">
              <a:srgbClr val="000000">
                <a:alpha val="30000"/>
              </a:srgbClr>
            </a:outerShdw>
          </a:effectLst>
        </p:spPr>
      </p:sp>
      <p:sp>
        <p:nvSpPr>
          <p:cNvPr id="5" name="Shape 3"/>
          <p:cNvSpPr/>
          <p:nvPr/>
        </p:nvSpPr>
        <p:spPr>
          <a:xfrm>
            <a:off x="1720155" y="1519238"/>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6" name="Shape 4"/>
          <p:cNvSpPr/>
          <p:nvPr/>
        </p:nvSpPr>
        <p:spPr>
          <a:xfrm>
            <a:off x="1853505" y="1652588"/>
            <a:ext cx="171450" cy="171450"/>
          </a:xfrm>
          <a:prstGeom prst="roundRect">
            <a:avLst>
              <a:gd name="adj" fmla="val 22222"/>
            </a:avLst>
          </a:prstGeom>
          <a:solidFill>
            <a:srgbClr val="44E7EF"/>
          </a:solidFill>
          <a:ln/>
        </p:spPr>
      </p:sp>
      <p:sp>
        <p:nvSpPr>
          <p:cNvPr id="7" name="Text 5"/>
          <p:cNvSpPr/>
          <p:nvPr/>
        </p:nvSpPr>
        <p:spPr>
          <a:xfrm>
            <a:off x="1720155" y="2128838"/>
            <a:ext cx="3317848"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RAG (Retrieval-Augmented Generation)</a:t>
            </a:r>
            <a:endParaRPr lang="en-US" sz="1275" dirty="0"/>
          </a:p>
        </p:txBody>
      </p:sp>
      <p:sp>
        <p:nvSpPr>
          <p:cNvPr id="8" name="Text 6"/>
          <p:cNvSpPr/>
          <p:nvPr/>
        </p:nvSpPr>
        <p:spPr>
          <a:xfrm>
            <a:off x="1720155" y="2428875"/>
            <a:ext cx="3106712" cy="1446758"/>
          </a:xfrm>
          <a:prstGeom prst="rect">
            <a:avLst/>
          </a:prstGeom>
          <a:noFill/>
          <a:ln/>
        </p:spPr>
        <p:txBody>
          <a:bodyPr wrap="square" lIns="25400" tIns="25400" rIns="25400" bIns="25400" rtlCol="0" anchor="t">
            <a:normAutofit/>
          </a:bodyPr>
          <a:lstStyle/>
          <a:p>
            <a:pPr algn="l" indent="0" marL="0">
              <a:lnSpc>
                <a:spcPct val="170000"/>
              </a:lnSpc>
              <a:buNone/>
            </a:pPr>
            <a:r>
              <a:rPr lang="en-US" sz="1088" dirty="0">
                <a:solidFill>
                  <a:srgbClr val="B0B8C1"/>
                </a:solidFill>
                <a:latin typeface="Arial" pitchFamily="34" charset="0"/>
                <a:ea typeface="Arial" pitchFamily="34" charset="-122"/>
                <a:cs typeface="Arial" pitchFamily="34" charset="-120"/>
              </a:rPr>
              <a:t>Nous explorons les architectures documentaires augmentées par l'IA générative, permettant de croiser la puissance des grands modèles de langage avec la fiabilité de bases de connaissances propres à chaque entreprise.</a:t>
            </a:r>
            <a:endParaRPr lang="en-US" sz="1088" dirty="0"/>
          </a:p>
        </p:txBody>
      </p:sp>
      <p:sp>
        <p:nvSpPr>
          <p:cNvPr id="9" name="Shape 7"/>
          <p:cNvSpPr/>
          <p:nvPr/>
        </p:nvSpPr>
        <p:spPr>
          <a:xfrm>
            <a:off x="5222156" y="1223963"/>
            <a:ext cx="3530575" cy="2908846"/>
          </a:xfrm>
          <a:prstGeom prst="roundRect">
            <a:avLst>
              <a:gd name="adj" fmla="val 5894"/>
            </a:avLst>
          </a:prstGeom>
          <a:ln w="9525">
            <a:solidFill>
              <a:srgbClr val="007382">
                <a:alpha val="40000"/>
              </a:srgbClr>
            </a:solidFill>
            <a:prstDash val="solid"/>
          </a:ln>
          <a:effectLst>
            <a:outerShdw sx="100000" sy="100000" kx="0" ky="0" algn="bl" rotWithShape="0" blurRad="285750" dist="50800" dir="16200000">
              <a:srgbClr val="000000">
                <a:alpha val="30000"/>
              </a:srgbClr>
            </a:outerShdw>
          </a:effectLst>
        </p:spPr>
      </p:sp>
      <p:sp>
        <p:nvSpPr>
          <p:cNvPr id="10" name="Shape 8"/>
          <p:cNvSpPr/>
          <p:nvPr/>
        </p:nvSpPr>
        <p:spPr>
          <a:xfrm>
            <a:off x="5479331" y="1519238"/>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11" name="Shape 9"/>
          <p:cNvSpPr/>
          <p:nvPr/>
        </p:nvSpPr>
        <p:spPr>
          <a:xfrm>
            <a:off x="5612681" y="1652588"/>
            <a:ext cx="171450" cy="171450"/>
          </a:xfrm>
          <a:prstGeom prst="ellipse">
            <a:avLst/>
          </a:prstGeom>
          <a:solidFill>
            <a:srgbClr val="44E7EF"/>
          </a:solidFill>
          <a:ln/>
        </p:spPr>
      </p:sp>
      <p:sp>
        <p:nvSpPr>
          <p:cNvPr id="12" name="Text 10"/>
          <p:cNvSpPr/>
          <p:nvPr/>
        </p:nvSpPr>
        <p:spPr>
          <a:xfrm>
            <a:off x="5479331" y="2128838"/>
            <a:ext cx="3317848"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Systèmes multi-agents</a:t>
            </a:r>
            <a:endParaRPr lang="en-US" sz="1275" dirty="0"/>
          </a:p>
        </p:txBody>
      </p:sp>
      <p:sp>
        <p:nvSpPr>
          <p:cNvPr id="13" name="Text 11"/>
          <p:cNvSpPr/>
          <p:nvPr/>
        </p:nvSpPr>
        <p:spPr>
          <a:xfrm>
            <a:off x="5479331" y="2428875"/>
            <a:ext cx="3106712" cy="1211982"/>
          </a:xfrm>
          <a:prstGeom prst="rect">
            <a:avLst/>
          </a:prstGeom>
          <a:noFill/>
          <a:ln/>
        </p:spPr>
        <p:txBody>
          <a:bodyPr wrap="square" lIns="25400" tIns="25400" rIns="25400" bIns="25400" rtlCol="0" anchor="t">
            <a:normAutofit/>
          </a:bodyPr>
          <a:lstStyle/>
          <a:p>
            <a:pPr algn="l" indent="0" marL="0">
              <a:lnSpc>
                <a:spcPct val="170000"/>
              </a:lnSpc>
              <a:buNone/>
            </a:pPr>
            <a:r>
              <a:rPr lang="en-US" sz="1088" dirty="0">
                <a:solidFill>
                  <a:srgbClr val="B0B8C1"/>
                </a:solidFill>
                <a:latin typeface="Arial" pitchFamily="34" charset="0"/>
                <a:ea typeface="Arial" pitchFamily="34" charset="-122"/>
                <a:cs typeface="Arial" pitchFamily="34" charset="-120"/>
              </a:rPr>
              <a:t>Nos recherches portent sur la conception d'architectures où plusieurs agents IA coopèrent pour résoudre des tâches complexes, avec une répartition intelligente des rôles et des responsabilités.</a:t>
            </a:r>
            <a:endParaRPr lang="en-US" sz="1088" dirty="0"/>
          </a:p>
        </p:txBody>
      </p:sp>
      <p:sp>
        <p:nvSpPr>
          <p:cNvPr id="14" name="Shape 12"/>
          <p:cNvSpPr/>
          <p:nvPr/>
        </p:nvSpPr>
        <p:spPr>
          <a:xfrm>
            <a:off x="8981331" y="1223963"/>
            <a:ext cx="3530575" cy="2908846"/>
          </a:xfrm>
          <a:prstGeom prst="roundRect">
            <a:avLst>
              <a:gd name="adj" fmla="val 5894"/>
            </a:avLst>
          </a:prstGeom>
          <a:ln w="9525">
            <a:solidFill>
              <a:srgbClr val="007382">
                <a:alpha val="40000"/>
              </a:srgbClr>
            </a:solidFill>
            <a:prstDash val="solid"/>
          </a:ln>
          <a:effectLst>
            <a:outerShdw sx="100000" sy="100000" kx="0" ky="0" algn="bl" rotWithShape="0" blurRad="285750" dist="50800" dir="16200000">
              <a:srgbClr val="000000">
                <a:alpha val="30000"/>
              </a:srgbClr>
            </a:outerShdw>
          </a:effectLst>
        </p:spPr>
      </p:sp>
      <p:sp>
        <p:nvSpPr>
          <p:cNvPr id="15" name="Shape 13"/>
          <p:cNvSpPr/>
          <p:nvPr/>
        </p:nvSpPr>
        <p:spPr>
          <a:xfrm>
            <a:off x="9238506" y="1519238"/>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16" name="Shape 14"/>
          <p:cNvSpPr/>
          <p:nvPr/>
        </p:nvSpPr>
        <p:spPr>
          <a:xfrm>
            <a:off x="9371856" y="1652588"/>
            <a:ext cx="171450" cy="171450"/>
          </a:xfrm>
          <a:prstGeom prst="roundRect">
            <a:avLst>
              <a:gd name="adj" fmla="val 16667"/>
            </a:avLst>
          </a:prstGeom>
          <a:solidFill>
            <a:srgbClr val="44E7EF"/>
          </a:solidFill>
          <a:ln/>
        </p:spPr>
      </p:sp>
      <p:sp>
        <p:nvSpPr>
          <p:cNvPr id="17" name="Text 15"/>
          <p:cNvSpPr/>
          <p:nvPr/>
        </p:nvSpPr>
        <p:spPr>
          <a:xfrm>
            <a:off x="9238506" y="2128838"/>
            <a:ext cx="3317848"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IIoT (Industrial IoT)</a:t>
            </a:r>
            <a:endParaRPr lang="en-US" sz="1275" dirty="0"/>
          </a:p>
        </p:txBody>
      </p:sp>
      <p:sp>
        <p:nvSpPr>
          <p:cNvPr id="18" name="Text 16"/>
          <p:cNvSpPr/>
          <p:nvPr/>
        </p:nvSpPr>
        <p:spPr>
          <a:xfrm>
            <a:off x="9238506" y="2428875"/>
            <a:ext cx="3106712" cy="1211982"/>
          </a:xfrm>
          <a:prstGeom prst="rect">
            <a:avLst/>
          </a:prstGeom>
          <a:noFill/>
          <a:ln/>
        </p:spPr>
        <p:txBody>
          <a:bodyPr wrap="square" lIns="25400" tIns="25400" rIns="25400" bIns="25400" rtlCol="0" anchor="t">
            <a:normAutofit/>
          </a:bodyPr>
          <a:lstStyle/>
          <a:p>
            <a:pPr algn="l" indent="0" marL="0">
              <a:lnSpc>
                <a:spcPct val="170000"/>
              </a:lnSpc>
              <a:buNone/>
            </a:pPr>
            <a:r>
              <a:rPr lang="en-US" sz="1088" dirty="0">
                <a:solidFill>
                  <a:srgbClr val="B0B8C1"/>
                </a:solidFill>
                <a:latin typeface="Arial" pitchFamily="34" charset="0"/>
                <a:ea typeface="Arial" pitchFamily="34" charset="-122"/>
                <a:cs typeface="Arial" pitchFamily="34" charset="-120"/>
              </a:rPr>
              <a:t>Nous travaillons sur l'intégration de l'intelligence artificielle aux flux de données industrielles connectées, pour transformer les remontées terrain en leviers de décision opérationnelle.</a:t>
            </a:r>
            <a:endParaRPr lang="en-US" sz="108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48630" y="190500"/>
            <a:ext cx="113157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NOS RÉSULTATS</a:t>
            </a:r>
            <a:endParaRPr lang="en-US" sz="975" dirty="0"/>
          </a:p>
        </p:txBody>
      </p:sp>
      <p:sp>
        <p:nvSpPr>
          <p:cNvPr id="3" name="Text 1"/>
          <p:cNvSpPr/>
          <p:nvPr/>
        </p:nvSpPr>
        <p:spPr>
          <a:xfrm>
            <a:off x="948630" y="414338"/>
            <a:ext cx="113157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Une recherche qui se traduit en résultats concrets</a:t>
            </a:r>
            <a:endParaRPr lang="en-US" sz="2400" dirty="0"/>
          </a:p>
        </p:txBody>
      </p:sp>
      <p:sp>
        <p:nvSpPr>
          <p:cNvPr id="4" name="Shape 2"/>
          <p:cNvSpPr/>
          <p:nvPr/>
        </p:nvSpPr>
        <p:spPr>
          <a:xfrm>
            <a:off x="1462980" y="1147763"/>
            <a:ext cx="10287000" cy="1653257"/>
          </a:xfrm>
          <a:prstGeom prst="roundRect">
            <a:avLst>
              <a:gd name="adj" fmla="val 11523"/>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5" name="Text 3"/>
          <p:cNvSpPr/>
          <p:nvPr/>
        </p:nvSpPr>
        <p:spPr>
          <a:xfrm>
            <a:off x="1853505" y="1538288"/>
            <a:ext cx="9791129" cy="910307"/>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Les travaux de recherche et développement de G2M se matérialisent par plus de 30 projets intégrant des technologies de pointe, conduits en lien direct avec des besoins industriels réels. Cette expérience nous donne une capacité rare : piloter un projet du diagnostic initial jusqu'au produit final, sans rupture de méthode entre la phase exploratoire et la mise en production.</a:t>
            </a:r>
            <a:endParaRPr lang="en-US" sz="1238" dirty="0"/>
          </a:p>
        </p:txBody>
      </p:sp>
      <p:sp>
        <p:nvSpPr>
          <p:cNvPr id="6" name="Shape 4"/>
          <p:cNvSpPr/>
          <p:nvPr/>
        </p:nvSpPr>
        <p:spPr>
          <a:xfrm>
            <a:off x="1462980" y="3067720"/>
            <a:ext cx="5038725" cy="895350"/>
          </a:xfrm>
          <a:prstGeom prst="roundRect">
            <a:avLst>
              <a:gd name="adj" fmla="val 19149"/>
            </a:avLst>
          </a:prstGeom>
          <a:ln w="9525">
            <a:solidFill>
              <a:srgbClr val="006271">
                <a:alpha val="45000"/>
              </a:srgbClr>
            </a:solidFill>
            <a:prstDash val="solid"/>
          </a:ln>
        </p:spPr>
      </p:sp>
      <p:sp>
        <p:nvSpPr>
          <p:cNvPr id="7" name="Shape 5"/>
          <p:cNvSpPr/>
          <p:nvPr/>
        </p:nvSpPr>
        <p:spPr>
          <a:xfrm>
            <a:off x="1701105" y="3324895"/>
            <a:ext cx="381000" cy="381000"/>
          </a:xfrm>
          <a:prstGeom prst="roundRect">
            <a:avLst>
              <a:gd name="adj" fmla="val 25000"/>
            </a:avLst>
          </a:prstGeom>
          <a:solidFill>
            <a:srgbClr val="00404E">
              <a:alpha val="50000"/>
            </a:srgbClr>
          </a:solidFill>
          <a:ln w="9525">
            <a:solidFill>
              <a:srgbClr val="00B6C8">
                <a:alpha val="60000"/>
              </a:srgbClr>
            </a:solidFill>
            <a:prstDash val="solid"/>
          </a:ln>
        </p:spPr>
      </p:sp>
      <p:sp>
        <p:nvSpPr>
          <p:cNvPr id="8" name="Shape 6"/>
          <p:cNvSpPr/>
          <p:nvPr/>
        </p:nvSpPr>
        <p:spPr>
          <a:xfrm>
            <a:off x="1824930" y="3448720"/>
            <a:ext cx="133350" cy="133350"/>
          </a:xfrm>
          <a:prstGeom prst="roundRect">
            <a:avLst>
              <a:gd name="adj" fmla="val 28571"/>
            </a:avLst>
          </a:prstGeom>
          <a:solidFill>
            <a:srgbClr val="44E7EF"/>
          </a:solidFill>
          <a:ln/>
        </p:spPr>
      </p:sp>
      <p:sp>
        <p:nvSpPr>
          <p:cNvPr id="9" name="Text 7"/>
          <p:cNvSpPr/>
          <p:nvPr/>
        </p:nvSpPr>
        <p:spPr>
          <a:xfrm>
            <a:off x="2234505" y="3401095"/>
            <a:ext cx="3620243" cy="266700"/>
          </a:xfrm>
          <a:prstGeom prst="rect">
            <a:avLst/>
          </a:prstGeom>
          <a:noFill/>
          <a:ln/>
        </p:spPr>
        <p:txBody>
          <a:bodyPr wrap="square" lIns="25400" tIns="25400" rIns="25400" bIns="25400" rtlCol="0" anchor="t">
            <a:normAutofit/>
          </a:bodyPr>
          <a:lstStyle/>
          <a:p>
            <a:pPr algn="l" indent="0" marL="0">
              <a:lnSpc>
                <a:spcPct val="160000"/>
              </a:lnSpc>
              <a:buNone/>
            </a:pPr>
            <a:r>
              <a:rPr lang="en-US" sz="1125" b="1" dirty="0">
                <a:solidFill>
                  <a:srgbClr val="E0E5EB"/>
                </a:solidFill>
                <a:latin typeface="Arial" pitchFamily="34" charset="0"/>
                <a:ea typeface="Arial" pitchFamily="34" charset="-122"/>
                <a:cs typeface="Arial" pitchFamily="34" charset="-120"/>
              </a:rPr>
              <a:t>30+ projets menés intégrant des technologies de pointe</a:t>
            </a:r>
            <a:endParaRPr lang="en-US" sz="1125" dirty="0"/>
          </a:p>
        </p:txBody>
      </p:sp>
      <p:sp>
        <p:nvSpPr>
          <p:cNvPr id="10" name="Shape 8"/>
          <p:cNvSpPr/>
          <p:nvPr/>
        </p:nvSpPr>
        <p:spPr>
          <a:xfrm>
            <a:off x="6711255" y="3067720"/>
            <a:ext cx="5038725" cy="895350"/>
          </a:xfrm>
          <a:prstGeom prst="roundRect">
            <a:avLst>
              <a:gd name="adj" fmla="val 19149"/>
            </a:avLst>
          </a:prstGeom>
          <a:ln w="9525">
            <a:solidFill>
              <a:srgbClr val="006271">
                <a:alpha val="45000"/>
              </a:srgbClr>
            </a:solidFill>
            <a:prstDash val="solid"/>
          </a:ln>
        </p:spPr>
      </p:sp>
      <p:sp>
        <p:nvSpPr>
          <p:cNvPr id="11" name="Shape 9"/>
          <p:cNvSpPr/>
          <p:nvPr/>
        </p:nvSpPr>
        <p:spPr>
          <a:xfrm>
            <a:off x="6949380" y="3324895"/>
            <a:ext cx="381000" cy="381000"/>
          </a:xfrm>
          <a:prstGeom prst="roundRect">
            <a:avLst>
              <a:gd name="adj" fmla="val 25000"/>
            </a:avLst>
          </a:prstGeom>
          <a:solidFill>
            <a:srgbClr val="00404E">
              <a:alpha val="50000"/>
            </a:srgbClr>
          </a:solidFill>
          <a:ln w="9525">
            <a:solidFill>
              <a:srgbClr val="00B6C8">
                <a:alpha val="60000"/>
              </a:srgbClr>
            </a:solidFill>
            <a:prstDash val="solid"/>
          </a:ln>
        </p:spPr>
      </p:sp>
      <p:sp>
        <p:nvSpPr>
          <p:cNvPr id="12" name="Shape 10"/>
          <p:cNvSpPr/>
          <p:nvPr/>
        </p:nvSpPr>
        <p:spPr>
          <a:xfrm>
            <a:off x="7073205" y="3448720"/>
            <a:ext cx="133350" cy="133350"/>
          </a:xfrm>
          <a:prstGeom prst="roundRect">
            <a:avLst>
              <a:gd name="adj" fmla="val 28571"/>
            </a:avLst>
          </a:prstGeom>
          <a:solidFill>
            <a:srgbClr val="44E7EF"/>
          </a:solidFill>
          <a:ln/>
        </p:spPr>
      </p:sp>
      <p:sp>
        <p:nvSpPr>
          <p:cNvPr id="13" name="Text 11"/>
          <p:cNvSpPr/>
          <p:nvPr/>
        </p:nvSpPr>
        <p:spPr>
          <a:xfrm>
            <a:off x="7482780" y="3401095"/>
            <a:ext cx="3918935" cy="266700"/>
          </a:xfrm>
          <a:prstGeom prst="rect">
            <a:avLst/>
          </a:prstGeom>
          <a:noFill/>
          <a:ln/>
        </p:spPr>
        <p:txBody>
          <a:bodyPr wrap="square" lIns="25400" tIns="25400" rIns="25400" bIns="25400" rtlCol="0" anchor="t">
            <a:normAutofit/>
          </a:bodyPr>
          <a:lstStyle/>
          <a:p>
            <a:pPr algn="l" indent="0" marL="0">
              <a:lnSpc>
                <a:spcPct val="160000"/>
              </a:lnSpc>
              <a:buNone/>
            </a:pPr>
            <a:r>
              <a:rPr lang="en-US" sz="1125" b="1" dirty="0">
                <a:solidFill>
                  <a:srgbClr val="E0E5EB"/>
                </a:solidFill>
                <a:latin typeface="Arial" pitchFamily="34" charset="0"/>
                <a:ea typeface="Arial" pitchFamily="34" charset="-122"/>
                <a:cs typeface="Arial" pitchFamily="34" charset="-120"/>
              </a:rPr>
              <a:t>Une capacité de bout en bout : du diagnostic au produit final</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1088172" y="190500"/>
            <a:ext cx="8245793"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UNE RECONNAISSANCE EXTERNE</a:t>
            </a:r>
            <a:endParaRPr lang="en-US" sz="975" dirty="0"/>
          </a:p>
        </p:txBody>
      </p:sp>
      <p:sp>
        <p:nvSpPr>
          <p:cNvPr id="3" name="Text 1"/>
          <p:cNvSpPr/>
          <p:nvPr/>
        </p:nvSpPr>
        <p:spPr>
          <a:xfrm>
            <a:off x="1088172" y="414338"/>
            <a:ext cx="8245793"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Lauréat du Booster Drôme Sud Provence</a:t>
            </a:r>
            <a:endParaRPr lang="en-US" sz="2400" dirty="0"/>
          </a:p>
        </p:txBody>
      </p:sp>
      <p:sp>
        <p:nvSpPr>
          <p:cNvPr id="4" name="Shape 2"/>
          <p:cNvSpPr/>
          <p:nvPr/>
        </p:nvSpPr>
        <p:spPr>
          <a:xfrm>
            <a:off x="1462980" y="1147763"/>
            <a:ext cx="7496175" cy="4602807"/>
          </a:xfrm>
          <a:prstGeom prst="roundRect">
            <a:avLst>
              <a:gd name="adj" fmla="val 4139"/>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5" name="Shape 3"/>
          <p:cNvSpPr/>
          <p:nvPr/>
        </p:nvSpPr>
        <p:spPr>
          <a:xfrm>
            <a:off x="7425630" y="585788"/>
            <a:ext cx="2095500" cy="2095500"/>
          </a:xfrm>
          <a:prstGeom prst="ellipse">
            <a:avLst/>
          </a:prstGeom>
          <a:solidFill>
            <a:srgbClr val="00869A">
              <a:alpha val="15000"/>
            </a:srgbClr>
          </a:solidFill>
          <a:ln/>
        </p:spPr>
      </p:sp>
      <p:sp>
        <p:nvSpPr>
          <p:cNvPr id="6" name="Text 4"/>
          <p:cNvSpPr/>
          <p:nvPr/>
        </p:nvSpPr>
        <p:spPr>
          <a:xfrm>
            <a:off x="1891605" y="1576388"/>
            <a:ext cx="6838093" cy="1491779"/>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E0E5EB"/>
                </a:solidFill>
                <a:latin typeface="Arial" pitchFamily="34" charset="0"/>
                <a:ea typeface="Arial" pitchFamily="34" charset="-122"/>
                <a:cs typeface="Arial" pitchFamily="34" charset="-120"/>
              </a:rPr>
              <a:t>G2M a été sélectionnée comme premier lauréat du dispositif Booster Drôme Sud Provence 2, un programme d'accompagnement destiné à soutenir des projets innovants recourant à l'intelligence artificielle au service de la transition énergétique et du développement économique. Ce programme est porté par la Communauté de Communes Drôme Sud Provence dans le cadre de sa politique de soutien à l'innovation.</a:t>
            </a:r>
            <a:endParaRPr lang="en-US" sz="1238" dirty="0"/>
          </a:p>
        </p:txBody>
      </p:sp>
      <p:sp>
        <p:nvSpPr>
          <p:cNvPr id="7" name="Text 5"/>
          <p:cNvSpPr/>
          <p:nvPr/>
        </p:nvSpPr>
        <p:spPr>
          <a:xfrm>
            <a:off x="1891605" y="3220566"/>
            <a:ext cx="6838093" cy="910307"/>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Cette distinction atteste de la qualité technologique, de l'ambition et du potentiel économique de nos travaux de R&amp;D, ainsi que de notre capacité à nous inscrire dans des démarches structurées, reconnues par un jury d'experts indépendants.</a:t>
            </a:r>
            <a:endParaRPr lang="en-US" sz="1238" dirty="0"/>
          </a:p>
        </p:txBody>
      </p:sp>
      <p:sp>
        <p:nvSpPr>
          <p:cNvPr id="8" name="Text 6"/>
          <p:cNvSpPr/>
          <p:nvPr/>
        </p:nvSpPr>
        <p:spPr>
          <a:xfrm>
            <a:off x="1891605" y="4283273"/>
            <a:ext cx="6838093" cy="619571"/>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G2M est également actrice de plusieurs réseaux régionaux et nationaux favorisant la synergie R&amp;D collaborative.</a:t>
            </a:r>
            <a:endParaRPr lang="en-US" sz="1238" dirty="0"/>
          </a:p>
        </p:txBody>
      </p:sp>
      <p:sp>
        <p:nvSpPr>
          <p:cNvPr id="9" name="Text 7">
            <a:hlinkClick r:id="rId1" tooltip=""/>
          </p:cNvPr>
          <p:cNvSpPr/>
          <p:nvPr/>
        </p:nvSpPr>
        <p:spPr>
          <a:xfrm>
            <a:off x="1891605" y="5136207"/>
            <a:ext cx="3763960" cy="223838"/>
          </a:xfrm>
          <a:prstGeom prst="rect">
            <a:avLst/>
          </a:prstGeom>
          <a:noFill/>
          <a:ln/>
        </p:spPr>
        <p:txBody>
          <a:bodyPr wrap="square" lIns="25400" tIns="25400" rIns="25400" bIns="25400" rtlCol="0" anchor="t">
            <a:normAutofit/>
          </a:bodyPr>
          <a:lstStyle/>
          <a:p>
            <a:pPr algn="l" indent="0" marL="0">
              <a:buNone/>
            </a:pPr>
            <a:r>
              <a:rPr lang="en-US" sz="1125" b="1" u="sng" dirty="0">
                <a:solidFill>
                  <a:srgbClr val="00D1D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 savoir plus sur le dispositif Booster → ccdsp.fr</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3212961" cy="9525"/>
          </a:xfrm>
          <a:prstGeom prst="rect">
            <a:avLst/>
          </a:prstGeom>
          <a:solidFill>
            <a:srgbClr val="144D67">
              <a:alpha val="35000"/>
            </a:srgbClr>
          </a:solidFill>
          <a:ln/>
        </p:spPr>
      </p:sp>
      <p:sp>
        <p:nvSpPr>
          <p:cNvPr id="3" name="Text 1"/>
          <p:cNvSpPr/>
          <p:nvPr/>
        </p:nvSpPr>
        <p:spPr>
          <a:xfrm>
            <a:off x="948630" y="771525"/>
            <a:ext cx="113157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SYNTHÈSE ET APPEL À L'ACTION</a:t>
            </a:r>
            <a:endParaRPr lang="en-US" sz="975" dirty="0"/>
          </a:p>
        </p:txBody>
      </p:sp>
      <p:sp>
        <p:nvSpPr>
          <p:cNvPr id="4" name="Text 2"/>
          <p:cNvSpPr/>
          <p:nvPr/>
        </p:nvSpPr>
        <p:spPr>
          <a:xfrm>
            <a:off x="948630" y="1052513"/>
            <a:ext cx="113157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Une capacité de R&amp;D réelle, structurée et reconnue</a:t>
            </a:r>
            <a:endParaRPr lang="en-US" sz="2400" dirty="0"/>
          </a:p>
        </p:txBody>
      </p:sp>
      <p:sp>
        <p:nvSpPr>
          <p:cNvPr id="5" name="Text 3"/>
          <p:cNvSpPr/>
          <p:nvPr/>
        </p:nvSpPr>
        <p:spPr>
          <a:xfrm>
            <a:off x="3172718" y="1557338"/>
            <a:ext cx="6867525" cy="571500"/>
          </a:xfrm>
          <a:prstGeom prst="rect">
            <a:avLst/>
          </a:prstGeom>
          <a:noFill/>
          <a:ln/>
        </p:spPr>
        <p:txBody>
          <a:bodyPr wrap="square" lIns="25400" tIns="25400" rIns="25400" bIns="25400" rtlCol="0" anchor="t">
            <a:normAutofit/>
          </a:bodyPr>
          <a:lstStyle/>
          <a:p>
            <a:pPr algn="ctr" indent="0" marL="0">
              <a:lnSpc>
                <a:spcPct val="175000"/>
              </a:lnSpc>
              <a:buNone/>
            </a:pPr>
            <a:r>
              <a:rPr lang="en-US" sz="1200" dirty="0">
                <a:solidFill>
                  <a:srgbClr val="A5AFBA"/>
                </a:solidFill>
                <a:latin typeface="Arial" pitchFamily="34" charset="0"/>
                <a:ea typeface="Arial" pitchFamily="34" charset="-122"/>
                <a:cs typeface="Arial" pitchFamily="34" charset="-120"/>
              </a:rPr>
              <a:t>G2M dispose de réelles capacités à conduire des travaux de recherche et développement structurés, mesurables et ambitieux :</a:t>
            </a:r>
            <a:endParaRPr lang="en-US" sz="1200" dirty="0"/>
          </a:p>
        </p:txBody>
      </p:sp>
      <p:sp>
        <p:nvSpPr>
          <p:cNvPr id="6" name="Shape 4"/>
          <p:cNvSpPr/>
          <p:nvPr/>
        </p:nvSpPr>
        <p:spPr>
          <a:xfrm>
            <a:off x="1462980" y="2471738"/>
            <a:ext cx="3327350" cy="481012"/>
          </a:xfrm>
          <a:prstGeom prst="roundRect">
            <a:avLst>
              <a:gd name="adj" fmla="val 27723"/>
            </a:avLst>
          </a:prstGeom>
          <a:solidFill>
            <a:srgbClr val="05111C">
              <a:alpha val="60000"/>
            </a:srgbClr>
          </a:solidFill>
          <a:ln w="9525">
            <a:solidFill>
              <a:srgbClr val="006170">
                <a:alpha val="40000"/>
              </a:srgbClr>
            </a:solidFill>
            <a:prstDash val="solid"/>
          </a:ln>
        </p:spPr>
      </p:sp>
      <p:sp>
        <p:nvSpPr>
          <p:cNvPr id="7" name="Shape 5"/>
          <p:cNvSpPr/>
          <p:nvPr/>
        </p:nvSpPr>
        <p:spPr>
          <a:xfrm>
            <a:off x="1663005" y="2674144"/>
            <a:ext cx="76200" cy="76200"/>
          </a:xfrm>
          <a:prstGeom prst="ellipse">
            <a:avLst/>
          </a:prstGeom>
          <a:solidFill>
            <a:srgbClr val="28D6DF"/>
          </a:solidFill>
          <a:ln/>
        </p:spPr>
      </p:sp>
      <p:sp>
        <p:nvSpPr>
          <p:cNvPr id="8" name="Text 6"/>
          <p:cNvSpPr/>
          <p:nvPr/>
        </p:nvSpPr>
        <p:spPr>
          <a:xfrm>
            <a:off x="1853505" y="2633663"/>
            <a:ext cx="2145432" cy="195263"/>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Une équipe hautement qualifiée</a:t>
            </a:r>
            <a:endParaRPr lang="en-US" sz="1088" dirty="0"/>
          </a:p>
        </p:txBody>
      </p:sp>
      <p:sp>
        <p:nvSpPr>
          <p:cNvPr id="9" name="Shape 7"/>
          <p:cNvSpPr/>
          <p:nvPr/>
        </p:nvSpPr>
        <p:spPr>
          <a:xfrm>
            <a:off x="4942731" y="2471738"/>
            <a:ext cx="3327425" cy="481012"/>
          </a:xfrm>
          <a:prstGeom prst="roundRect">
            <a:avLst>
              <a:gd name="adj" fmla="val 27723"/>
            </a:avLst>
          </a:prstGeom>
          <a:solidFill>
            <a:srgbClr val="05111C">
              <a:alpha val="60000"/>
            </a:srgbClr>
          </a:solidFill>
          <a:ln w="9525">
            <a:solidFill>
              <a:srgbClr val="006170">
                <a:alpha val="40000"/>
              </a:srgbClr>
            </a:solidFill>
            <a:prstDash val="solid"/>
          </a:ln>
        </p:spPr>
      </p:sp>
      <p:sp>
        <p:nvSpPr>
          <p:cNvPr id="10" name="Shape 8"/>
          <p:cNvSpPr/>
          <p:nvPr/>
        </p:nvSpPr>
        <p:spPr>
          <a:xfrm>
            <a:off x="5142756" y="2674144"/>
            <a:ext cx="76200" cy="76200"/>
          </a:xfrm>
          <a:prstGeom prst="ellipse">
            <a:avLst/>
          </a:prstGeom>
          <a:solidFill>
            <a:srgbClr val="28D6DF"/>
          </a:solidFill>
          <a:ln/>
        </p:spPr>
      </p:sp>
      <p:sp>
        <p:nvSpPr>
          <p:cNvPr id="11" name="Text 9"/>
          <p:cNvSpPr/>
          <p:nvPr/>
        </p:nvSpPr>
        <p:spPr>
          <a:xfrm>
            <a:off x="5333256" y="2633663"/>
            <a:ext cx="2085759" cy="195263"/>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Des moyens matériels adaptés</a:t>
            </a:r>
            <a:endParaRPr lang="en-US" sz="1088" dirty="0"/>
          </a:p>
        </p:txBody>
      </p:sp>
      <p:sp>
        <p:nvSpPr>
          <p:cNvPr id="12" name="Shape 10"/>
          <p:cNvSpPr/>
          <p:nvPr/>
        </p:nvSpPr>
        <p:spPr>
          <a:xfrm>
            <a:off x="8422556" y="2471738"/>
            <a:ext cx="3327425" cy="481012"/>
          </a:xfrm>
          <a:prstGeom prst="roundRect">
            <a:avLst>
              <a:gd name="adj" fmla="val 27723"/>
            </a:avLst>
          </a:prstGeom>
          <a:solidFill>
            <a:srgbClr val="05111C">
              <a:alpha val="60000"/>
            </a:srgbClr>
          </a:solidFill>
          <a:ln w="9525">
            <a:solidFill>
              <a:srgbClr val="006170">
                <a:alpha val="40000"/>
              </a:srgbClr>
            </a:solidFill>
            <a:prstDash val="solid"/>
          </a:ln>
        </p:spPr>
      </p:sp>
      <p:sp>
        <p:nvSpPr>
          <p:cNvPr id="13" name="Shape 11"/>
          <p:cNvSpPr/>
          <p:nvPr/>
        </p:nvSpPr>
        <p:spPr>
          <a:xfrm>
            <a:off x="8622581" y="2674144"/>
            <a:ext cx="76200" cy="76200"/>
          </a:xfrm>
          <a:prstGeom prst="ellipse">
            <a:avLst/>
          </a:prstGeom>
          <a:solidFill>
            <a:srgbClr val="28D6DF"/>
          </a:solidFill>
          <a:ln/>
        </p:spPr>
      </p:sp>
      <p:sp>
        <p:nvSpPr>
          <p:cNvPr id="14" name="Text 12"/>
          <p:cNvSpPr/>
          <p:nvPr/>
        </p:nvSpPr>
        <p:spPr>
          <a:xfrm>
            <a:off x="8813081" y="2633663"/>
            <a:ext cx="1874981" cy="195263"/>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Un laboratoire interne dédié</a:t>
            </a:r>
            <a:endParaRPr lang="en-US" sz="1088" dirty="0"/>
          </a:p>
        </p:txBody>
      </p:sp>
      <p:sp>
        <p:nvSpPr>
          <p:cNvPr id="15" name="Shape 13"/>
          <p:cNvSpPr/>
          <p:nvPr/>
        </p:nvSpPr>
        <p:spPr>
          <a:xfrm>
            <a:off x="1462980" y="3105150"/>
            <a:ext cx="3327350" cy="638175"/>
          </a:xfrm>
          <a:prstGeom prst="roundRect">
            <a:avLst>
              <a:gd name="adj" fmla="val 20896"/>
            </a:avLst>
          </a:prstGeom>
          <a:solidFill>
            <a:srgbClr val="05111C">
              <a:alpha val="60000"/>
            </a:srgbClr>
          </a:solidFill>
          <a:ln w="9525">
            <a:solidFill>
              <a:srgbClr val="006170">
                <a:alpha val="40000"/>
              </a:srgbClr>
            </a:solidFill>
            <a:prstDash val="solid"/>
          </a:ln>
        </p:spPr>
      </p:sp>
      <p:sp>
        <p:nvSpPr>
          <p:cNvPr id="16" name="Shape 14"/>
          <p:cNvSpPr/>
          <p:nvPr/>
        </p:nvSpPr>
        <p:spPr>
          <a:xfrm>
            <a:off x="1663005" y="3386138"/>
            <a:ext cx="76200" cy="76200"/>
          </a:xfrm>
          <a:prstGeom prst="ellipse">
            <a:avLst/>
          </a:prstGeom>
          <a:solidFill>
            <a:srgbClr val="28D6DF"/>
          </a:solidFill>
          <a:ln/>
        </p:spPr>
      </p:sp>
      <p:sp>
        <p:nvSpPr>
          <p:cNvPr id="17" name="Text 15"/>
          <p:cNvSpPr/>
          <p:nvPr/>
        </p:nvSpPr>
        <p:spPr>
          <a:xfrm>
            <a:off x="1853505" y="3345656"/>
            <a:ext cx="2119320" cy="195263"/>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Des résultats concrets et variés</a:t>
            </a:r>
            <a:endParaRPr lang="en-US" sz="1088" dirty="0"/>
          </a:p>
        </p:txBody>
      </p:sp>
      <p:sp>
        <p:nvSpPr>
          <p:cNvPr id="18" name="Shape 16"/>
          <p:cNvSpPr/>
          <p:nvPr/>
        </p:nvSpPr>
        <p:spPr>
          <a:xfrm>
            <a:off x="4942731" y="3105150"/>
            <a:ext cx="3327425" cy="638175"/>
          </a:xfrm>
          <a:prstGeom prst="roundRect">
            <a:avLst>
              <a:gd name="adj" fmla="val 20896"/>
            </a:avLst>
          </a:prstGeom>
          <a:solidFill>
            <a:srgbClr val="05111C">
              <a:alpha val="60000"/>
            </a:srgbClr>
          </a:solidFill>
          <a:ln w="9525">
            <a:solidFill>
              <a:srgbClr val="006170">
                <a:alpha val="40000"/>
              </a:srgbClr>
            </a:solidFill>
            <a:prstDash val="solid"/>
          </a:ln>
        </p:spPr>
      </p:sp>
      <p:sp>
        <p:nvSpPr>
          <p:cNvPr id="19" name="Shape 17"/>
          <p:cNvSpPr/>
          <p:nvPr/>
        </p:nvSpPr>
        <p:spPr>
          <a:xfrm>
            <a:off x="5142756" y="3386138"/>
            <a:ext cx="76200" cy="76200"/>
          </a:xfrm>
          <a:prstGeom prst="ellipse">
            <a:avLst/>
          </a:prstGeom>
          <a:solidFill>
            <a:srgbClr val="28D6DF"/>
          </a:solidFill>
          <a:ln/>
        </p:spPr>
      </p:sp>
      <p:sp>
        <p:nvSpPr>
          <p:cNvPr id="20" name="Text 18"/>
          <p:cNvSpPr/>
          <p:nvPr/>
        </p:nvSpPr>
        <p:spPr>
          <a:xfrm>
            <a:off x="5333256" y="3267075"/>
            <a:ext cx="2818981" cy="352425"/>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Une reconnaissance externe (lauréat Booster)</a:t>
            </a:r>
            <a:endParaRPr lang="en-US" sz="1088" dirty="0"/>
          </a:p>
        </p:txBody>
      </p:sp>
      <p:sp>
        <p:nvSpPr>
          <p:cNvPr id="21" name="Shape 19"/>
          <p:cNvSpPr/>
          <p:nvPr/>
        </p:nvSpPr>
        <p:spPr>
          <a:xfrm>
            <a:off x="8422556" y="3105150"/>
            <a:ext cx="3327425" cy="638175"/>
          </a:xfrm>
          <a:prstGeom prst="roundRect">
            <a:avLst>
              <a:gd name="adj" fmla="val 20896"/>
            </a:avLst>
          </a:prstGeom>
          <a:solidFill>
            <a:srgbClr val="05111C">
              <a:alpha val="60000"/>
            </a:srgbClr>
          </a:solidFill>
          <a:ln w="9525">
            <a:solidFill>
              <a:srgbClr val="006170">
                <a:alpha val="40000"/>
              </a:srgbClr>
            </a:solidFill>
            <a:prstDash val="solid"/>
          </a:ln>
        </p:spPr>
      </p:sp>
      <p:sp>
        <p:nvSpPr>
          <p:cNvPr id="22" name="Shape 20"/>
          <p:cNvSpPr/>
          <p:nvPr/>
        </p:nvSpPr>
        <p:spPr>
          <a:xfrm>
            <a:off x="8622581" y="3386138"/>
            <a:ext cx="76200" cy="76200"/>
          </a:xfrm>
          <a:prstGeom prst="ellipse">
            <a:avLst/>
          </a:prstGeom>
          <a:solidFill>
            <a:srgbClr val="28D6DF"/>
          </a:solidFill>
          <a:ln/>
        </p:spPr>
      </p:sp>
      <p:sp>
        <p:nvSpPr>
          <p:cNvPr id="23" name="Text 21"/>
          <p:cNvSpPr/>
          <p:nvPr/>
        </p:nvSpPr>
        <p:spPr>
          <a:xfrm>
            <a:off x="8813081" y="3267075"/>
            <a:ext cx="2818981" cy="352425"/>
          </a:xfrm>
          <a:prstGeom prst="rect">
            <a:avLst/>
          </a:prstGeom>
          <a:noFill/>
          <a:ln/>
        </p:spPr>
        <p:txBody>
          <a:bodyPr wrap="square" lIns="25400" tIns="25400" rIns="25400" bIns="25400" rtlCol="0" anchor="t">
            <a:normAutofit/>
          </a:bodyPr>
          <a:lstStyle/>
          <a:p>
            <a:pPr algn="l" indent="0" marL="0">
              <a:buNone/>
            </a:pPr>
            <a:r>
              <a:rPr lang="en-US" sz="1088" b="1" dirty="0">
                <a:solidFill>
                  <a:srgbClr val="E0E5EB"/>
                </a:solidFill>
                <a:latin typeface="Arial" pitchFamily="34" charset="0"/>
                <a:ea typeface="Arial" pitchFamily="34" charset="-122"/>
                <a:cs typeface="Arial" pitchFamily="34" charset="-120"/>
              </a:rPr>
              <a:t>Une intégration active dans un écosystème de R&amp;D et d'innovation</a:t>
            </a:r>
            <a:endParaRPr lang="en-US" sz="1088" dirty="0"/>
          </a:p>
        </p:txBody>
      </p:sp>
      <p:sp>
        <p:nvSpPr>
          <p:cNvPr id="24" name="Shape 22"/>
          <p:cNvSpPr/>
          <p:nvPr/>
        </p:nvSpPr>
        <p:spPr>
          <a:xfrm>
            <a:off x="2920752" y="4200525"/>
            <a:ext cx="7371457"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5" name="Text 23"/>
          <p:cNvSpPr/>
          <p:nvPr/>
        </p:nvSpPr>
        <p:spPr>
          <a:xfrm>
            <a:off x="3225552" y="4352925"/>
            <a:ext cx="6719444"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Vous portez un projet à forte composante technologique ? Échangeons avec notre équipe R&amp;D</a:t>
            </a:r>
            <a:endParaRPr lang="en-US" sz="1125" dirty="0"/>
          </a:p>
        </p:txBody>
      </p:sp>
      <p:sp>
        <p:nvSpPr>
          <p:cNvPr id="26" name="Text 24"/>
          <p:cNvSpPr/>
          <p:nvPr/>
        </p:nvSpPr>
        <p:spPr>
          <a:xfrm>
            <a:off x="9806434" y="4352925"/>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2026-07-09T20:32:29Z</dcterms:created>
  <dcterms:modified xsi:type="dcterms:W3CDTF">2026-07-09T20:32:29Z</dcterms:modified>
</cp:coreProperties>
</file>