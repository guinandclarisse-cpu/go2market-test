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8288000" cy="8524875"/>
  <p:notesSz cx="8524875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145125" cy="4033837"/>
          </a:xfrm>
          <a:prstGeom prst="rect">
            <a:avLst/>
          </a:prstGeom>
          <a:gradFill rotWithShape="1">
            <a:gsLst>
              <a:gs pos="0">
                <a:srgbClr val="05141C">
                  <a:alpha val="100000"/>
                </a:srgbClr>
              </a:gs>
              <a:gs pos="100000">
                <a:srgbClr val="0A2733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4024313"/>
            <a:ext cx="18145125" cy="9525"/>
          </a:xfrm>
          <a:prstGeom prst="rect">
            <a:avLst/>
          </a:prstGeom>
          <a:solidFill>
            <a:srgbClr val="007181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462980" y="857250"/>
            <a:ext cx="7727499" cy="2538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247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</a:t>
            </a:r>
            <a:pPr algn="l" indent="0" marL="0">
              <a:lnSpc>
                <a:spcPct val="108247"/>
              </a:lnSpc>
              <a:buNone/>
            </a:pPr>
            <a:r>
              <a:rPr lang="en-US" sz="3150" b="1" dirty="0">
                <a:solidFill>
                  <a:srgbClr val="00C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CERTIFICATIONS </a:t>
            </a:r>
            <a:pPr algn="l" indent="0" marL="0">
              <a:lnSpc>
                <a:spcPct val="108247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reconnues pour vous accompagner.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536906" y="933450"/>
            <a:ext cx="7359595" cy="153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61282"/>
              </a:lnSpc>
              <a:buNone/>
            </a:pPr>
            <a:r>
              <a:rPr lang="en-US" sz="1275" dirty="0">
                <a:solidFill>
                  <a:srgbClr val="D9DF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accréditations officielles sont la garantie que vous travaillez avec un cabinet sérieux, qualifié et engagé sur la qualité de ses prestations. Elles vous ouvrent à des droits concrets : financements publics, avantages fiscaux, formations prises en charge et certifiées.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2980" y="2647950"/>
            <a:ext cx="12192000" cy="9525"/>
          </a:xfrm>
          <a:prstGeom prst="rect">
            <a:avLst/>
          </a:prstGeom>
          <a:solidFill>
            <a:srgbClr val="5CAFB3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462980" y="1248966"/>
            <a:ext cx="82143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 D'IMPÔT INNOVATION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462980" y="1525191"/>
            <a:ext cx="5101590" cy="52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3788"/>
              </a:lnSpc>
              <a:buNone/>
            </a:pPr>
            <a:r>
              <a:rPr lang="en-US" sz="1088" i="1" dirty="0">
                <a:solidFill>
                  <a:srgbClr val="D7D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G2M est agréé au titre du Crédit d'Impôt Innovation, permettant aux entreprises éligibles de bénéficier d'un avantage fiscal sur leurs projets d'innovation.</a:t>
            </a:r>
            <a:endParaRPr lang="en-US" sz="1088" dirty="0"/>
          </a:p>
        </p:txBody>
      </p:sp>
      <p:sp>
        <p:nvSpPr>
          <p:cNvPr id="5" name="Shape 3"/>
          <p:cNvSpPr/>
          <p:nvPr/>
        </p:nvSpPr>
        <p:spPr>
          <a:xfrm>
            <a:off x="10483155" y="971550"/>
            <a:ext cx="2076450" cy="1314450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300668" y="1457325"/>
            <a:ext cx="4413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0E3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CII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462980" y="4695825"/>
            <a:ext cx="12192000" cy="9525"/>
          </a:xfrm>
          <a:prstGeom prst="rect">
            <a:avLst/>
          </a:prstGeom>
          <a:solidFill>
            <a:srgbClr val="5CAFB3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462980" y="3175992"/>
            <a:ext cx="82143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BPIFRANCE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462980" y="3452217"/>
            <a:ext cx="5101590" cy="763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3788"/>
              </a:lnSpc>
              <a:buNone/>
            </a:pPr>
            <a:r>
              <a:rPr lang="en-US" sz="1088" i="1" dirty="0">
                <a:solidFill>
                  <a:srgbClr val="D7D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G2M est référencé par Bpifrance dans le cadre de l'axe développement innovation, ouvrant l'accès à des dispositifs de financement public pour vos projets.</a:t>
            </a:r>
            <a:endParaRPr lang="en-US" sz="1088" dirty="0"/>
          </a:p>
        </p:txBody>
      </p:sp>
      <p:sp>
        <p:nvSpPr>
          <p:cNvPr id="10" name="Shape 8"/>
          <p:cNvSpPr/>
          <p:nvPr/>
        </p:nvSpPr>
        <p:spPr>
          <a:xfrm>
            <a:off x="10483155" y="3019425"/>
            <a:ext cx="2076450" cy="1314450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3842" y="3528045"/>
            <a:ext cx="1095003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bpifrance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462980" y="6743700"/>
            <a:ext cx="12192000" cy="9525"/>
          </a:xfrm>
          <a:prstGeom prst="rect">
            <a:avLst/>
          </a:prstGeom>
          <a:solidFill>
            <a:srgbClr val="5CAFB3">
              <a:alpha val="2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462980" y="5223272"/>
            <a:ext cx="82143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QUALIOPI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462980" y="5499497"/>
            <a:ext cx="821436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i="1" dirty="0">
                <a:solidFill>
                  <a:srgbClr val="BBC5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le partenariat IDEO Consultants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462980" y="5742384"/>
            <a:ext cx="5101590" cy="52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3788"/>
              </a:lnSpc>
              <a:buNone/>
            </a:pPr>
            <a:r>
              <a:rPr lang="en-US" sz="1088" i="1" dirty="0">
                <a:solidFill>
                  <a:srgbClr val="D7D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formations dispensées par G2M bénéficient de la certification Qualiopi, gage de qualité des organismes de formation reconnu par l'Etat français.</a:t>
            </a:r>
            <a:endParaRPr lang="en-US" sz="1088" dirty="0"/>
          </a:p>
        </p:txBody>
      </p:sp>
      <p:sp>
        <p:nvSpPr>
          <p:cNvPr id="16" name="Shape 14"/>
          <p:cNvSpPr/>
          <p:nvPr/>
        </p:nvSpPr>
        <p:spPr>
          <a:xfrm>
            <a:off x="10483155" y="5067300"/>
            <a:ext cx="2076450" cy="1314450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063883" y="5587380"/>
            <a:ext cx="914921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727"/>
              </a:lnSpc>
              <a:buNone/>
            </a:pPr>
            <a:r>
              <a:rPr lang="en-US" sz="1800" b="1" dirty="0">
                <a:solidFill>
                  <a:srgbClr val="1F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Qualiopi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462980" y="8791575"/>
            <a:ext cx="12192000" cy="9525"/>
          </a:xfrm>
          <a:prstGeom prst="rect">
            <a:avLst/>
          </a:prstGeom>
          <a:solidFill>
            <a:srgbClr val="5CAFB3">
              <a:alpha val="2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462980" y="7150298"/>
            <a:ext cx="82143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RÉFÉRENT IA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462980" y="7426523"/>
            <a:ext cx="821436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i="1" dirty="0">
                <a:solidFill>
                  <a:srgbClr val="BBC5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'Industrie du Futur' · ENE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462980" y="7669411"/>
            <a:ext cx="5101590" cy="763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3788"/>
              </a:lnSpc>
              <a:buNone/>
            </a:pPr>
            <a:r>
              <a:rPr lang="en-US" sz="1088" i="1" dirty="0">
                <a:solidFill>
                  <a:srgbClr val="D7D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Reconnaissance de l'expertise de G2M dans l'accompagnement à la transformation par l'intelligence artificielle dans le cadre du programme national Industrie du Futur.</a:t>
            </a:r>
            <a:endParaRPr lang="en-US" sz="1088" dirty="0"/>
          </a:p>
        </p:txBody>
      </p:sp>
      <p:sp>
        <p:nvSpPr>
          <p:cNvPr id="22" name="Shape 20"/>
          <p:cNvSpPr/>
          <p:nvPr/>
        </p:nvSpPr>
        <p:spPr>
          <a:xfrm>
            <a:off x="10483155" y="7115175"/>
            <a:ext cx="2076450" cy="1314450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244858" y="7600950"/>
            <a:ext cx="55297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6B3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2026-07-10T09:50:10Z</dcterms:created>
  <dcterms:modified xsi:type="dcterms:W3CDTF">2026-07-10T09:50:10Z</dcterms:modified>
</cp:coreProperties>
</file>