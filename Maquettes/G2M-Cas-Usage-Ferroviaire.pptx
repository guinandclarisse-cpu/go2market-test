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9525000"/>
  <p:notesSz cx="9525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5200650"/>
            <a:ext cx="18145125" cy="9525"/>
          </a:xfrm>
          <a:prstGeom prst="rect">
            <a:avLst/>
          </a:prstGeom>
          <a:solidFill>
            <a:srgbClr val="005F7E">
              <a:alpha val="35000"/>
            </a:srgbClr>
          </a:solidFill>
          <a:ln/>
        </p:spPr>
      </p:sp>
      <p:sp>
        <p:nvSpPr>
          <p:cNvPr id="3" name="Shape 1"/>
          <p:cNvSpPr/>
          <p:nvPr/>
        </p:nvSpPr>
        <p:spPr>
          <a:xfrm>
            <a:off x="3167063" y="1410370"/>
            <a:ext cx="1192188"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4" name="Text 2"/>
          <p:cNvSpPr/>
          <p:nvPr/>
        </p:nvSpPr>
        <p:spPr>
          <a:xfrm>
            <a:off x="3328988" y="1496095"/>
            <a:ext cx="944538" cy="190500"/>
          </a:xfrm>
          <a:prstGeom prst="rect">
            <a:avLst/>
          </a:prstGeom>
          <a:noFill/>
          <a:ln/>
        </p:spPr>
        <p:txBody>
          <a:bodyPr wrap="square" lIns="25400" tIns="25400" rIns="25400" bIns="25400" rtlCol="0" anchor="t">
            <a:normAutofit/>
          </a:bodyPr>
          <a:lstStyle/>
          <a:p>
            <a:pPr algn="l" indent="0" marL="0">
              <a:buNone/>
            </a:pPr>
            <a:r>
              <a:rPr lang="en-US" sz="938" b="1" spc="113" kern="0" dirty="0">
                <a:solidFill>
                  <a:srgbClr val="45E6F6"/>
                </a:solidFill>
                <a:latin typeface="Arial" pitchFamily="34" charset="0"/>
                <a:ea typeface="Arial" pitchFamily="34" charset="-122"/>
                <a:cs typeface="Arial" pitchFamily="34" charset="-120"/>
              </a:rPr>
              <a:t>FERROVIAIRE</a:t>
            </a:r>
            <a:endParaRPr lang="en-US" sz="938" dirty="0"/>
          </a:p>
        </p:txBody>
      </p:sp>
      <p:sp>
        <p:nvSpPr>
          <p:cNvPr id="5" name="Text 3"/>
          <p:cNvSpPr/>
          <p:nvPr/>
        </p:nvSpPr>
        <p:spPr>
          <a:xfrm>
            <a:off x="3167063" y="2000920"/>
            <a:ext cx="6776814" cy="200025"/>
          </a:xfrm>
          <a:prstGeom prst="rect">
            <a:avLst/>
          </a:prstGeom>
          <a:noFill/>
          <a:ln/>
        </p:spPr>
        <p:txBody>
          <a:bodyPr wrap="square" lIns="25400" tIns="25400" rIns="25400" bIns="25400" rtlCol="0" anchor="t">
            <a:normAutofit/>
          </a:bodyPr>
          <a:lstStyle/>
          <a:p>
            <a:pPr algn="l" indent="0" marL="0">
              <a:buNone/>
            </a:pPr>
            <a:r>
              <a:rPr lang="en-US" sz="1125" spc="56" kern="0" dirty="0">
                <a:solidFill>
                  <a:srgbClr val="95A0AB"/>
                </a:solidFill>
                <a:latin typeface="Arial" pitchFamily="34" charset="0"/>
                <a:ea typeface="Arial" pitchFamily="34" charset="-122"/>
                <a:cs typeface="Arial" pitchFamily="34" charset="-120"/>
              </a:rPr>
              <a:t>CAS D'USAGE — FERROVIAIRE</a:t>
            </a:r>
            <a:endParaRPr lang="en-US" sz="1125" dirty="0"/>
          </a:p>
        </p:txBody>
      </p:sp>
      <p:sp>
        <p:nvSpPr>
          <p:cNvPr id="6" name="Shape 4"/>
          <p:cNvSpPr/>
          <p:nvPr/>
        </p:nvSpPr>
        <p:spPr>
          <a:xfrm>
            <a:off x="3167063" y="2296195"/>
            <a:ext cx="6160740" cy="534888"/>
          </a:xfrm>
          <a:prstGeom prst="rect">
            <a:avLst/>
          </a:prstGeom>
          <a:solidFill>
            <a:srgbClr val="FFFFFF"/>
          </a:solidFill>
          <a:ln/>
        </p:spPr>
      </p:sp>
      <p:sp>
        <p:nvSpPr>
          <p:cNvPr id="7" name="Text 5"/>
          <p:cNvSpPr/>
          <p:nvPr/>
        </p:nvSpPr>
        <p:spPr>
          <a:xfrm>
            <a:off x="3167063" y="2296195"/>
            <a:ext cx="6776814" cy="572988"/>
          </a:xfrm>
          <a:prstGeom prst="rect">
            <a:avLst/>
          </a:prstGeom>
          <a:noFill/>
          <a:ln/>
        </p:spPr>
        <p:txBody>
          <a:bodyPr wrap="square" lIns="25400" tIns="25400" rIns="25400" bIns="25400" rtlCol="0" anchor="t">
            <a:normAutofit/>
          </a:bodyPr>
          <a:lstStyle/>
          <a:p>
            <a:pPr algn="l" indent="0" marL="0">
              <a:lnSpc>
                <a:spcPct val="108000"/>
              </a:lnSpc>
              <a:buNone/>
            </a:pPr>
            <a:r>
              <a:rPr lang="en-US" sz="3900" b="1" dirty="0">
                <a:solidFill>
                  <a:srgbClr val="000000"/>
                </a:solidFill>
                <a:latin typeface="Arial" pitchFamily="34" charset="0"/>
                <a:ea typeface="Arial" pitchFamily="34" charset="-122"/>
                <a:cs typeface="Arial" pitchFamily="34" charset="-120"/>
              </a:rPr>
              <a:t>Veille réglementaire</a:t>
            </a:r>
            <a:endParaRPr lang="en-US" sz="3900" dirty="0"/>
          </a:p>
        </p:txBody>
      </p:sp>
      <p:sp>
        <p:nvSpPr>
          <p:cNvPr id="8" name="Text 6"/>
          <p:cNvSpPr/>
          <p:nvPr/>
        </p:nvSpPr>
        <p:spPr>
          <a:xfrm>
            <a:off x="3167063" y="3040633"/>
            <a:ext cx="5101590" cy="863873"/>
          </a:xfrm>
          <a:prstGeom prst="rect">
            <a:avLst/>
          </a:prstGeom>
          <a:noFill/>
          <a:ln/>
        </p:spPr>
        <p:txBody>
          <a:bodyPr wrap="square" lIns="25400" tIns="25400" rIns="25400" bIns="25400" rtlCol="0" anchor="t">
            <a:normAutofit/>
          </a:bodyPr>
          <a:lstStyle/>
          <a:p>
            <a:pPr algn="l" indent="0" marL="0">
              <a:lnSpc>
                <a:spcPct val="170000"/>
              </a:lnSpc>
              <a:buNone/>
            </a:pPr>
            <a:r>
              <a:rPr lang="en-US" sz="1275" dirty="0">
                <a:solidFill>
                  <a:srgbClr val="AEB9C4"/>
                </a:solidFill>
                <a:latin typeface="Arial" pitchFamily="34" charset="0"/>
                <a:ea typeface="Arial" pitchFamily="34" charset="-122"/>
                <a:cs typeface="Arial" pitchFamily="34" charset="-120"/>
              </a:rPr>
              <a:t>Comment l'IA transforme la surveillance manuelle des évolutions réglementaires en une veille automatisée, fiable et diffusée en continu.</a:t>
            </a:r>
            <a:endParaRPr lang="en-US" sz="1275" dirty="0"/>
          </a:p>
        </p:txBody>
      </p:sp>
      <p:sp>
        <p:nvSpPr>
          <p:cNvPr id="9" name="Shape 7"/>
          <p:cNvSpPr/>
          <p:nvPr/>
        </p:nvSpPr>
        <p:spPr>
          <a:xfrm>
            <a:off x="9937403" y="914400"/>
            <a:ext cx="5040660" cy="3448050"/>
          </a:xfrm>
          <a:prstGeom prst="roundRect">
            <a:avLst>
              <a:gd name="adj" fmla="val 6630"/>
            </a:avLst>
          </a:prstGeom>
          <a:ln w="9525">
            <a:solidFill>
              <a:srgbClr val="007382">
                <a:alpha val="40000"/>
              </a:srgbClr>
            </a:solidFill>
            <a:prstDash val="solid"/>
          </a:ln>
          <a:effectLst>
            <a:outerShdw sx="100000" sy="100000" kx="0" ky="0" algn="bl" rotWithShape="0" blurRad="571500" dist="50800" dir="16200000">
              <a:srgbClr val="000000">
                <a:alpha val="30000"/>
              </a:srgbClr>
            </a:outerShdw>
          </a:effectLst>
        </p:spPr>
      </p:sp>
      <p:sp>
        <p:nvSpPr>
          <p:cNvPr id="10" name="Shape 8"/>
          <p:cNvSpPr/>
          <p:nvPr/>
        </p:nvSpPr>
        <p:spPr>
          <a:xfrm>
            <a:off x="12143408" y="2081212"/>
            <a:ext cx="628650" cy="628650"/>
          </a:xfrm>
          <a:prstGeom prst="roundRect">
            <a:avLst>
              <a:gd name="adj" fmla="val 24242"/>
            </a:avLst>
          </a:prstGeom>
          <a:solidFill>
            <a:srgbClr val="00364C">
              <a:alpha val="50000"/>
            </a:srgbClr>
          </a:solidFill>
          <a:ln w="9525">
            <a:solidFill>
              <a:srgbClr val="00B6C8">
                <a:alpha val="60000"/>
              </a:srgbClr>
            </a:solidFill>
            <a:prstDash val="solid"/>
          </a:ln>
        </p:spPr>
      </p:sp>
      <p:sp>
        <p:nvSpPr>
          <p:cNvPr id="11" name="Shape 9"/>
          <p:cNvSpPr/>
          <p:nvPr/>
        </p:nvSpPr>
        <p:spPr>
          <a:xfrm>
            <a:off x="12314858" y="2252663"/>
            <a:ext cx="285750" cy="285750"/>
          </a:xfrm>
          <a:prstGeom prst="roundRect">
            <a:avLst>
              <a:gd name="adj" fmla="val 13333"/>
            </a:avLst>
          </a:prstGeom>
          <a:ln w="19050">
            <a:solidFill>
              <a:srgbClr val="58E5ED"/>
            </a:solidFill>
            <a:prstDash val="solid"/>
          </a:ln>
        </p:spPr>
      </p:sp>
      <p:sp>
        <p:nvSpPr>
          <p:cNvPr id="12" name="Text 10"/>
          <p:cNvSpPr/>
          <p:nvPr/>
        </p:nvSpPr>
        <p:spPr>
          <a:xfrm>
            <a:off x="10954130" y="2881313"/>
            <a:ext cx="3007206" cy="171450"/>
          </a:xfrm>
          <a:prstGeom prst="rect">
            <a:avLst/>
          </a:prstGeom>
          <a:noFill/>
          <a:ln/>
        </p:spPr>
        <p:txBody>
          <a:bodyPr wrap="square" lIns="25400" tIns="25400" rIns="25400" bIns="25400" rtlCol="0" anchor="t">
            <a:normAutofit/>
          </a:bodyPr>
          <a:lstStyle/>
          <a:p>
            <a:pPr algn="ctr" indent="0" marL="0">
              <a:buNone/>
            </a:pPr>
            <a:r>
              <a:rPr lang="en-US" sz="900" spc="90" kern="0" dirty="0">
                <a:solidFill>
                  <a:srgbClr val="83A5B0"/>
                </a:solidFill>
                <a:latin typeface="Arial" pitchFamily="34" charset="0"/>
                <a:ea typeface="Arial" pitchFamily="34" charset="-122"/>
                <a:cs typeface="Arial" pitchFamily="34" charset="-120"/>
              </a:rPr>
              <a:t>ILLUSTRATION — RAIL, CONFORMITÉ &amp; IA</a:t>
            </a:r>
            <a:endParaRPr lang="en-US" sz="900" dirty="0"/>
          </a:p>
        </p:txBody>
      </p:sp>
      <p:sp>
        <p:nvSpPr>
          <p:cNvPr id="13" name="Text 11"/>
          <p:cNvSpPr/>
          <p:nvPr/>
        </p:nvSpPr>
        <p:spPr>
          <a:xfrm>
            <a:off x="10954130" y="3071813"/>
            <a:ext cx="3007206" cy="161925"/>
          </a:xfrm>
          <a:prstGeom prst="rect">
            <a:avLst/>
          </a:prstGeom>
          <a:noFill/>
          <a:ln/>
        </p:spPr>
        <p:txBody>
          <a:bodyPr wrap="square" lIns="25400" tIns="25400" rIns="25400" bIns="25400" rtlCol="0" anchor="t">
            <a:normAutofit/>
          </a:bodyPr>
          <a:lstStyle/>
          <a:p>
            <a:pPr algn="ctr" indent="0" marL="0">
              <a:buNone/>
            </a:pPr>
            <a:r>
              <a:rPr lang="en-US" sz="825" dirty="0">
                <a:solidFill>
                  <a:srgbClr val="5F767E"/>
                </a:solidFill>
                <a:latin typeface="Courier New" pitchFamily="34" charset="0"/>
                <a:ea typeface="Courier New" pitchFamily="34" charset="-122"/>
                <a:cs typeface="Courier New" pitchFamily="34" charset="-120"/>
              </a:rPr>
              <a:t>visuel à intégrer</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954881"/>
            <a:ext cx="514350" cy="514350"/>
          </a:xfrm>
          <a:prstGeom prst="roundRect">
            <a:avLst>
              <a:gd name="adj" fmla="val 25926"/>
            </a:avLst>
          </a:prstGeom>
          <a:solidFill>
            <a:srgbClr val="48140E">
              <a:alpha val="35000"/>
            </a:srgbClr>
          </a:solidFill>
          <a:ln w="9525">
            <a:solidFill>
              <a:srgbClr val="C15E50">
                <a:alpha val="50000"/>
              </a:srgbClr>
            </a:solidFill>
            <a:prstDash val="solid"/>
          </a:ln>
        </p:spPr>
      </p:sp>
      <p:sp>
        <p:nvSpPr>
          <p:cNvPr id="3" name="Shape 1"/>
          <p:cNvSpPr/>
          <p:nvPr/>
        </p:nvSpPr>
        <p:spPr>
          <a:xfrm>
            <a:off x="1605855" y="1069181"/>
            <a:ext cx="228600" cy="285750"/>
          </a:xfrm>
          <a:prstGeom prst="roundRect">
            <a:avLst>
              <a:gd name="adj" fmla="val 12500"/>
            </a:avLst>
          </a:prstGeom>
          <a:ln w="19050">
            <a:solidFill>
              <a:srgbClr val="FF9381"/>
            </a:solidFill>
            <a:prstDash val="solid"/>
          </a:ln>
        </p:spPr>
      </p:sp>
      <p:sp>
        <p:nvSpPr>
          <p:cNvPr id="4" name="Shape 2"/>
          <p:cNvSpPr/>
          <p:nvPr/>
        </p:nvSpPr>
        <p:spPr>
          <a:xfrm>
            <a:off x="1653480" y="1145381"/>
            <a:ext cx="95250" cy="19050"/>
          </a:xfrm>
          <a:prstGeom prst="rect">
            <a:avLst/>
          </a:prstGeom>
          <a:solidFill>
            <a:srgbClr val="FF9381"/>
          </a:solidFill>
          <a:ln/>
        </p:spPr>
      </p:sp>
      <p:sp>
        <p:nvSpPr>
          <p:cNvPr id="5" name="Shape 3"/>
          <p:cNvSpPr/>
          <p:nvPr/>
        </p:nvSpPr>
        <p:spPr>
          <a:xfrm>
            <a:off x="1653480" y="1193006"/>
            <a:ext cx="95250" cy="19050"/>
          </a:xfrm>
          <a:prstGeom prst="rect">
            <a:avLst/>
          </a:prstGeom>
          <a:solidFill>
            <a:srgbClr val="FF9381"/>
          </a:solidFill>
          <a:ln/>
        </p:spPr>
      </p:sp>
      <p:sp>
        <p:nvSpPr>
          <p:cNvPr id="6" name="Shape 4"/>
          <p:cNvSpPr/>
          <p:nvPr/>
        </p:nvSpPr>
        <p:spPr>
          <a:xfrm>
            <a:off x="1653480" y="1240631"/>
            <a:ext cx="57150" cy="19050"/>
          </a:xfrm>
          <a:prstGeom prst="rect">
            <a:avLst/>
          </a:prstGeom>
          <a:solidFill>
            <a:srgbClr val="FF9381"/>
          </a:solidFill>
          <a:ln/>
        </p:spPr>
      </p:sp>
      <p:sp>
        <p:nvSpPr>
          <p:cNvPr id="7" name="Text 5"/>
          <p:cNvSpPr/>
          <p:nvPr/>
        </p:nvSpPr>
        <p:spPr>
          <a:xfrm>
            <a:off x="2129730" y="952500"/>
            <a:ext cx="3037820"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8B9AAB"/>
                </a:solidFill>
                <a:latin typeface="Arial" pitchFamily="34" charset="0"/>
                <a:ea typeface="Arial" pitchFamily="34" charset="-122"/>
                <a:cs typeface="Arial" pitchFamily="34" charset="-120"/>
              </a:rPr>
              <a:t>LE POINT DE DÉPART</a:t>
            </a:r>
            <a:endParaRPr lang="en-US" sz="975" dirty="0"/>
          </a:p>
        </p:txBody>
      </p:sp>
      <p:sp>
        <p:nvSpPr>
          <p:cNvPr id="8" name="Text 6"/>
          <p:cNvSpPr/>
          <p:nvPr/>
        </p:nvSpPr>
        <p:spPr>
          <a:xfrm>
            <a:off x="2129730" y="1119188"/>
            <a:ext cx="303782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Problématique client</a:t>
            </a:r>
            <a:endParaRPr lang="en-US" sz="2400" dirty="0"/>
          </a:p>
        </p:txBody>
      </p:sp>
      <p:sp>
        <p:nvSpPr>
          <p:cNvPr id="9" name="Shape 7"/>
          <p:cNvSpPr/>
          <p:nvPr/>
        </p:nvSpPr>
        <p:spPr>
          <a:xfrm>
            <a:off x="1462980" y="1814513"/>
            <a:ext cx="10287000" cy="3297436"/>
          </a:xfrm>
          <a:prstGeom prst="roundRect">
            <a:avLst>
              <a:gd name="adj" fmla="val 5777"/>
            </a:avLst>
          </a:prstGeom>
          <a:ln w="9525">
            <a:solidFill>
              <a:srgbClr val="144E66">
                <a:alpha val="45000"/>
              </a:srgbClr>
            </a:solidFill>
            <a:prstDash val="solid"/>
          </a:ln>
          <a:effectLst>
            <a:outerShdw sx="100000" sy="100000" kx="0" ky="0" algn="bl" rotWithShape="0" blurRad="381000" dist="50800" dir="16200000">
              <a:srgbClr val="000000">
                <a:alpha val="30000"/>
              </a:srgbClr>
            </a:outerShdw>
          </a:effectLst>
        </p:spPr>
      </p:sp>
      <p:sp>
        <p:nvSpPr>
          <p:cNvPr id="10" name="Text 8"/>
          <p:cNvSpPr/>
          <p:nvPr/>
        </p:nvSpPr>
        <p:spPr>
          <a:xfrm>
            <a:off x="1853505" y="2205038"/>
            <a:ext cx="9791129" cy="1201043"/>
          </a:xfrm>
          <a:prstGeom prst="rect">
            <a:avLst/>
          </a:prstGeom>
          <a:noFill/>
          <a:ln/>
        </p:spPr>
        <p:txBody>
          <a:bodyPr wrap="square" lIns="25400" tIns="25400" rIns="25400" bIns="25400" rtlCol="0" anchor="t">
            <a:normAutofit/>
          </a:bodyPr>
          <a:lstStyle/>
          <a:p>
            <a:pPr algn="l" indent="0" marL="0">
              <a:lnSpc>
                <a:spcPct val="185000"/>
              </a:lnSpc>
              <a:buNone/>
            </a:pPr>
            <a:r>
              <a:rPr lang="en-US" sz="1238" b="1" dirty="0">
                <a:solidFill>
                  <a:srgbClr val="FFFFFF"/>
                </a:solidFill>
                <a:latin typeface="Arial" pitchFamily="34" charset="0"/>
                <a:ea typeface="Arial" pitchFamily="34" charset="-122"/>
                <a:cs typeface="Arial" pitchFamily="34" charset="-120"/>
              </a:rPr>
              <a:t>Problématique client :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Le secteur ferroviaire est l'un des secteurs les plus réglementés en France. Les entreprises doivent respecter de nombreuses exigences de sécurité et de conformité émises par plusieurs organismes institutionnels, jusqu'à 12 dans ce cas (autorités de sécurité, organismes de certification, instances nationales et européennes). Chaque évolution réglementaire peut avoir un impact direct sur l'exploitation, la maintenance ou les projets en cours de l'entreprise.</a:t>
            </a:r>
            <a:endParaRPr lang="en-US" sz="1238" dirty="0"/>
          </a:p>
        </p:txBody>
      </p:sp>
      <p:sp>
        <p:nvSpPr>
          <p:cNvPr id="11" name="Text 9"/>
          <p:cNvSpPr/>
          <p:nvPr/>
        </p:nvSpPr>
        <p:spPr>
          <a:xfrm>
            <a:off x="1853505" y="3558480"/>
            <a:ext cx="9791129" cy="1201043"/>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Assurer une veille manuelle de ces 12 sources pour ne rien manquer représentait une charge de travail importante nécessitant </a:t>
            </a:r>
            <a:pPr algn="l" indent="0" marL="0">
              <a:lnSpc>
                <a:spcPct val="185000"/>
              </a:lnSpc>
              <a:buNone/>
            </a:pPr>
            <a:r>
              <a:rPr lang="en-US" sz="1238" b="1" dirty="0">
                <a:solidFill>
                  <a:srgbClr val="FFA077"/>
                </a:solidFill>
                <a:highlight>
                  <a:srgbClr val="CBB8B2"/>
                </a:highlight>
                <a:latin typeface="Arial" pitchFamily="34" charset="0"/>
                <a:ea typeface="Arial" pitchFamily="34" charset="-122"/>
                <a:cs typeface="Arial" pitchFamily="34" charset="-120"/>
              </a:rPr>
              <a:t>environ 70 minutes à chaque cycle de veille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et devait être réalisée régulièrement. Cette approche augmentait également le risque de passer à côté d'une évolution réglementaire importante, avec des conséquences potentiellement sérieuses dans un secteur où la non-conformité peut entraîner des sanctions ou des risques opérationnels.</a:t>
            </a:r>
            <a:endParaRPr lang="en-US" sz="12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7206853" y="1085850"/>
            <a:ext cx="1327696"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B4685C"/>
                </a:solidFill>
                <a:latin typeface="Arial" pitchFamily="34" charset="0"/>
                <a:ea typeface="Arial" pitchFamily="34" charset="-122"/>
                <a:cs typeface="Arial" pitchFamily="34" charset="-120"/>
              </a:rPr>
              <a:t>VEILLE MANUELLE</a:t>
            </a:r>
            <a:endParaRPr lang="en-US" sz="900" dirty="0"/>
          </a:p>
        </p:txBody>
      </p:sp>
      <p:sp>
        <p:nvSpPr>
          <p:cNvPr id="3" name="Shape 1"/>
          <p:cNvSpPr/>
          <p:nvPr/>
        </p:nvSpPr>
        <p:spPr>
          <a:xfrm>
            <a:off x="8585299" y="1119188"/>
            <a:ext cx="66675" cy="66675"/>
          </a:xfrm>
          <a:prstGeom prst="ellipse">
            <a:avLst/>
          </a:prstGeom>
          <a:solidFill>
            <a:srgbClr val="00C9D3">
              <a:alpha val="83000"/>
            </a:srgbClr>
          </a:solidFill>
          <a:ln/>
        </p:spPr>
      </p:sp>
      <p:sp>
        <p:nvSpPr>
          <p:cNvPr id="4" name="Shape 2"/>
          <p:cNvSpPr/>
          <p:nvPr/>
        </p:nvSpPr>
        <p:spPr>
          <a:xfrm>
            <a:off x="8709124" y="1119188"/>
            <a:ext cx="66675" cy="66675"/>
          </a:xfrm>
          <a:prstGeom prst="ellipse">
            <a:avLst/>
          </a:prstGeom>
          <a:solidFill>
            <a:srgbClr val="00C9D3">
              <a:alpha val="99000"/>
            </a:srgbClr>
          </a:solidFill>
          <a:ln/>
        </p:spPr>
      </p:sp>
      <p:sp>
        <p:nvSpPr>
          <p:cNvPr id="5" name="Shape 3"/>
          <p:cNvSpPr/>
          <p:nvPr/>
        </p:nvSpPr>
        <p:spPr>
          <a:xfrm>
            <a:off x="8832949" y="1119188"/>
            <a:ext cx="66675" cy="66675"/>
          </a:xfrm>
          <a:prstGeom prst="ellipse">
            <a:avLst/>
          </a:prstGeom>
          <a:solidFill>
            <a:srgbClr val="00C9D3">
              <a:alpha val="96000"/>
            </a:srgbClr>
          </a:solidFill>
          <a:ln/>
        </p:spPr>
      </p:sp>
      <p:sp>
        <p:nvSpPr>
          <p:cNvPr id="6" name="Shape 4"/>
          <p:cNvSpPr/>
          <p:nvPr/>
        </p:nvSpPr>
        <p:spPr>
          <a:xfrm>
            <a:off x="8956774" y="1119188"/>
            <a:ext cx="66675" cy="66675"/>
          </a:xfrm>
          <a:prstGeom prst="ellipse">
            <a:avLst/>
          </a:prstGeom>
          <a:solidFill>
            <a:srgbClr val="00C9D3">
              <a:alpha val="73000"/>
            </a:srgbClr>
          </a:solidFill>
          <a:ln/>
        </p:spPr>
      </p:sp>
      <p:sp>
        <p:nvSpPr>
          <p:cNvPr id="7" name="Text 5"/>
          <p:cNvSpPr/>
          <p:nvPr/>
        </p:nvSpPr>
        <p:spPr>
          <a:xfrm>
            <a:off x="9194899" y="1085850"/>
            <a:ext cx="1917710"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00C8D1"/>
                </a:solidFill>
                <a:latin typeface="Arial" pitchFamily="34" charset="0"/>
                <a:ea typeface="Arial" pitchFamily="34" charset="-122"/>
                <a:cs typeface="Arial" pitchFamily="34" charset="-120"/>
              </a:rPr>
              <a:t>AUTOMATISATION PAR L'IA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228600"/>
            <a:ext cx="10287000" cy="3941787"/>
          </a:xfrm>
          <a:prstGeom prst="roundRect">
            <a:avLst>
              <a:gd name="adj" fmla="val 4833"/>
            </a:avLst>
          </a:prstGeom>
          <a:ln w="9525">
            <a:solidFill>
              <a:srgbClr val="008595">
                <a:alpha val="50000"/>
              </a:srgbClr>
            </a:solidFill>
            <a:prstDash val="solid"/>
          </a:ln>
          <a:effectLst>
            <a:outerShdw sx="100000" sy="100000" kx="0" ky="0" algn="bl" rotWithShape="0" blurRad="523875" dist="50800" dir="16200000">
              <a:srgbClr val="000000">
                <a:alpha val="30000"/>
              </a:srgbClr>
            </a:outerShdw>
          </a:effectLst>
        </p:spPr>
      </p:sp>
      <p:sp>
        <p:nvSpPr>
          <p:cNvPr id="3" name="Shape 1"/>
          <p:cNvSpPr/>
          <p:nvPr/>
        </p:nvSpPr>
        <p:spPr>
          <a:xfrm>
            <a:off x="10216455" y="-333375"/>
            <a:ext cx="2095500" cy="2095500"/>
          </a:xfrm>
          <a:prstGeom prst="ellipse">
            <a:avLst/>
          </a:prstGeom>
          <a:solidFill>
            <a:srgbClr val="00869A">
              <a:alpha val="15000"/>
            </a:srgbClr>
          </a:solidFill>
          <a:ln/>
        </p:spPr>
      </p:sp>
      <p:sp>
        <p:nvSpPr>
          <p:cNvPr id="4" name="Shape 2"/>
          <p:cNvSpPr/>
          <p:nvPr/>
        </p:nvSpPr>
        <p:spPr>
          <a:xfrm>
            <a:off x="1891605" y="657225"/>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5" name="Shape 3"/>
          <p:cNvSpPr/>
          <p:nvPr/>
        </p:nvSpPr>
        <p:spPr>
          <a:xfrm>
            <a:off x="2005905" y="771525"/>
            <a:ext cx="209550" cy="209550"/>
          </a:xfrm>
          <a:prstGeom prst="ellipse">
            <a:avLst/>
          </a:prstGeom>
          <a:ln w="19050">
            <a:solidFill>
              <a:srgbClr val="44E7EF"/>
            </a:solidFill>
            <a:prstDash val="solid"/>
          </a:ln>
        </p:spPr>
      </p:sp>
      <p:sp>
        <p:nvSpPr>
          <p:cNvPr id="6" name="Shape 4"/>
          <p:cNvSpPr/>
          <p:nvPr/>
        </p:nvSpPr>
        <p:spPr>
          <a:xfrm>
            <a:off x="2053530" y="847725"/>
            <a:ext cx="76200" cy="19050"/>
          </a:xfrm>
          <a:prstGeom prst="rect">
            <a:avLst/>
          </a:prstGeom>
          <a:solidFill>
            <a:srgbClr val="44E7EF"/>
          </a:solidFill>
          <a:ln/>
        </p:spPr>
      </p:sp>
      <p:sp>
        <p:nvSpPr>
          <p:cNvPr id="7" name="Text 5"/>
          <p:cNvSpPr/>
          <p:nvPr/>
        </p:nvSpPr>
        <p:spPr>
          <a:xfrm>
            <a:off x="2463105" y="802481"/>
            <a:ext cx="1697519"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1ACFDF"/>
                </a:solidFill>
                <a:latin typeface="Arial" pitchFamily="34" charset="0"/>
                <a:ea typeface="Arial" pitchFamily="34" charset="-122"/>
                <a:cs typeface="Arial" pitchFamily="34" charset="-120"/>
              </a:rPr>
              <a:t>SOLUTION APPORTÉE</a:t>
            </a:r>
            <a:endParaRPr lang="en-US" sz="975" dirty="0"/>
          </a:p>
        </p:txBody>
      </p:sp>
      <p:sp>
        <p:nvSpPr>
          <p:cNvPr id="8" name="Text 6"/>
          <p:cNvSpPr/>
          <p:nvPr/>
        </p:nvSpPr>
        <p:spPr>
          <a:xfrm>
            <a:off x="1891605" y="1323975"/>
            <a:ext cx="9712643" cy="936650"/>
          </a:xfrm>
          <a:prstGeom prst="rect">
            <a:avLst/>
          </a:prstGeom>
          <a:noFill/>
          <a:ln/>
        </p:spPr>
        <p:txBody>
          <a:bodyPr wrap="square" lIns="25400" tIns="25400" rIns="25400" bIns="25400" rtlCol="0" anchor="t">
            <a:normAutofit/>
          </a:bodyPr>
          <a:lstStyle/>
          <a:p>
            <a:pPr algn="l" indent="0" marL="0">
              <a:lnSpc>
                <a:spcPct val="185000"/>
              </a:lnSpc>
              <a:buNone/>
            </a:pPr>
            <a:r>
              <a:rPr lang="en-US" sz="1275" b="1" dirty="0">
                <a:solidFill>
                  <a:srgbClr val="FFFFFF"/>
                </a:solidFill>
                <a:latin typeface="Arial" pitchFamily="34" charset="0"/>
                <a:ea typeface="Arial" pitchFamily="34" charset="-122"/>
                <a:cs typeface="Arial" pitchFamily="34" charset="-120"/>
              </a:rPr>
              <a:t>Solution apportée : </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Conception d'un outil de veille réglementaire automatisée qui couvre 13 organismes institutionnels du secteur ferroviaire. La solution consolide l'information et génère automatiquement une synthèse diffusée sous forme de newsletter hebdomadaire. </a:t>
            </a:r>
            <a:pPr algn="l" indent="0" marL="0">
              <a:lnSpc>
                <a:spcPct val="185000"/>
              </a:lnSpc>
              <a:buNone/>
            </a:pPr>
            <a:r>
              <a:rPr lang="en-US" sz="1275" b="1" dirty="0">
                <a:solidFill>
                  <a:srgbClr val="24E9F2"/>
                </a:solidFill>
                <a:highlight>
                  <a:srgbClr val="A6BFC3"/>
                </a:highlight>
                <a:latin typeface="Arial" pitchFamily="34" charset="0"/>
                <a:ea typeface="Arial" pitchFamily="34" charset="-122"/>
                <a:cs typeface="Arial" pitchFamily="34" charset="-120"/>
              </a:rPr>
              <a:t>L'équipe n'a plus qu'à valider les informations, sans avoir à les rechercher manuellement</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a:t>
            </a:r>
            <a:endParaRPr lang="en-US" sz="1275" dirty="0"/>
          </a:p>
        </p:txBody>
      </p:sp>
      <p:sp>
        <p:nvSpPr>
          <p:cNvPr id="9" name="Text 7"/>
          <p:cNvSpPr/>
          <p:nvPr/>
        </p:nvSpPr>
        <p:spPr>
          <a:xfrm>
            <a:off x="1891605" y="2489225"/>
            <a:ext cx="10372725" cy="176212"/>
          </a:xfrm>
          <a:prstGeom prst="rect">
            <a:avLst/>
          </a:prstGeom>
          <a:noFill/>
          <a:ln/>
        </p:spPr>
        <p:txBody>
          <a:bodyPr wrap="square" lIns="25400" tIns="25400" rIns="25400" bIns="25400" rtlCol="0" anchor="t">
            <a:normAutofit/>
          </a:bodyPr>
          <a:lstStyle/>
          <a:p>
            <a:pPr algn="l" indent="0" marL="0">
              <a:buNone/>
            </a:pPr>
            <a:r>
              <a:rPr lang="en-US" sz="938" spc="94" kern="0" dirty="0">
                <a:solidFill>
                  <a:srgbClr val="8291A1"/>
                </a:solidFill>
                <a:latin typeface="Arial" pitchFamily="34" charset="0"/>
                <a:ea typeface="Arial" pitchFamily="34" charset="-122"/>
                <a:cs typeface="Arial" pitchFamily="34" charset="-120"/>
              </a:rPr>
              <a:t>FONCTIONNEMENT DE L'OUTIL</a:t>
            </a:r>
            <a:endParaRPr lang="en-US" sz="938" dirty="0"/>
          </a:p>
        </p:txBody>
      </p:sp>
      <p:sp>
        <p:nvSpPr>
          <p:cNvPr id="10" name="Shape 8"/>
          <p:cNvSpPr/>
          <p:nvPr/>
        </p:nvSpPr>
        <p:spPr>
          <a:xfrm>
            <a:off x="1891605" y="2779737"/>
            <a:ext cx="1877244"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1" name="Text 9"/>
          <p:cNvSpPr/>
          <p:nvPr/>
        </p:nvSpPr>
        <p:spPr>
          <a:xfrm>
            <a:off x="2034480" y="2922612"/>
            <a:ext cx="1591494"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12 sources réglementaires</a:t>
            </a:r>
            <a:endParaRPr lang="en-US" sz="1013" dirty="0"/>
          </a:p>
        </p:txBody>
      </p:sp>
      <p:sp>
        <p:nvSpPr>
          <p:cNvPr id="12" name="Text 10"/>
          <p:cNvSpPr/>
          <p:nvPr/>
        </p:nvSpPr>
        <p:spPr>
          <a:xfrm>
            <a:off x="3864099"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3" name="Shape 11"/>
          <p:cNvSpPr/>
          <p:nvPr/>
        </p:nvSpPr>
        <p:spPr>
          <a:xfrm>
            <a:off x="4130799" y="2779737"/>
            <a:ext cx="220593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4" name="Text 12"/>
          <p:cNvSpPr/>
          <p:nvPr/>
        </p:nvSpPr>
        <p:spPr>
          <a:xfrm>
            <a:off x="4273674" y="2922612"/>
            <a:ext cx="192018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Veille automatisée multi-sources</a:t>
            </a:r>
            <a:endParaRPr lang="en-US" sz="1013" dirty="0"/>
          </a:p>
        </p:txBody>
      </p:sp>
      <p:sp>
        <p:nvSpPr>
          <p:cNvPr id="15" name="Text 13"/>
          <p:cNvSpPr/>
          <p:nvPr/>
        </p:nvSpPr>
        <p:spPr>
          <a:xfrm>
            <a:off x="6431979"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6" name="Shape 14"/>
          <p:cNvSpPr/>
          <p:nvPr/>
        </p:nvSpPr>
        <p:spPr>
          <a:xfrm>
            <a:off x="6698679" y="2779737"/>
            <a:ext cx="2041624"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7" name="Text 15"/>
          <p:cNvSpPr/>
          <p:nvPr/>
        </p:nvSpPr>
        <p:spPr>
          <a:xfrm>
            <a:off x="6841554" y="2922612"/>
            <a:ext cx="1755874"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Extraction et parsing par LLM</a:t>
            </a:r>
            <a:endParaRPr lang="en-US" sz="1013" dirty="0"/>
          </a:p>
        </p:txBody>
      </p:sp>
      <p:sp>
        <p:nvSpPr>
          <p:cNvPr id="18" name="Text 16"/>
          <p:cNvSpPr/>
          <p:nvPr/>
        </p:nvSpPr>
        <p:spPr>
          <a:xfrm>
            <a:off x="8835554"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9" name="Shape 17"/>
          <p:cNvSpPr/>
          <p:nvPr/>
        </p:nvSpPr>
        <p:spPr>
          <a:xfrm>
            <a:off x="9102254" y="2779737"/>
            <a:ext cx="183453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0" name="Text 18"/>
          <p:cNvSpPr/>
          <p:nvPr/>
        </p:nvSpPr>
        <p:spPr>
          <a:xfrm>
            <a:off x="9245129" y="2922612"/>
            <a:ext cx="154878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Consolidation et synthèse</a:t>
            </a:r>
            <a:endParaRPr lang="en-US" sz="1013" dirty="0"/>
          </a:p>
        </p:txBody>
      </p:sp>
      <p:sp>
        <p:nvSpPr>
          <p:cNvPr id="21" name="Text 19"/>
          <p:cNvSpPr/>
          <p:nvPr/>
        </p:nvSpPr>
        <p:spPr>
          <a:xfrm>
            <a:off x="11032034"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2" name="Shape 20"/>
          <p:cNvSpPr/>
          <p:nvPr/>
        </p:nvSpPr>
        <p:spPr>
          <a:xfrm>
            <a:off x="1891605" y="3308375"/>
            <a:ext cx="1827237"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3" name="Text 21"/>
          <p:cNvSpPr/>
          <p:nvPr/>
        </p:nvSpPr>
        <p:spPr>
          <a:xfrm>
            <a:off x="2034480" y="3451250"/>
            <a:ext cx="1541487"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Newsletter hebdomadaire</a:t>
            </a:r>
            <a:endParaRPr lang="en-US" sz="1013" dirty="0"/>
          </a:p>
        </p:txBody>
      </p:sp>
      <p:sp>
        <p:nvSpPr>
          <p:cNvPr id="24" name="Text 22"/>
          <p:cNvSpPr/>
          <p:nvPr/>
        </p:nvSpPr>
        <p:spPr>
          <a:xfrm>
            <a:off x="3814093" y="3420294"/>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5" name="Shape 23"/>
          <p:cNvSpPr/>
          <p:nvPr/>
        </p:nvSpPr>
        <p:spPr>
          <a:xfrm>
            <a:off x="4080793" y="3308375"/>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6" name="Text 24"/>
          <p:cNvSpPr/>
          <p:nvPr/>
        </p:nvSpPr>
        <p:spPr>
          <a:xfrm>
            <a:off x="4223668" y="3451250"/>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Validation par l'équipe</a:t>
            </a:r>
            <a:endParaRPr lang="en-US" sz="10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48630" y="190500"/>
            <a:ext cx="113157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SOUS LE CAPOT</a:t>
            </a:r>
            <a:endParaRPr lang="en-US" sz="975" dirty="0"/>
          </a:p>
        </p:txBody>
      </p:sp>
      <p:sp>
        <p:nvSpPr>
          <p:cNvPr id="3" name="Text 1"/>
          <p:cNvSpPr/>
          <p:nvPr/>
        </p:nvSpPr>
        <p:spPr>
          <a:xfrm>
            <a:off x="948630" y="395288"/>
            <a:ext cx="11315700"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Expertises techniques utilisées</a:t>
            </a:r>
            <a:endParaRPr lang="en-US" sz="2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01230" y="1123950"/>
            <a:ext cx="7810500" cy="6074792"/>
          </a:xfrm>
          <a:prstGeom prst="rect">
            <a:avLst/>
          </a:prstGeom>
        </p:spPr>
      </p:pic>
      <p:sp>
        <p:nvSpPr>
          <p:cNvPr id="5" name="Shape 2"/>
          <p:cNvSpPr/>
          <p:nvPr/>
        </p:nvSpPr>
        <p:spPr>
          <a:xfrm>
            <a:off x="5777805" y="3593232"/>
            <a:ext cx="1657350" cy="1657350"/>
          </a:xfrm>
          <a:prstGeom prst="ellipse">
            <a:avLst/>
          </a:prstGeom>
          <a:ln w="9525">
            <a:solidFill>
              <a:srgbClr val="00B5C7">
                <a:alpha val="70000"/>
              </a:srgbClr>
            </a:solidFill>
            <a:prstDash val="solid"/>
          </a:ln>
          <a:effectLst>
            <a:outerShdw sx="100000" sy="100000" kx="0" ky="0" algn="bl" rotWithShape="0" blurRad="523875" dist="50800" dir="16200000">
              <a:srgbClr val="000000">
                <a:alpha val="30000"/>
              </a:srgbClr>
            </a:outerShdw>
          </a:effectLst>
        </p:spPr>
      </p:sp>
      <p:sp>
        <p:nvSpPr>
          <p:cNvPr id="6" name="Text 3"/>
          <p:cNvSpPr/>
          <p:nvPr/>
        </p:nvSpPr>
        <p:spPr>
          <a:xfrm>
            <a:off x="6242224" y="4223817"/>
            <a:ext cx="728439" cy="434280"/>
          </a:xfrm>
          <a:prstGeom prst="rect">
            <a:avLst/>
          </a:prstGeom>
          <a:noFill/>
          <a:ln/>
        </p:spPr>
        <p:txBody>
          <a:bodyPr wrap="square" lIns="25400" tIns="25400" rIns="25400" bIns="25400" rtlCol="0" anchor="t">
            <a:normAutofit/>
          </a:bodyPr>
          <a:lstStyle/>
          <a:p>
            <a:pPr algn="ctr" indent="0" marL="0">
              <a:lnSpc>
                <a:spcPct val="130000"/>
              </a:lnSpc>
              <a:buNone/>
            </a:pPr>
            <a:r>
              <a:rPr lang="en-US" sz="1200" b="1" dirty="0">
                <a:solidFill>
                  <a:srgbClr val="FFFFFF"/>
                </a:solidFill>
                <a:latin typeface="Arial" pitchFamily="34" charset="0"/>
                <a:ea typeface="Arial" pitchFamily="34" charset="-122"/>
                <a:cs typeface="Arial" pitchFamily="34" charset="-120"/>
              </a:rPr>
              <a:t>Veille Data &amp; IA</a:t>
            </a:r>
            <a:endParaRPr lang="en-US" sz="1200" dirty="0"/>
          </a:p>
        </p:txBody>
      </p:sp>
      <p:sp>
        <p:nvSpPr>
          <p:cNvPr id="7" name="Shape 4"/>
          <p:cNvSpPr/>
          <p:nvPr/>
        </p:nvSpPr>
        <p:spPr>
          <a:xfrm>
            <a:off x="5434905" y="1590824"/>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8" name="Shape 5"/>
          <p:cNvSpPr/>
          <p:nvPr/>
        </p:nvSpPr>
        <p:spPr>
          <a:xfrm>
            <a:off x="5596830" y="1733699"/>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9" name="Shape 6"/>
          <p:cNvSpPr/>
          <p:nvPr/>
        </p:nvSpPr>
        <p:spPr>
          <a:xfrm>
            <a:off x="5711130" y="1847999"/>
            <a:ext cx="114300" cy="114300"/>
          </a:xfrm>
          <a:prstGeom prst="roundRect">
            <a:avLst>
              <a:gd name="adj" fmla="val 33333"/>
            </a:avLst>
          </a:prstGeom>
          <a:solidFill>
            <a:srgbClr val="28D6DF"/>
          </a:solidFill>
          <a:ln/>
        </p:spPr>
      </p:sp>
      <p:sp>
        <p:nvSpPr>
          <p:cNvPr id="10" name="Text 7"/>
          <p:cNvSpPr/>
          <p:nvPr/>
        </p:nvSpPr>
        <p:spPr>
          <a:xfrm>
            <a:off x="6054030" y="1744191"/>
            <a:ext cx="1638300" cy="360015"/>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Veille automatisée multi-sources</a:t>
            </a:r>
            <a:endParaRPr lang="en-US" sz="975" dirty="0"/>
          </a:p>
        </p:txBody>
      </p:sp>
      <p:sp>
        <p:nvSpPr>
          <p:cNvPr id="11" name="Shape 8"/>
          <p:cNvSpPr/>
          <p:nvPr/>
        </p:nvSpPr>
        <p:spPr>
          <a:xfrm>
            <a:off x="7827987" y="3330029"/>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2" name="Shape 9"/>
          <p:cNvSpPr/>
          <p:nvPr/>
        </p:nvSpPr>
        <p:spPr>
          <a:xfrm>
            <a:off x="7989912" y="3472904"/>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13" name="Shape 10"/>
          <p:cNvSpPr/>
          <p:nvPr/>
        </p:nvSpPr>
        <p:spPr>
          <a:xfrm>
            <a:off x="8104212" y="3587204"/>
            <a:ext cx="114300" cy="114300"/>
          </a:xfrm>
          <a:prstGeom prst="ellipse">
            <a:avLst/>
          </a:prstGeom>
          <a:solidFill>
            <a:srgbClr val="28D6DF"/>
          </a:solidFill>
          <a:ln/>
        </p:spPr>
      </p:sp>
      <p:sp>
        <p:nvSpPr>
          <p:cNvPr id="14" name="Text 11"/>
          <p:cNvSpPr/>
          <p:nvPr/>
        </p:nvSpPr>
        <p:spPr>
          <a:xfrm>
            <a:off x="8447112" y="3563838"/>
            <a:ext cx="1593399" cy="199058"/>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Envoi automatique d'email</a:t>
            </a:r>
            <a:endParaRPr lang="en-US" sz="975" dirty="0"/>
          </a:p>
        </p:txBody>
      </p:sp>
      <p:sp>
        <p:nvSpPr>
          <p:cNvPr id="15" name="Shape 12"/>
          <p:cNvSpPr/>
          <p:nvPr/>
        </p:nvSpPr>
        <p:spPr>
          <a:xfrm>
            <a:off x="6914183" y="6143253"/>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6" name="Shape 13"/>
          <p:cNvSpPr/>
          <p:nvPr/>
        </p:nvSpPr>
        <p:spPr>
          <a:xfrm>
            <a:off x="7076108" y="6286128"/>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17" name="Shape 14"/>
          <p:cNvSpPr/>
          <p:nvPr/>
        </p:nvSpPr>
        <p:spPr>
          <a:xfrm>
            <a:off x="7190408" y="6400428"/>
            <a:ext cx="114300" cy="114300"/>
          </a:xfrm>
          <a:prstGeom prst="roundRect">
            <a:avLst>
              <a:gd name="adj" fmla="val 25000"/>
            </a:avLst>
          </a:prstGeom>
          <a:solidFill>
            <a:srgbClr val="28D6DF"/>
          </a:solidFill>
          <a:ln/>
        </p:spPr>
      </p:sp>
      <p:sp>
        <p:nvSpPr>
          <p:cNvPr id="18" name="Text 15"/>
          <p:cNvSpPr/>
          <p:nvPr/>
        </p:nvSpPr>
        <p:spPr>
          <a:xfrm>
            <a:off x="7533308" y="6377062"/>
            <a:ext cx="831056" cy="199058"/>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Web scraping</a:t>
            </a:r>
            <a:endParaRPr lang="en-US" sz="975" dirty="0"/>
          </a:p>
        </p:txBody>
      </p:sp>
      <p:sp>
        <p:nvSpPr>
          <p:cNvPr id="19" name="Shape 16"/>
          <p:cNvSpPr/>
          <p:nvPr/>
        </p:nvSpPr>
        <p:spPr>
          <a:xfrm>
            <a:off x="3955554" y="6073267"/>
            <a:ext cx="2343150" cy="768623"/>
          </a:xfrm>
          <a:prstGeom prst="roundRect">
            <a:avLst>
              <a:gd name="adj" fmla="val 17349"/>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20" name="Shape 17"/>
          <p:cNvSpPr/>
          <p:nvPr/>
        </p:nvSpPr>
        <p:spPr>
          <a:xfrm>
            <a:off x="4117479" y="6286091"/>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21" name="Shape 18"/>
          <p:cNvSpPr/>
          <p:nvPr/>
        </p:nvSpPr>
        <p:spPr>
          <a:xfrm>
            <a:off x="4231779" y="6400391"/>
            <a:ext cx="114300" cy="114300"/>
          </a:xfrm>
          <a:prstGeom prst="ellipse">
            <a:avLst/>
          </a:prstGeom>
          <a:solidFill>
            <a:srgbClr val="28D6DF"/>
          </a:solidFill>
          <a:ln/>
        </p:spPr>
      </p:sp>
      <p:sp>
        <p:nvSpPr>
          <p:cNvPr id="22" name="Text 19"/>
          <p:cNvSpPr/>
          <p:nvPr/>
        </p:nvSpPr>
        <p:spPr>
          <a:xfrm>
            <a:off x="4574679" y="6216142"/>
            <a:ext cx="1638300" cy="520973"/>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Extraction et parsing par LLM (Large Language Model)</a:t>
            </a:r>
            <a:endParaRPr lang="en-US" sz="975" dirty="0"/>
          </a:p>
        </p:txBody>
      </p:sp>
      <p:sp>
        <p:nvSpPr>
          <p:cNvPr id="23" name="Shape 20"/>
          <p:cNvSpPr/>
          <p:nvPr/>
        </p:nvSpPr>
        <p:spPr>
          <a:xfrm>
            <a:off x="3041749" y="3330029"/>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24" name="Shape 21"/>
          <p:cNvSpPr/>
          <p:nvPr/>
        </p:nvSpPr>
        <p:spPr>
          <a:xfrm>
            <a:off x="3203674" y="3472904"/>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25" name="Shape 22"/>
          <p:cNvSpPr/>
          <p:nvPr/>
        </p:nvSpPr>
        <p:spPr>
          <a:xfrm>
            <a:off x="3317974" y="3587204"/>
            <a:ext cx="114300" cy="114300"/>
          </a:xfrm>
          <a:prstGeom prst="roundRect">
            <a:avLst>
              <a:gd name="adj" fmla="val 33333"/>
            </a:avLst>
          </a:prstGeom>
          <a:solidFill>
            <a:srgbClr val="28D6DF"/>
          </a:solidFill>
          <a:ln/>
        </p:spPr>
      </p:sp>
      <p:sp>
        <p:nvSpPr>
          <p:cNvPr id="26" name="Text 23"/>
          <p:cNvSpPr/>
          <p:nvPr/>
        </p:nvSpPr>
        <p:spPr>
          <a:xfrm>
            <a:off x="3660874" y="3483397"/>
            <a:ext cx="1638300" cy="360015"/>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Structuration automatisée de l'information</a:t>
            </a:r>
            <a:endParaRPr lang="en-US" sz="975" dirty="0"/>
          </a:p>
        </p:txBody>
      </p:sp>
      <p:sp>
        <p:nvSpPr>
          <p:cNvPr id="27" name="Text 24"/>
          <p:cNvSpPr/>
          <p:nvPr/>
        </p:nvSpPr>
        <p:spPr>
          <a:xfrm>
            <a:off x="2682180" y="7617842"/>
            <a:ext cx="7848600" cy="512415"/>
          </a:xfrm>
          <a:prstGeom prst="rect">
            <a:avLst/>
          </a:prstGeom>
          <a:noFill/>
          <a:ln/>
        </p:spPr>
        <p:txBody>
          <a:bodyPr wrap="square" lIns="25400" tIns="25400" rIns="25400" bIns="25400" rtlCol="0" anchor="t">
            <a:normAutofit/>
          </a:bodyPr>
          <a:lstStyle/>
          <a:p>
            <a:pPr algn="ctr" indent="0" marL="0">
              <a:lnSpc>
                <a:spcPct val="170000"/>
              </a:lnSpc>
              <a:buNone/>
            </a:pPr>
            <a:r>
              <a:rPr lang="en-US" sz="1088" b="1" dirty="0">
                <a:solidFill>
                  <a:srgbClr val="C4CFDB"/>
                </a:solidFill>
                <a:latin typeface="Arial" pitchFamily="34" charset="0"/>
                <a:ea typeface="Arial" pitchFamily="34" charset="-122"/>
                <a:cs typeface="Arial" pitchFamily="34" charset="-120"/>
              </a:rPr>
              <a:t>Expertises techniques utilisées : </a:t>
            </a:r>
            <a:pPr algn="ctr" indent="0" marL="0">
              <a:lnSpc>
                <a:spcPct val="170000"/>
              </a:lnSpc>
              <a:buNone/>
            </a:pPr>
            <a:r>
              <a:rPr lang="en-US" sz="1088" dirty="0">
                <a:solidFill>
                  <a:srgbClr val="8F9AA5"/>
                </a:solidFill>
                <a:latin typeface="Arial" pitchFamily="34" charset="0"/>
                <a:ea typeface="Arial" pitchFamily="34" charset="-122"/>
                <a:cs typeface="Arial" pitchFamily="34" charset="-120"/>
              </a:rPr>
              <a:t>Veille automatisée multi-sources, envoi automatique d'email, Web scraping, extraction et parsing par LLM (Large Language Model), structuration automatisée de l'information.</a:t>
            </a:r>
            <a:endParaRPr lang="en-US" sz="108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10530" y="190500"/>
            <a:ext cx="121539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RÉSULTAT</a:t>
            </a:r>
            <a:endParaRPr lang="en-US" sz="975" dirty="0"/>
          </a:p>
        </p:txBody>
      </p:sp>
      <p:sp>
        <p:nvSpPr>
          <p:cNvPr id="3" name="Text 1"/>
          <p:cNvSpPr/>
          <p:nvPr/>
        </p:nvSpPr>
        <p:spPr>
          <a:xfrm>
            <a:off x="910530" y="395288"/>
            <a:ext cx="12153900"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Bénéfices pour le client</a:t>
            </a:r>
            <a:endParaRPr lang="en-US" sz="2400" dirty="0"/>
          </a:p>
        </p:txBody>
      </p:sp>
      <p:sp>
        <p:nvSpPr>
          <p:cNvPr id="4" name="Shape 2"/>
          <p:cNvSpPr/>
          <p:nvPr/>
        </p:nvSpPr>
        <p:spPr>
          <a:xfrm>
            <a:off x="1462980" y="1128713"/>
            <a:ext cx="3543300" cy="1434331"/>
          </a:xfrm>
          <a:prstGeom prst="roundRect">
            <a:avLst>
              <a:gd name="adj" fmla="val 1195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5" name="Text 3"/>
          <p:cNvSpPr/>
          <p:nvPr/>
        </p:nvSpPr>
        <p:spPr>
          <a:xfrm>
            <a:off x="1701105" y="1404938"/>
            <a:ext cx="3373755"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~70min → 5min</a:t>
            </a:r>
            <a:endParaRPr lang="en-US" sz="2100" dirty="0"/>
          </a:p>
        </p:txBody>
      </p:sp>
      <p:sp>
        <p:nvSpPr>
          <p:cNvPr id="6" name="Text 4"/>
          <p:cNvSpPr/>
          <p:nvPr/>
        </p:nvSpPr>
        <p:spPr>
          <a:xfrm>
            <a:off x="1701105" y="1844948"/>
            <a:ext cx="3159062"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Temps de veille manuel réduit de ~70 minutes à 5 minutes (validation humaine uniquement)</a:t>
            </a:r>
            <a:endParaRPr lang="en-US" sz="1088" dirty="0"/>
          </a:p>
        </p:txBody>
      </p:sp>
      <p:sp>
        <p:nvSpPr>
          <p:cNvPr id="7" name="Shape 5"/>
          <p:cNvSpPr/>
          <p:nvPr/>
        </p:nvSpPr>
        <p:spPr>
          <a:xfrm>
            <a:off x="5215830" y="1128713"/>
            <a:ext cx="3543300" cy="1434331"/>
          </a:xfrm>
          <a:prstGeom prst="roundRect">
            <a:avLst>
              <a:gd name="adj" fmla="val 1195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8" name="Text 6"/>
          <p:cNvSpPr/>
          <p:nvPr/>
        </p:nvSpPr>
        <p:spPr>
          <a:xfrm>
            <a:off x="5453955" y="1404938"/>
            <a:ext cx="3373755"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a:t>
            </a:r>
            <a:endParaRPr lang="en-US" sz="2100" dirty="0"/>
          </a:p>
        </p:txBody>
      </p:sp>
      <p:sp>
        <p:nvSpPr>
          <p:cNvPr id="9" name="Text 7"/>
          <p:cNvSpPr/>
          <p:nvPr/>
        </p:nvSpPr>
        <p:spPr>
          <a:xfrm>
            <a:off x="5453955" y="1844948"/>
            <a:ext cx="3159062"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Fiabilisation et exhaustivité de la veille réglementaire</a:t>
            </a:r>
            <a:endParaRPr lang="en-US" sz="1088" dirty="0"/>
          </a:p>
        </p:txBody>
      </p:sp>
      <p:sp>
        <p:nvSpPr>
          <p:cNvPr id="10" name="Shape 8"/>
          <p:cNvSpPr/>
          <p:nvPr/>
        </p:nvSpPr>
        <p:spPr>
          <a:xfrm>
            <a:off x="8968680" y="1128713"/>
            <a:ext cx="3543300" cy="1434331"/>
          </a:xfrm>
          <a:prstGeom prst="roundRect">
            <a:avLst>
              <a:gd name="adj" fmla="val 1195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1" name="Text 9"/>
          <p:cNvSpPr/>
          <p:nvPr/>
        </p:nvSpPr>
        <p:spPr>
          <a:xfrm>
            <a:off x="9206805" y="1404938"/>
            <a:ext cx="3373755"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a:t>
            </a:r>
            <a:endParaRPr lang="en-US" sz="2100" dirty="0"/>
          </a:p>
        </p:txBody>
      </p:sp>
      <p:sp>
        <p:nvSpPr>
          <p:cNvPr id="12" name="Text 10"/>
          <p:cNvSpPr/>
          <p:nvPr/>
        </p:nvSpPr>
        <p:spPr>
          <a:xfrm>
            <a:off x="9206805" y="1844948"/>
            <a:ext cx="3159062"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Risque d'oubli d'articles dans l'une des sources réduit au maximum</a:t>
            </a:r>
            <a:endParaRPr lang="en-US" sz="108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145125" cy="9525"/>
          </a:xfrm>
          <a:prstGeom prst="rect">
            <a:avLst/>
          </a:prstGeom>
          <a:solidFill>
            <a:srgbClr val="144D67">
              <a:alpha val="35000"/>
            </a:srgbClr>
          </a:solidFill>
          <a:ln/>
        </p:spPr>
      </p:sp>
      <p:sp>
        <p:nvSpPr>
          <p:cNvPr id="3" name="Text 1"/>
          <p:cNvSpPr/>
          <p:nvPr/>
        </p:nvSpPr>
        <p:spPr>
          <a:xfrm>
            <a:off x="702022" y="771525"/>
            <a:ext cx="1674108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EN SYNTHÈSE</a:t>
            </a:r>
            <a:endParaRPr lang="en-US" sz="975" dirty="0"/>
          </a:p>
        </p:txBody>
      </p:sp>
      <p:sp>
        <p:nvSpPr>
          <p:cNvPr id="4" name="Text 2"/>
          <p:cNvSpPr/>
          <p:nvPr/>
        </p:nvSpPr>
        <p:spPr>
          <a:xfrm>
            <a:off x="702022" y="1052513"/>
            <a:ext cx="16741080" cy="366713"/>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D'une veille manuelle à une conformité renforcée</a:t>
            </a:r>
            <a:endParaRPr lang="en-US" sz="2250" dirty="0"/>
          </a:p>
        </p:txBody>
      </p:sp>
      <p:sp>
        <p:nvSpPr>
          <p:cNvPr id="5" name="Shape 3"/>
          <p:cNvSpPr/>
          <p:nvPr/>
        </p:nvSpPr>
        <p:spPr>
          <a:xfrm>
            <a:off x="4345856" y="1762125"/>
            <a:ext cx="2156371"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6" name="Text 4"/>
          <p:cNvSpPr/>
          <p:nvPr/>
        </p:nvSpPr>
        <p:spPr>
          <a:xfrm>
            <a:off x="4488731" y="1905000"/>
            <a:ext cx="1870621"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Veille manuelle et chronophage</a:t>
            </a:r>
            <a:endParaRPr lang="en-US" sz="1013" dirty="0"/>
          </a:p>
        </p:txBody>
      </p:sp>
      <p:sp>
        <p:nvSpPr>
          <p:cNvPr id="7" name="Text 5"/>
          <p:cNvSpPr/>
          <p:nvPr/>
        </p:nvSpPr>
        <p:spPr>
          <a:xfrm>
            <a:off x="6559376" y="187404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8" name="Shape 6"/>
          <p:cNvSpPr/>
          <p:nvPr/>
        </p:nvSpPr>
        <p:spPr>
          <a:xfrm>
            <a:off x="6864176" y="1762125"/>
            <a:ext cx="2363093"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9" name="Text 7"/>
          <p:cNvSpPr/>
          <p:nvPr/>
        </p:nvSpPr>
        <p:spPr>
          <a:xfrm>
            <a:off x="7007051" y="1905000"/>
            <a:ext cx="2077343"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Collecte automatisée multi-sources</a:t>
            </a:r>
            <a:endParaRPr lang="en-US" sz="1013" dirty="0"/>
          </a:p>
        </p:txBody>
      </p:sp>
      <p:sp>
        <p:nvSpPr>
          <p:cNvPr id="10" name="Text 8"/>
          <p:cNvSpPr/>
          <p:nvPr/>
        </p:nvSpPr>
        <p:spPr>
          <a:xfrm>
            <a:off x="9284419" y="187404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1" name="Shape 9"/>
          <p:cNvSpPr/>
          <p:nvPr/>
        </p:nvSpPr>
        <p:spPr>
          <a:xfrm>
            <a:off x="9589219" y="1762125"/>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2" name="Text 10"/>
          <p:cNvSpPr/>
          <p:nvPr/>
        </p:nvSpPr>
        <p:spPr>
          <a:xfrm>
            <a:off x="9732094" y="1905000"/>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Synthèse générée</a:t>
            </a:r>
            <a:endParaRPr lang="en-US" sz="1013" dirty="0"/>
          </a:p>
        </p:txBody>
      </p:sp>
      <p:sp>
        <p:nvSpPr>
          <p:cNvPr id="13" name="Text 11"/>
          <p:cNvSpPr/>
          <p:nvPr/>
        </p:nvSpPr>
        <p:spPr>
          <a:xfrm>
            <a:off x="11437069" y="187404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4" name="Shape 12"/>
          <p:cNvSpPr/>
          <p:nvPr/>
        </p:nvSpPr>
        <p:spPr>
          <a:xfrm>
            <a:off x="11741869" y="1762125"/>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5" name="Text 13"/>
          <p:cNvSpPr/>
          <p:nvPr/>
        </p:nvSpPr>
        <p:spPr>
          <a:xfrm>
            <a:off x="11884744" y="1905000"/>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Validation humaine</a:t>
            </a:r>
            <a:endParaRPr lang="en-US" sz="1013" dirty="0"/>
          </a:p>
        </p:txBody>
      </p:sp>
      <p:sp>
        <p:nvSpPr>
          <p:cNvPr id="16" name="Text 14"/>
          <p:cNvSpPr/>
          <p:nvPr/>
        </p:nvSpPr>
        <p:spPr>
          <a:xfrm>
            <a:off x="13589719" y="187404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7" name="Shape 15"/>
          <p:cNvSpPr/>
          <p:nvPr/>
        </p:nvSpPr>
        <p:spPr>
          <a:xfrm>
            <a:off x="8177213" y="2290763"/>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8" name="Text 16"/>
          <p:cNvSpPr/>
          <p:nvPr/>
        </p:nvSpPr>
        <p:spPr>
          <a:xfrm>
            <a:off x="8320088" y="2433638"/>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Conformité renforcée</a:t>
            </a:r>
            <a:endParaRPr lang="en-US" sz="1013" dirty="0"/>
          </a:p>
        </p:txBody>
      </p:sp>
      <p:sp>
        <p:nvSpPr>
          <p:cNvPr id="19" name="Shape 17"/>
          <p:cNvSpPr/>
          <p:nvPr/>
        </p:nvSpPr>
        <p:spPr>
          <a:xfrm>
            <a:off x="7500565" y="3181350"/>
            <a:ext cx="3143920" cy="490538"/>
          </a:xfrm>
          <a:prstGeom prst="roundRect">
            <a:avLst>
              <a:gd name="adj" fmla="val 50000"/>
            </a:avLst>
          </a:prstGeom>
          <a:ln/>
          <a:effectLst>
            <a:outerShdw sx="100000" sy="100000" kx="0" ky="0" algn="bl" rotWithShape="0" blurRad="381000" dist="50800" dir="16200000">
              <a:srgbClr val="000000">
                <a:alpha val="30000"/>
              </a:srgbClr>
            </a:outerShdw>
          </a:effectLst>
        </p:spPr>
      </p:sp>
      <p:sp>
        <p:nvSpPr>
          <p:cNvPr id="20" name="Text 18"/>
          <p:cNvSpPr/>
          <p:nvPr/>
        </p:nvSpPr>
        <p:spPr>
          <a:xfrm>
            <a:off x="7805365" y="3333750"/>
            <a:ext cx="2372395" cy="223838"/>
          </a:xfrm>
          <a:prstGeom prst="rect">
            <a:avLst/>
          </a:prstGeom>
          <a:noFill/>
          <a:ln/>
        </p:spPr>
        <p:txBody>
          <a:bodyPr wrap="square" lIns="0" tIns="0" rIns="0" bIns="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Découvrir nos autres cas d'usage</a:t>
            </a:r>
            <a:endParaRPr lang="en-US" sz="1125" dirty="0"/>
          </a:p>
        </p:txBody>
      </p:sp>
      <p:sp>
        <p:nvSpPr>
          <p:cNvPr id="21" name="Text 19"/>
          <p:cNvSpPr/>
          <p:nvPr/>
        </p:nvSpPr>
        <p:spPr>
          <a:xfrm>
            <a:off x="10158710" y="3333750"/>
            <a:ext cx="219075" cy="223838"/>
          </a:xfrm>
          <a:prstGeom prst="rect">
            <a:avLst/>
          </a:prstGeom>
          <a:noFill/>
          <a:ln/>
        </p:spPr>
        <p:txBody>
          <a:bodyPr wrap="square" lIns="25400" tIns="25400" rIns="25400" bIns="2540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2026-07-09T13:25:57Z</dcterms:created>
  <dcterms:modified xsi:type="dcterms:W3CDTF">2026-07-09T13:25:57Z</dcterms:modified>
</cp:coreProperties>
</file>