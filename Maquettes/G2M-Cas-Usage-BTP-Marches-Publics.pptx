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9525000"/>
  <p:notesSz cx="9525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4248150"/>
            <a:ext cx="18145125" cy="9525"/>
          </a:xfrm>
          <a:prstGeom prst="rect">
            <a:avLst/>
          </a:prstGeom>
          <a:solidFill>
            <a:srgbClr val="005F7E">
              <a:alpha val="35000"/>
            </a:srgbClr>
          </a:solidFill>
          <a:ln/>
        </p:spPr>
      </p:sp>
      <p:sp>
        <p:nvSpPr>
          <p:cNvPr id="3" name="Text 1"/>
          <p:cNvSpPr/>
          <p:nvPr/>
        </p:nvSpPr>
        <p:spPr>
          <a:xfrm>
            <a:off x="3167063" y="1198959"/>
            <a:ext cx="6776814" cy="200025"/>
          </a:xfrm>
          <a:prstGeom prst="rect">
            <a:avLst/>
          </a:prstGeom>
          <a:noFill/>
          <a:ln/>
        </p:spPr>
        <p:txBody>
          <a:bodyPr wrap="square" lIns="25400" tIns="25400" rIns="25400" bIns="25400" rtlCol="0" anchor="t">
            <a:normAutofit/>
          </a:bodyPr>
          <a:lstStyle/>
          <a:p>
            <a:pPr algn="l" indent="0" marL="0">
              <a:buNone/>
            </a:pPr>
            <a:r>
              <a:rPr lang="en-US" sz="1125" spc="56" kern="0" dirty="0">
                <a:solidFill>
                  <a:srgbClr val="95A0AB"/>
                </a:solidFill>
                <a:latin typeface="Arial" pitchFamily="34" charset="0"/>
                <a:ea typeface="Arial" pitchFamily="34" charset="-122"/>
                <a:cs typeface="Arial" pitchFamily="34" charset="-120"/>
              </a:rPr>
              <a:t>BTP - MARCHÉS PUBLICS</a:t>
            </a:r>
            <a:endParaRPr lang="en-US" sz="1125" dirty="0"/>
          </a:p>
        </p:txBody>
      </p:sp>
      <p:sp>
        <p:nvSpPr>
          <p:cNvPr id="4" name="Shape 2"/>
          <p:cNvSpPr/>
          <p:nvPr/>
        </p:nvSpPr>
        <p:spPr>
          <a:xfrm>
            <a:off x="3167063" y="1494234"/>
            <a:ext cx="6160740" cy="329133"/>
          </a:xfrm>
          <a:prstGeom prst="rect">
            <a:avLst/>
          </a:prstGeom>
          <a:solidFill>
            <a:srgbClr val="FFFFFF"/>
          </a:solidFill>
          <a:ln/>
        </p:spPr>
      </p:sp>
      <p:sp>
        <p:nvSpPr>
          <p:cNvPr id="5" name="Text 3"/>
          <p:cNvSpPr/>
          <p:nvPr/>
        </p:nvSpPr>
        <p:spPr>
          <a:xfrm>
            <a:off x="3167063" y="1494234"/>
            <a:ext cx="6776814" cy="367233"/>
          </a:xfrm>
          <a:prstGeom prst="rect">
            <a:avLst/>
          </a:prstGeom>
          <a:noFill/>
          <a:ln/>
        </p:spPr>
        <p:txBody>
          <a:bodyPr wrap="square" lIns="25400" tIns="25400" rIns="25400" bIns="25400" rtlCol="0" anchor="t">
            <a:normAutofit/>
          </a:bodyPr>
          <a:lstStyle/>
          <a:p>
            <a:pPr algn="l" indent="0" marL="0">
              <a:lnSpc>
                <a:spcPct val="108000"/>
              </a:lnSpc>
              <a:buNone/>
            </a:pPr>
            <a:r>
              <a:rPr lang="en-US" sz="2400" b="1" dirty="0">
                <a:solidFill>
                  <a:srgbClr val="000000"/>
                </a:solidFill>
                <a:latin typeface="Arial" pitchFamily="34" charset="0"/>
                <a:ea typeface="Arial" pitchFamily="34" charset="-122"/>
                <a:cs typeface="Arial" pitchFamily="34" charset="-120"/>
              </a:rPr>
              <a:t>Génération de documents métiers</a:t>
            </a:r>
            <a:endParaRPr lang="en-US" sz="2400" dirty="0"/>
          </a:p>
        </p:txBody>
      </p:sp>
      <p:sp>
        <p:nvSpPr>
          <p:cNvPr id="6" name="Text 4"/>
          <p:cNvSpPr/>
          <p:nvPr/>
        </p:nvSpPr>
        <p:spPr>
          <a:xfrm>
            <a:off x="3167063" y="2299618"/>
            <a:ext cx="5101590" cy="863873"/>
          </a:xfrm>
          <a:prstGeom prst="rect">
            <a:avLst/>
          </a:prstGeom>
          <a:noFill/>
          <a:ln/>
        </p:spPr>
        <p:txBody>
          <a:bodyPr wrap="square" lIns="25400" tIns="25400" rIns="25400" bIns="25400" rtlCol="0" anchor="t">
            <a:normAutofit/>
          </a:bodyPr>
          <a:lstStyle/>
          <a:p>
            <a:pPr algn="l" indent="0" marL="0">
              <a:lnSpc>
                <a:spcPct val="170000"/>
              </a:lnSpc>
              <a:buNone/>
            </a:pPr>
            <a:r>
              <a:rPr lang="en-US" sz="1275" dirty="0">
                <a:solidFill>
                  <a:srgbClr val="AEB9C4"/>
                </a:solidFill>
                <a:latin typeface="Arial" pitchFamily="34" charset="0"/>
                <a:ea typeface="Arial" pitchFamily="34" charset="-122"/>
                <a:cs typeface="Arial" pitchFamily="34" charset="-120"/>
              </a:rPr>
              <a:t>Comment l'IA transforme la rédaction manuelle des mémoires techniques en une génération automatisée, cohérente et fidèle au règlement de consultation.</a:t>
            </a:r>
            <a:endParaRPr lang="en-US" sz="1275" dirty="0"/>
          </a:p>
        </p:txBody>
      </p:sp>
      <p:sp>
        <p:nvSpPr>
          <p:cNvPr id="7" name="Shape 5"/>
          <p:cNvSpPr/>
          <p:nvPr/>
        </p:nvSpPr>
        <p:spPr>
          <a:xfrm>
            <a:off x="9937403" y="914400"/>
            <a:ext cx="4533900" cy="2495550"/>
          </a:xfrm>
          <a:prstGeom prst="roundRect">
            <a:avLst>
              <a:gd name="adj" fmla="val 9160"/>
            </a:avLst>
          </a:prstGeom>
          <a:ln w="9525">
            <a:solidFill>
              <a:srgbClr val="007382">
                <a:alpha val="40000"/>
              </a:srgbClr>
            </a:solidFill>
            <a:prstDash val="solid"/>
          </a:ln>
          <a:effectLst>
            <a:outerShdw sx="100000" sy="100000" kx="0" ky="0" algn="bl" rotWithShape="0" blurRad="571500" dist="50800" dir="16200000">
              <a:srgbClr val="000000">
                <a:alpha val="30000"/>
              </a:srgbClr>
            </a:outerShdw>
          </a:effectLst>
        </p:spPr>
      </p:sp>
      <p:sp>
        <p:nvSpPr>
          <p:cNvPr id="8" name="Shape 6"/>
          <p:cNvSpPr/>
          <p:nvPr/>
        </p:nvSpPr>
        <p:spPr>
          <a:xfrm>
            <a:off x="11890028" y="1314450"/>
            <a:ext cx="628650" cy="628650"/>
          </a:xfrm>
          <a:prstGeom prst="roundRect">
            <a:avLst>
              <a:gd name="adj" fmla="val 24242"/>
            </a:avLst>
          </a:prstGeom>
          <a:solidFill>
            <a:srgbClr val="00364C">
              <a:alpha val="50000"/>
            </a:srgbClr>
          </a:solidFill>
          <a:ln w="9525">
            <a:solidFill>
              <a:srgbClr val="00B6C8">
                <a:alpha val="60000"/>
              </a:srgbClr>
            </a:solidFill>
            <a:prstDash val="solid"/>
          </a:ln>
        </p:spPr>
      </p:sp>
      <p:sp>
        <p:nvSpPr>
          <p:cNvPr id="9" name="Shape 7"/>
          <p:cNvSpPr/>
          <p:nvPr/>
        </p:nvSpPr>
        <p:spPr>
          <a:xfrm>
            <a:off x="12061478" y="1485900"/>
            <a:ext cx="285750" cy="285750"/>
          </a:xfrm>
          <a:prstGeom prst="roundRect">
            <a:avLst>
              <a:gd name="adj" fmla="val 13333"/>
            </a:avLst>
          </a:prstGeom>
          <a:ln w="19050">
            <a:solidFill>
              <a:srgbClr val="58E5ED"/>
            </a:solidFill>
            <a:prstDash val="solid"/>
          </a:ln>
        </p:spPr>
      </p:sp>
      <p:sp>
        <p:nvSpPr>
          <p:cNvPr id="10" name="Text 8"/>
          <p:cNvSpPr/>
          <p:nvPr/>
        </p:nvSpPr>
        <p:spPr>
          <a:xfrm>
            <a:off x="10119330" y="2114550"/>
            <a:ext cx="4170045" cy="171450"/>
          </a:xfrm>
          <a:prstGeom prst="rect">
            <a:avLst/>
          </a:prstGeom>
          <a:noFill/>
          <a:ln/>
        </p:spPr>
        <p:txBody>
          <a:bodyPr wrap="square" lIns="25400" tIns="25400" rIns="25400" bIns="25400" rtlCol="0" anchor="t">
            <a:normAutofit/>
          </a:bodyPr>
          <a:lstStyle/>
          <a:p>
            <a:pPr algn="ctr" indent="0" marL="0">
              <a:buNone/>
            </a:pPr>
            <a:r>
              <a:rPr lang="en-US" sz="900" spc="90" kern="0" dirty="0">
                <a:solidFill>
                  <a:srgbClr val="83A5B0"/>
                </a:solidFill>
                <a:latin typeface="Arial" pitchFamily="34" charset="0"/>
                <a:ea typeface="Arial" pitchFamily="34" charset="-122"/>
                <a:cs typeface="Arial" pitchFamily="34" charset="-120"/>
              </a:rPr>
              <a:t>ILLUSTRATION — CHANTIER, DOCUMENTS &amp; IA</a:t>
            </a:r>
            <a:endParaRPr lang="en-US" sz="900" dirty="0"/>
          </a:p>
        </p:txBody>
      </p:sp>
      <p:sp>
        <p:nvSpPr>
          <p:cNvPr id="11" name="Text 9"/>
          <p:cNvSpPr/>
          <p:nvPr/>
        </p:nvSpPr>
        <p:spPr>
          <a:xfrm>
            <a:off x="10119330" y="2305050"/>
            <a:ext cx="4170045" cy="161925"/>
          </a:xfrm>
          <a:prstGeom prst="rect">
            <a:avLst/>
          </a:prstGeom>
          <a:noFill/>
          <a:ln/>
        </p:spPr>
        <p:txBody>
          <a:bodyPr wrap="square" lIns="25400" tIns="25400" rIns="25400" bIns="25400" rtlCol="0" anchor="t">
            <a:normAutofit/>
          </a:bodyPr>
          <a:lstStyle/>
          <a:p>
            <a:pPr algn="ctr" indent="0" marL="0">
              <a:buNone/>
            </a:pPr>
            <a:r>
              <a:rPr lang="en-US" sz="825" dirty="0">
                <a:solidFill>
                  <a:srgbClr val="5F767E"/>
                </a:solidFill>
                <a:latin typeface="Courier New" pitchFamily="34" charset="0"/>
                <a:ea typeface="Courier New" pitchFamily="34" charset="-122"/>
                <a:cs typeface="Courier New" pitchFamily="34" charset="-120"/>
              </a:rPr>
              <a:t>visuel à intégrer</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954881"/>
            <a:ext cx="514350" cy="514350"/>
          </a:xfrm>
          <a:prstGeom prst="roundRect">
            <a:avLst>
              <a:gd name="adj" fmla="val 25926"/>
            </a:avLst>
          </a:prstGeom>
          <a:solidFill>
            <a:srgbClr val="48140E">
              <a:alpha val="35000"/>
            </a:srgbClr>
          </a:solidFill>
          <a:ln w="9525">
            <a:solidFill>
              <a:srgbClr val="E7EBF2"/>
            </a:solidFill>
            <a:prstDash val="solid"/>
          </a:ln>
        </p:spPr>
      </p:sp>
      <p:sp>
        <p:nvSpPr>
          <p:cNvPr id="3" name="Shape 1"/>
          <p:cNvSpPr/>
          <p:nvPr/>
        </p:nvSpPr>
        <p:spPr>
          <a:xfrm>
            <a:off x="1605855" y="1069181"/>
            <a:ext cx="228600" cy="285750"/>
          </a:xfrm>
          <a:prstGeom prst="roundRect">
            <a:avLst>
              <a:gd name="adj" fmla="val 12500"/>
            </a:avLst>
          </a:prstGeom>
          <a:ln w="19050">
            <a:solidFill>
              <a:srgbClr val="E7EBF2"/>
            </a:solidFill>
            <a:prstDash val="solid"/>
          </a:ln>
        </p:spPr>
      </p:sp>
      <p:sp>
        <p:nvSpPr>
          <p:cNvPr id="4" name="Shape 2"/>
          <p:cNvSpPr/>
          <p:nvPr/>
        </p:nvSpPr>
        <p:spPr>
          <a:xfrm>
            <a:off x="1653480" y="1145381"/>
            <a:ext cx="95250" cy="19050"/>
          </a:xfrm>
          <a:prstGeom prst="rect">
            <a:avLst/>
          </a:prstGeom>
          <a:solidFill>
            <a:srgbClr val="FF9381"/>
          </a:solidFill>
          <a:ln/>
        </p:spPr>
      </p:sp>
      <p:sp>
        <p:nvSpPr>
          <p:cNvPr id="5" name="Shape 3"/>
          <p:cNvSpPr/>
          <p:nvPr/>
        </p:nvSpPr>
        <p:spPr>
          <a:xfrm>
            <a:off x="1653480" y="1193006"/>
            <a:ext cx="95250" cy="19050"/>
          </a:xfrm>
          <a:prstGeom prst="rect">
            <a:avLst/>
          </a:prstGeom>
          <a:solidFill>
            <a:srgbClr val="FF9381"/>
          </a:solidFill>
          <a:ln/>
        </p:spPr>
      </p:sp>
      <p:sp>
        <p:nvSpPr>
          <p:cNvPr id="6" name="Shape 4"/>
          <p:cNvSpPr/>
          <p:nvPr/>
        </p:nvSpPr>
        <p:spPr>
          <a:xfrm>
            <a:off x="1653480" y="1240631"/>
            <a:ext cx="57150" cy="19050"/>
          </a:xfrm>
          <a:prstGeom prst="rect">
            <a:avLst/>
          </a:prstGeom>
          <a:solidFill>
            <a:srgbClr val="FF9381"/>
          </a:solidFill>
          <a:ln/>
        </p:spPr>
      </p:sp>
      <p:sp>
        <p:nvSpPr>
          <p:cNvPr id="7" name="Text 5"/>
          <p:cNvSpPr/>
          <p:nvPr/>
        </p:nvSpPr>
        <p:spPr>
          <a:xfrm>
            <a:off x="2129730" y="952500"/>
            <a:ext cx="3037820"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8B9AAB"/>
                </a:solidFill>
                <a:latin typeface="Arial" pitchFamily="34" charset="0"/>
                <a:ea typeface="Arial" pitchFamily="34" charset="-122"/>
                <a:cs typeface="Arial" pitchFamily="34" charset="-120"/>
              </a:rPr>
              <a:t>LE POINT DE DÉPART</a:t>
            </a:r>
            <a:endParaRPr lang="en-US" sz="975" dirty="0"/>
          </a:p>
        </p:txBody>
      </p:sp>
      <p:sp>
        <p:nvSpPr>
          <p:cNvPr id="8" name="Text 6"/>
          <p:cNvSpPr/>
          <p:nvPr/>
        </p:nvSpPr>
        <p:spPr>
          <a:xfrm>
            <a:off x="2129730" y="1119188"/>
            <a:ext cx="303782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Problématique client</a:t>
            </a:r>
            <a:endParaRPr lang="en-US" sz="2400" dirty="0"/>
          </a:p>
        </p:txBody>
      </p:sp>
      <p:sp>
        <p:nvSpPr>
          <p:cNvPr id="9" name="Shape 7"/>
          <p:cNvSpPr/>
          <p:nvPr/>
        </p:nvSpPr>
        <p:spPr>
          <a:xfrm>
            <a:off x="1462980" y="1814513"/>
            <a:ext cx="10287000" cy="3588172"/>
          </a:xfrm>
          <a:prstGeom prst="roundRect">
            <a:avLst>
              <a:gd name="adj" fmla="val 5309"/>
            </a:avLst>
          </a:prstGeom>
          <a:ln w="9525">
            <a:solidFill>
              <a:srgbClr val="144E66">
                <a:alpha val="45000"/>
              </a:srgbClr>
            </a:solidFill>
            <a:prstDash val="solid"/>
          </a:ln>
          <a:effectLst>
            <a:outerShdw sx="100000" sy="100000" kx="0" ky="0" algn="bl" rotWithShape="0" blurRad="381000" dist="50800" dir="16200000">
              <a:srgbClr val="000000">
                <a:alpha val="30000"/>
              </a:srgbClr>
            </a:outerShdw>
          </a:effectLst>
        </p:spPr>
      </p:sp>
      <p:sp>
        <p:nvSpPr>
          <p:cNvPr id="10" name="Text 8"/>
          <p:cNvSpPr/>
          <p:nvPr/>
        </p:nvSpPr>
        <p:spPr>
          <a:xfrm>
            <a:off x="1853505" y="2205038"/>
            <a:ext cx="9791129" cy="1201043"/>
          </a:xfrm>
          <a:prstGeom prst="rect">
            <a:avLst/>
          </a:prstGeom>
          <a:noFill/>
          <a:ln/>
        </p:spPr>
        <p:txBody>
          <a:bodyPr wrap="square" lIns="25400" tIns="25400" rIns="25400" bIns="25400" rtlCol="0" anchor="t">
            <a:normAutofit/>
          </a:bodyPr>
          <a:lstStyle/>
          <a:p>
            <a:pPr algn="l" indent="0" marL="0">
              <a:lnSpc>
                <a:spcPct val="185000"/>
              </a:lnSpc>
              <a:buNone/>
            </a:pPr>
            <a:r>
              <a:rPr lang="en-US" sz="1238" b="1" dirty="0">
                <a:solidFill>
                  <a:srgbClr val="FFFFFF"/>
                </a:solidFill>
                <a:latin typeface="Arial" pitchFamily="34" charset="0"/>
                <a:ea typeface="Arial" pitchFamily="34" charset="-122"/>
                <a:cs typeface="Arial" pitchFamily="34" charset="-120"/>
              </a:rPr>
              <a:t>Problématique client :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Répondre à un appel d'offres public dans le BTP impose de produire un mémoire technique strictement conforme au règlement de consultation. Ce mémoire décrit notamment l'organisation, les moyens et la méthodologie prévus pour le chantier. Son contenu représente un enjeu majeur, car sa qualité influence directement la notation de l'offre face à celles des concurrents.</a:t>
            </a:r>
            <a:endParaRPr lang="en-US" sz="1238" dirty="0"/>
          </a:p>
        </p:txBody>
      </p:sp>
      <p:sp>
        <p:nvSpPr>
          <p:cNvPr id="11" name="Text 9"/>
          <p:cNvSpPr/>
          <p:nvPr/>
        </p:nvSpPr>
        <p:spPr>
          <a:xfrm>
            <a:off x="1853505" y="3558480"/>
            <a:ext cx="9791129" cy="1491779"/>
          </a:xfrm>
          <a:prstGeom prst="rect">
            <a:avLst/>
          </a:prstGeom>
          <a:noFill/>
          <a:ln/>
        </p:spPr>
        <p:txBody>
          <a:bodyPr wrap="square" lIns="25400" tIns="25400" rIns="25400" bIns="25400" rtlCol="0" anchor="t">
            <a:normAutofit/>
          </a:bodyPr>
          <a:lstStyle/>
          <a:p>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Chaque mémoire devait être rédigé presque entièrement à partir de zéro, en s'appuyant sur les mémoires précédents et sur le règlement de consultation propre à chaque marché, une tâche nécessitant </a:t>
            </a:r>
            <a:pPr algn="l" indent="0" marL="0">
              <a:lnSpc>
                <a:spcPct val="185000"/>
              </a:lnSpc>
              <a:buNone/>
            </a:pPr>
            <a:r>
              <a:rPr lang="en-US" sz="1238" b="1" dirty="0">
                <a:solidFill>
                  <a:srgbClr val="FFA077"/>
                </a:solidFill>
                <a:highlight>
                  <a:srgbClr val="CBB8B2"/>
                </a:highlight>
                <a:latin typeface="Arial" pitchFamily="34" charset="0"/>
                <a:ea typeface="Arial" pitchFamily="34" charset="-122"/>
                <a:cs typeface="Arial" pitchFamily="34" charset="-120"/>
              </a:rPr>
              <a:t>en moyenne 3 heures de rédaction par dossier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 Pour une entreprise répondant à plusieurs appels d'offres en parallèle, cette charge devenait rapidement importante. Elle entraînait également un risque d'hétérogénéité entre les différents mémoires, tant sur le fond que sur le ton ou la structure, alors que la cohérence des documents constitue un véritable facteur de crédibilité auprès des maîtres d'ouvrage publics.</a:t>
            </a:r>
            <a:endParaRPr lang="en-US" sz="12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7046937" y="1085850"/>
            <a:ext cx="1679511"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B4685C"/>
                </a:solidFill>
                <a:latin typeface="Arial" pitchFamily="34" charset="0"/>
                <a:ea typeface="Arial" pitchFamily="34" charset="-122"/>
                <a:cs typeface="Arial" pitchFamily="34" charset="-120"/>
              </a:rPr>
              <a:t>RÉDACTION MANUELLE</a:t>
            </a:r>
            <a:endParaRPr lang="en-US" sz="900" dirty="0"/>
          </a:p>
        </p:txBody>
      </p:sp>
      <p:sp>
        <p:nvSpPr>
          <p:cNvPr id="3" name="Shape 1"/>
          <p:cNvSpPr/>
          <p:nvPr/>
        </p:nvSpPr>
        <p:spPr>
          <a:xfrm>
            <a:off x="8745215" y="1119188"/>
            <a:ext cx="66675" cy="66675"/>
          </a:xfrm>
          <a:prstGeom prst="ellipse">
            <a:avLst/>
          </a:prstGeom>
          <a:solidFill>
            <a:srgbClr val="00C9D3"/>
          </a:solidFill>
          <a:ln/>
        </p:spPr>
      </p:sp>
      <p:sp>
        <p:nvSpPr>
          <p:cNvPr id="4" name="Shape 2"/>
          <p:cNvSpPr/>
          <p:nvPr/>
        </p:nvSpPr>
        <p:spPr>
          <a:xfrm>
            <a:off x="8869040" y="1119188"/>
            <a:ext cx="66675" cy="66675"/>
          </a:xfrm>
          <a:prstGeom prst="ellipse">
            <a:avLst/>
          </a:prstGeom>
          <a:solidFill>
            <a:srgbClr val="00C9D3"/>
          </a:solidFill>
          <a:ln/>
        </p:spPr>
      </p:sp>
      <p:sp>
        <p:nvSpPr>
          <p:cNvPr id="5" name="Shape 3"/>
          <p:cNvSpPr/>
          <p:nvPr/>
        </p:nvSpPr>
        <p:spPr>
          <a:xfrm>
            <a:off x="8992865" y="1119188"/>
            <a:ext cx="66675" cy="66675"/>
          </a:xfrm>
          <a:prstGeom prst="ellipse">
            <a:avLst/>
          </a:prstGeom>
          <a:solidFill>
            <a:srgbClr val="00C9D3"/>
          </a:solidFill>
          <a:ln/>
        </p:spPr>
      </p:sp>
      <p:sp>
        <p:nvSpPr>
          <p:cNvPr id="6" name="Shape 4"/>
          <p:cNvSpPr/>
          <p:nvPr/>
        </p:nvSpPr>
        <p:spPr>
          <a:xfrm>
            <a:off x="9116690" y="1119188"/>
            <a:ext cx="66675" cy="66675"/>
          </a:xfrm>
          <a:prstGeom prst="ellipse">
            <a:avLst/>
          </a:prstGeom>
          <a:solidFill>
            <a:srgbClr val="00C9D3"/>
          </a:solidFill>
          <a:ln/>
        </p:spPr>
      </p:sp>
      <p:sp>
        <p:nvSpPr>
          <p:cNvPr id="7" name="Text 5"/>
          <p:cNvSpPr/>
          <p:nvPr/>
        </p:nvSpPr>
        <p:spPr>
          <a:xfrm>
            <a:off x="9354815" y="1085850"/>
            <a:ext cx="1917710"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00C8D1"/>
                </a:solidFill>
                <a:latin typeface="Arial" pitchFamily="34" charset="0"/>
                <a:ea typeface="Arial" pitchFamily="34" charset="-122"/>
                <a:cs typeface="Arial" pitchFamily="34" charset="-120"/>
              </a:rPr>
              <a:t>AUTOMATISATION PAR L'IA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1462980" y="228600"/>
            <a:ext cx="10287000" cy="3941787"/>
          </a:xfrm>
          <a:prstGeom prst="roundRect">
            <a:avLst>
              <a:gd name="adj" fmla="val 4833"/>
            </a:avLst>
          </a:prstGeom>
          <a:ln w="9525">
            <a:solidFill>
              <a:srgbClr val="008595">
                <a:alpha val="50000"/>
              </a:srgbClr>
            </a:solidFill>
            <a:prstDash val="solid"/>
          </a:ln>
          <a:effectLst>
            <a:outerShdw sx="100000" sy="100000" kx="0" ky="0" algn="bl" rotWithShape="0" blurRad="523875" dist="50800" dir="16200000">
              <a:srgbClr val="000000">
                <a:alpha val="30000"/>
              </a:srgbClr>
            </a:outerShdw>
          </a:effectLst>
        </p:spPr>
      </p:sp>
      <p:sp>
        <p:nvSpPr>
          <p:cNvPr id="3" name="Shape 1"/>
          <p:cNvSpPr/>
          <p:nvPr/>
        </p:nvSpPr>
        <p:spPr>
          <a:xfrm>
            <a:off x="10216455" y="-333375"/>
            <a:ext cx="2095500" cy="2095500"/>
          </a:xfrm>
          <a:prstGeom prst="ellipse">
            <a:avLst/>
          </a:prstGeom>
          <a:solidFill>
            <a:srgbClr val="00869A">
              <a:alpha val="15000"/>
            </a:srgbClr>
          </a:solidFill>
          <a:ln/>
        </p:spPr>
      </p:sp>
      <p:sp>
        <p:nvSpPr>
          <p:cNvPr id="4" name="Shape 2"/>
          <p:cNvSpPr/>
          <p:nvPr/>
        </p:nvSpPr>
        <p:spPr>
          <a:xfrm>
            <a:off x="1891605" y="657225"/>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5" name="Shape 3"/>
          <p:cNvSpPr/>
          <p:nvPr/>
        </p:nvSpPr>
        <p:spPr>
          <a:xfrm>
            <a:off x="2005905" y="771525"/>
            <a:ext cx="209550" cy="209550"/>
          </a:xfrm>
          <a:prstGeom prst="ellipse">
            <a:avLst/>
          </a:prstGeom>
          <a:ln w="19050">
            <a:solidFill>
              <a:srgbClr val="44E7EF"/>
            </a:solidFill>
            <a:prstDash val="solid"/>
          </a:ln>
        </p:spPr>
      </p:sp>
      <p:sp>
        <p:nvSpPr>
          <p:cNvPr id="6" name="Shape 4"/>
          <p:cNvSpPr/>
          <p:nvPr/>
        </p:nvSpPr>
        <p:spPr>
          <a:xfrm>
            <a:off x="2053530" y="847725"/>
            <a:ext cx="76200" cy="19050"/>
          </a:xfrm>
          <a:prstGeom prst="rect">
            <a:avLst/>
          </a:prstGeom>
          <a:solidFill>
            <a:srgbClr val="44E7EF"/>
          </a:solidFill>
          <a:ln/>
        </p:spPr>
      </p:sp>
      <p:sp>
        <p:nvSpPr>
          <p:cNvPr id="7" name="Text 5"/>
          <p:cNvSpPr/>
          <p:nvPr/>
        </p:nvSpPr>
        <p:spPr>
          <a:xfrm>
            <a:off x="2463105" y="802481"/>
            <a:ext cx="1697519"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1ACFDF"/>
                </a:solidFill>
                <a:latin typeface="Arial" pitchFamily="34" charset="0"/>
                <a:ea typeface="Arial" pitchFamily="34" charset="-122"/>
                <a:cs typeface="Arial" pitchFamily="34" charset="-120"/>
              </a:rPr>
              <a:t>SOLUTION APPORTÉE</a:t>
            </a:r>
            <a:endParaRPr lang="en-US" sz="975" dirty="0"/>
          </a:p>
        </p:txBody>
      </p:sp>
      <p:sp>
        <p:nvSpPr>
          <p:cNvPr id="8" name="Text 6"/>
          <p:cNvSpPr/>
          <p:nvPr/>
        </p:nvSpPr>
        <p:spPr>
          <a:xfrm>
            <a:off x="1891605" y="1323975"/>
            <a:ext cx="9712643" cy="936650"/>
          </a:xfrm>
          <a:prstGeom prst="rect">
            <a:avLst/>
          </a:prstGeom>
          <a:noFill/>
          <a:ln/>
        </p:spPr>
        <p:txBody>
          <a:bodyPr wrap="square" lIns="25400" tIns="25400" rIns="25400" bIns="25400" rtlCol="0" anchor="t">
            <a:normAutofit/>
          </a:bodyPr>
          <a:lstStyle/>
          <a:p>
            <a:pPr algn="l" indent="0" marL="0">
              <a:lnSpc>
                <a:spcPct val="185000"/>
              </a:lnSpc>
              <a:buNone/>
            </a:pPr>
            <a:r>
              <a:rPr lang="en-US" sz="1275" b="1" dirty="0">
                <a:solidFill>
                  <a:srgbClr val="FFFFFF"/>
                </a:solidFill>
                <a:latin typeface="Arial" pitchFamily="34" charset="0"/>
                <a:ea typeface="Arial" pitchFamily="34" charset="-122"/>
                <a:cs typeface="Arial" pitchFamily="34" charset="-120"/>
              </a:rPr>
              <a:t>Solution apportée : </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Développement d'une solution de génération de brouillons de mémoires techniques à partir des règlements de consultation et mémoires techniques déjà rédigés par l'entreprise. L'outil génère un premier brouillon complet et cohérent. </a:t>
            </a:r>
            <a:pPr algn="l" indent="0" marL="0">
              <a:lnSpc>
                <a:spcPct val="185000"/>
              </a:lnSpc>
              <a:buNone/>
            </a:pPr>
            <a:r>
              <a:rPr lang="en-US" sz="1275" b="1" dirty="0">
                <a:solidFill>
                  <a:srgbClr val="24E9F2"/>
                </a:solidFill>
                <a:highlight>
                  <a:srgbClr val="A6BFC3"/>
                </a:highlight>
                <a:latin typeface="Arial" pitchFamily="34" charset="0"/>
                <a:ea typeface="Arial" pitchFamily="34" charset="-122"/>
                <a:cs typeface="Arial" pitchFamily="34" charset="-120"/>
              </a:rPr>
              <a:t>Le rédacteur reprend un texte déjà structuré, qu'il ajuste et valide</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 plutôt que de partir de zéro.</a:t>
            </a:r>
            <a:endParaRPr lang="en-US" sz="1275" dirty="0"/>
          </a:p>
        </p:txBody>
      </p:sp>
      <p:sp>
        <p:nvSpPr>
          <p:cNvPr id="9" name="Text 7"/>
          <p:cNvSpPr/>
          <p:nvPr/>
        </p:nvSpPr>
        <p:spPr>
          <a:xfrm>
            <a:off x="1891605" y="2489225"/>
            <a:ext cx="10372725" cy="176212"/>
          </a:xfrm>
          <a:prstGeom prst="rect">
            <a:avLst/>
          </a:prstGeom>
          <a:noFill/>
          <a:ln/>
        </p:spPr>
        <p:txBody>
          <a:bodyPr wrap="square" lIns="25400" tIns="25400" rIns="25400" bIns="25400" rtlCol="0" anchor="t">
            <a:normAutofit/>
          </a:bodyPr>
          <a:lstStyle/>
          <a:p>
            <a:pPr algn="l" indent="0" marL="0">
              <a:buNone/>
            </a:pPr>
            <a:r>
              <a:rPr lang="en-US" sz="938" spc="94" kern="0" dirty="0">
                <a:solidFill>
                  <a:srgbClr val="8291A1"/>
                </a:solidFill>
                <a:latin typeface="Arial" pitchFamily="34" charset="0"/>
                <a:ea typeface="Arial" pitchFamily="34" charset="-122"/>
                <a:cs typeface="Arial" pitchFamily="34" charset="-120"/>
              </a:rPr>
              <a:t>FONCTIONNEMENT DE L'OUTIL</a:t>
            </a:r>
            <a:endParaRPr lang="en-US" sz="938" dirty="0"/>
          </a:p>
        </p:txBody>
      </p:sp>
      <p:sp>
        <p:nvSpPr>
          <p:cNvPr id="10" name="Shape 8"/>
          <p:cNvSpPr/>
          <p:nvPr/>
        </p:nvSpPr>
        <p:spPr>
          <a:xfrm>
            <a:off x="1891605" y="2779737"/>
            <a:ext cx="3267521"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1" name="Text 9"/>
          <p:cNvSpPr/>
          <p:nvPr/>
        </p:nvSpPr>
        <p:spPr>
          <a:xfrm>
            <a:off x="2023568" y="2922612"/>
            <a:ext cx="3003597"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Règlement de consultation + mémoires précédents</a:t>
            </a:r>
            <a:endParaRPr lang="en-US" sz="1013" dirty="0"/>
          </a:p>
        </p:txBody>
      </p:sp>
      <p:sp>
        <p:nvSpPr>
          <p:cNvPr id="12" name="Text 10"/>
          <p:cNvSpPr/>
          <p:nvPr/>
        </p:nvSpPr>
        <p:spPr>
          <a:xfrm>
            <a:off x="5254377"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3" name="Shape 11"/>
          <p:cNvSpPr/>
          <p:nvPr/>
        </p:nvSpPr>
        <p:spPr>
          <a:xfrm>
            <a:off x="5521077" y="2779737"/>
            <a:ext cx="2112838"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4" name="Text 12"/>
          <p:cNvSpPr/>
          <p:nvPr/>
        </p:nvSpPr>
        <p:spPr>
          <a:xfrm>
            <a:off x="5663952" y="2922612"/>
            <a:ext cx="1827088"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Analyse RAG multi-documents</a:t>
            </a:r>
            <a:endParaRPr lang="en-US" sz="1013" dirty="0"/>
          </a:p>
        </p:txBody>
      </p:sp>
      <p:sp>
        <p:nvSpPr>
          <p:cNvPr id="15" name="Text 13"/>
          <p:cNvSpPr/>
          <p:nvPr/>
        </p:nvSpPr>
        <p:spPr>
          <a:xfrm>
            <a:off x="7729165"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6" name="Shape 14"/>
          <p:cNvSpPr/>
          <p:nvPr/>
        </p:nvSpPr>
        <p:spPr>
          <a:xfrm>
            <a:off x="7995865" y="2779737"/>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7" name="Text 15"/>
          <p:cNvSpPr/>
          <p:nvPr/>
        </p:nvSpPr>
        <p:spPr>
          <a:xfrm>
            <a:off x="8138740" y="2922612"/>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Génération du brouillon</a:t>
            </a:r>
            <a:endParaRPr lang="en-US" sz="1013" dirty="0"/>
          </a:p>
        </p:txBody>
      </p:sp>
      <p:sp>
        <p:nvSpPr>
          <p:cNvPr id="18" name="Text 16"/>
          <p:cNvSpPr/>
          <p:nvPr/>
        </p:nvSpPr>
        <p:spPr>
          <a:xfrm>
            <a:off x="9881815" y="2891656"/>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9" name="Shape 17"/>
          <p:cNvSpPr/>
          <p:nvPr/>
        </p:nvSpPr>
        <p:spPr>
          <a:xfrm>
            <a:off x="1891605" y="3308375"/>
            <a:ext cx="1805657"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0" name="Text 18"/>
          <p:cNvSpPr/>
          <p:nvPr/>
        </p:nvSpPr>
        <p:spPr>
          <a:xfrm>
            <a:off x="2034480" y="3451250"/>
            <a:ext cx="1519907"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Structuration du mémoire</a:t>
            </a:r>
            <a:endParaRPr lang="en-US" sz="1013" dirty="0"/>
          </a:p>
        </p:txBody>
      </p:sp>
      <p:sp>
        <p:nvSpPr>
          <p:cNvPr id="21" name="Text 19"/>
          <p:cNvSpPr/>
          <p:nvPr/>
        </p:nvSpPr>
        <p:spPr>
          <a:xfrm>
            <a:off x="3792513" y="3420294"/>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2" name="Shape 20"/>
          <p:cNvSpPr/>
          <p:nvPr/>
        </p:nvSpPr>
        <p:spPr>
          <a:xfrm>
            <a:off x="4059213" y="3308375"/>
            <a:ext cx="2663577"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3" name="Text 21"/>
          <p:cNvSpPr/>
          <p:nvPr/>
        </p:nvSpPr>
        <p:spPr>
          <a:xfrm>
            <a:off x="4200234" y="3451250"/>
            <a:ext cx="2381534"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Ajustement et validation par le rédacteur</a:t>
            </a:r>
            <a:endParaRPr lang="en-US" sz="10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519248" y="104273"/>
            <a:ext cx="6193834" cy="118913"/>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AU CŒUR DE LA SOLUTION</a:t>
            </a:r>
            <a:endParaRPr lang="en-US" sz="975" dirty="0"/>
          </a:p>
        </p:txBody>
      </p:sp>
      <p:sp>
        <p:nvSpPr>
          <p:cNvPr id="3" name="Text 1"/>
          <p:cNvSpPr/>
          <p:nvPr/>
        </p:nvSpPr>
        <p:spPr>
          <a:xfrm>
            <a:off x="519248" y="216367"/>
            <a:ext cx="6193834" cy="207544"/>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Expertises techniques utilisées</a:t>
            </a:r>
            <a:endParaRPr lang="en-US" sz="2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78563" y="615212"/>
            <a:ext cx="4275205" cy="3325137"/>
          </a:xfrm>
          <a:prstGeom prst="rect">
            <a:avLst/>
          </a:prstGeom>
        </p:spPr>
      </p:pic>
      <p:sp>
        <p:nvSpPr>
          <p:cNvPr id="5" name="Shape 2"/>
          <p:cNvSpPr/>
          <p:nvPr/>
        </p:nvSpPr>
        <p:spPr>
          <a:xfrm>
            <a:off x="3162576" y="1966814"/>
            <a:ext cx="907178" cy="907178"/>
          </a:xfrm>
          <a:prstGeom prst="ellipse">
            <a:avLst/>
          </a:prstGeom>
          <a:ln w="9525">
            <a:solidFill>
              <a:srgbClr val="00B5C7">
                <a:alpha val="70000"/>
              </a:srgbClr>
            </a:solidFill>
            <a:prstDash val="solid"/>
          </a:ln>
          <a:effectLst>
            <a:outerShdw sx="100000" sy="100000" kx="0" ky="0" algn="bl" rotWithShape="0" blurRad="523875" dist="50800" dir="16200000">
              <a:srgbClr val="000000">
                <a:alpha val="30000"/>
              </a:srgbClr>
            </a:outerShdw>
          </a:effectLst>
        </p:spPr>
      </p:sp>
      <p:sp>
        <p:nvSpPr>
          <p:cNvPr id="6" name="Text 3"/>
          <p:cNvSpPr/>
          <p:nvPr/>
        </p:nvSpPr>
        <p:spPr>
          <a:xfrm>
            <a:off x="3472847" y="2311975"/>
            <a:ext cx="286596" cy="254955"/>
          </a:xfrm>
          <a:prstGeom prst="rect">
            <a:avLst/>
          </a:prstGeom>
          <a:noFill/>
          <a:ln/>
        </p:spPr>
        <p:txBody>
          <a:bodyPr wrap="square" lIns="25400" tIns="25400" rIns="25400" bIns="25400" rtlCol="0" anchor="t">
            <a:normAutofit/>
          </a:bodyPr>
          <a:lstStyle/>
          <a:p>
            <a:pPr algn="ctr" indent="0" marL="0">
              <a:lnSpc>
                <a:spcPct val="130000"/>
              </a:lnSpc>
              <a:buNone/>
            </a:pPr>
            <a:r>
              <a:rPr lang="en-US" sz="1200" b="1" dirty="0">
                <a:solidFill>
                  <a:srgbClr val="FFFFFF"/>
                </a:solidFill>
                <a:latin typeface="Arial" pitchFamily="34" charset="0"/>
                <a:ea typeface="Arial" pitchFamily="34" charset="-122"/>
                <a:cs typeface="Arial" pitchFamily="34" charset="-120"/>
              </a:rPr>
              <a:t>Mémoire Data &amp; IA</a:t>
            </a:r>
            <a:endParaRPr lang="en-US" sz="1200" dirty="0"/>
          </a:p>
        </p:txBody>
      </p:sp>
      <p:sp>
        <p:nvSpPr>
          <p:cNvPr id="7" name="Shape 4"/>
          <p:cNvSpPr/>
          <p:nvPr/>
        </p:nvSpPr>
        <p:spPr>
          <a:xfrm>
            <a:off x="2974884" y="832455"/>
            <a:ext cx="1282562" cy="420719"/>
          </a:xfrm>
          <a:prstGeom prst="roundRect">
            <a:avLst>
              <a:gd name="adj" fmla="val 31696"/>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8" name="Shape 5"/>
          <p:cNvSpPr/>
          <p:nvPr/>
        </p:nvSpPr>
        <p:spPr>
          <a:xfrm>
            <a:off x="3063517" y="948948"/>
            <a:ext cx="187692" cy="187692"/>
          </a:xfrm>
          <a:prstGeom prst="ellipse">
            <a:avLst/>
          </a:prstGeom>
          <a:solidFill>
            <a:srgbClr val="003846">
              <a:alpha val="50000"/>
            </a:srgbClr>
          </a:solidFill>
          <a:ln w="9525">
            <a:solidFill>
              <a:srgbClr val="00A3B3">
                <a:alpha val="50000"/>
              </a:srgbClr>
            </a:solidFill>
            <a:prstDash val="solid"/>
          </a:ln>
        </p:spPr>
      </p:sp>
      <p:sp>
        <p:nvSpPr>
          <p:cNvPr id="9" name="Shape 6"/>
          <p:cNvSpPr/>
          <p:nvPr/>
        </p:nvSpPr>
        <p:spPr>
          <a:xfrm>
            <a:off x="3126081" y="1011512"/>
            <a:ext cx="62564" cy="62565"/>
          </a:xfrm>
          <a:prstGeom prst="ellipse">
            <a:avLst/>
          </a:prstGeom>
          <a:solidFill>
            <a:srgbClr val="28D6DF"/>
          </a:solidFill>
          <a:ln/>
        </p:spPr>
      </p:sp>
      <p:sp>
        <p:nvSpPr>
          <p:cNvPr id="10" name="Text 7"/>
          <p:cNvSpPr/>
          <p:nvPr/>
        </p:nvSpPr>
        <p:spPr>
          <a:xfrm>
            <a:off x="3313773" y="910660"/>
            <a:ext cx="931241" cy="302408"/>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RAG (Retrieval Augmented Generation) multi-documents</a:t>
            </a:r>
            <a:endParaRPr lang="en-US" sz="975" dirty="0"/>
          </a:p>
        </p:txBody>
      </p:sp>
      <p:sp>
        <p:nvSpPr>
          <p:cNvPr id="11" name="Shape 8"/>
          <p:cNvSpPr/>
          <p:nvPr/>
        </p:nvSpPr>
        <p:spPr>
          <a:xfrm>
            <a:off x="4284777" y="1822746"/>
            <a:ext cx="1282561" cy="344102"/>
          </a:xfrm>
          <a:prstGeom prst="roundRect">
            <a:avLst>
              <a:gd name="adj" fmla="val 38753"/>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2" name="Shape 9"/>
          <p:cNvSpPr/>
          <p:nvPr/>
        </p:nvSpPr>
        <p:spPr>
          <a:xfrm>
            <a:off x="4373410" y="1900951"/>
            <a:ext cx="187692" cy="187691"/>
          </a:xfrm>
          <a:prstGeom prst="ellipse">
            <a:avLst/>
          </a:prstGeom>
          <a:solidFill>
            <a:srgbClr val="003846">
              <a:alpha val="50000"/>
            </a:srgbClr>
          </a:solidFill>
          <a:ln w="9525">
            <a:solidFill>
              <a:srgbClr val="00A3B3">
                <a:alpha val="50000"/>
              </a:srgbClr>
            </a:solidFill>
            <a:prstDash val="solid"/>
          </a:ln>
        </p:spPr>
      </p:sp>
      <p:sp>
        <p:nvSpPr>
          <p:cNvPr id="13" name="Shape 10"/>
          <p:cNvSpPr/>
          <p:nvPr/>
        </p:nvSpPr>
        <p:spPr>
          <a:xfrm>
            <a:off x="4435973" y="1963515"/>
            <a:ext cx="62564" cy="62564"/>
          </a:xfrm>
          <a:prstGeom prst="ellipse">
            <a:avLst/>
          </a:prstGeom>
          <a:solidFill>
            <a:srgbClr val="28D6DF"/>
          </a:solidFill>
          <a:ln/>
        </p:spPr>
      </p:sp>
      <p:sp>
        <p:nvSpPr>
          <p:cNvPr id="14" name="Text 11"/>
          <p:cNvSpPr/>
          <p:nvPr/>
        </p:nvSpPr>
        <p:spPr>
          <a:xfrm>
            <a:off x="4623665" y="1950725"/>
            <a:ext cx="886274" cy="126203"/>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Interface conversationnelle</a:t>
            </a:r>
            <a:endParaRPr lang="en-US" sz="975" dirty="0"/>
          </a:p>
        </p:txBody>
      </p:sp>
      <p:sp>
        <p:nvSpPr>
          <p:cNvPr id="15" name="Shape 12"/>
          <p:cNvSpPr/>
          <p:nvPr/>
        </p:nvSpPr>
        <p:spPr>
          <a:xfrm>
            <a:off x="3784591" y="3362610"/>
            <a:ext cx="1282562" cy="344102"/>
          </a:xfrm>
          <a:prstGeom prst="roundRect">
            <a:avLst>
              <a:gd name="adj" fmla="val 38753"/>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6" name="Shape 13"/>
          <p:cNvSpPr/>
          <p:nvPr/>
        </p:nvSpPr>
        <p:spPr>
          <a:xfrm>
            <a:off x="3873223" y="3440814"/>
            <a:ext cx="187692" cy="187692"/>
          </a:xfrm>
          <a:prstGeom prst="ellipse">
            <a:avLst/>
          </a:prstGeom>
          <a:solidFill>
            <a:srgbClr val="003846">
              <a:alpha val="50000"/>
            </a:srgbClr>
          </a:solidFill>
          <a:ln w="9525">
            <a:solidFill>
              <a:srgbClr val="00A3B3">
                <a:alpha val="50000"/>
              </a:srgbClr>
            </a:solidFill>
            <a:prstDash val="solid"/>
          </a:ln>
        </p:spPr>
      </p:sp>
      <p:sp>
        <p:nvSpPr>
          <p:cNvPr id="17" name="Shape 14"/>
          <p:cNvSpPr/>
          <p:nvPr/>
        </p:nvSpPr>
        <p:spPr>
          <a:xfrm>
            <a:off x="3935787" y="3503379"/>
            <a:ext cx="62564" cy="62564"/>
          </a:xfrm>
          <a:prstGeom prst="roundRect">
            <a:avLst>
              <a:gd name="adj" fmla="val 45673"/>
            </a:avLst>
          </a:prstGeom>
          <a:solidFill>
            <a:srgbClr val="28D6DF"/>
          </a:solidFill>
          <a:ln/>
        </p:spPr>
      </p:sp>
      <p:sp>
        <p:nvSpPr>
          <p:cNvPr id="18" name="Text 15"/>
          <p:cNvSpPr/>
          <p:nvPr/>
        </p:nvSpPr>
        <p:spPr>
          <a:xfrm>
            <a:off x="4123479" y="3446558"/>
            <a:ext cx="931241" cy="214306"/>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Bases de données vectorielles</a:t>
            </a:r>
            <a:endParaRPr lang="en-US" sz="975" dirty="0"/>
          </a:p>
        </p:txBody>
      </p:sp>
      <p:sp>
        <p:nvSpPr>
          <p:cNvPr id="19" name="Shape 16"/>
          <p:cNvSpPr/>
          <p:nvPr/>
        </p:nvSpPr>
        <p:spPr>
          <a:xfrm>
            <a:off x="2165137" y="3362610"/>
            <a:ext cx="1282561" cy="344102"/>
          </a:xfrm>
          <a:prstGeom prst="roundRect">
            <a:avLst>
              <a:gd name="adj" fmla="val 38753"/>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20" name="Shape 17"/>
          <p:cNvSpPr/>
          <p:nvPr/>
        </p:nvSpPr>
        <p:spPr>
          <a:xfrm>
            <a:off x="2253769" y="3440814"/>
            <a:ext cx="187692" cy="187692"/>
          </a:xfrm>
          <a:prstGeom prst="ellipse">
            <a:avLst/>
          </a:prstGeom>
          <a:solidFill>
            <a:srgbClr val="003846">
              <a:alpha val="50000"/>
            </a:srgbClr>
          </a:solidFill>
          <a:ln w="9525">
            <a:solidFill>
              <a:srgbClr val="00A3B3">
                <a:alpha val="50000"/>
              </a:srgbClr>
            </a:solidFill>
            <a:prstDash val="solid"/>
          </a:ln>
        </p:spPr>
      </p:sp>
      <p:sp>
        <p:nvSpPr>
          <p:cNvPr id="21" name="Shape 18"/>
          <p:cNvSpPr/>
          <p:nvPr/>
        </p:nvSpPr>
        <p:spPr>
          <a:xfrm>
            <a:off x="2316333" y="3503379"/>
            <a:ext cx="62564" cy="62564"/>
          </a:xfrm>
          <a:prstGeom prst="ellipse">
            <a:avLst/>
          </a:prstGeom>
          <a:solidFill>
            <a:srgbClr val="28D6DF"/>
          </a:solidFill>
          <a:ln/>
        </p:spPr>
      </p:sp>
      <p:sp>
        <p:nvSpPr>
          <p:cNvPr id="22" name="Text 19"/>
          <p:cNvSpPr/>
          <p:nvPr/>
        </p:nvSpPr>
        <p:spPr>
          <a:xfrm>
            <a:off x="2504025" y="3490589"/>
            <a:ext cx="867170" cy="126203"/>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MAS (Multi Agent System)</a:t>
            </a:r>
            <a:endParaRPr lang="en-US" sz="975" dirty="0"/>
          </a:p>
        </p:txBody>
      </p:sp>
      <p:sp>
        <p:nvSpPr>
          <p:cNvPr id="23" name="Shape 20"/>
          <p:cNvSpPr/>
          <p:nvPr/>
        </p:nvSpPr>
        <p:spPr>
          <a:xfrm>
            <a:off x="1664952" y="1822746"/>
            <a:ext cx="1282561" cy="344102"/>
          </a:xfrm>
          <a:prstGeom prst="roundRect">
            <a:avLst>
              <a:gd name="adj" fmla="val 38753"/>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24" name="Shape 21"/>
          <p:cNvSpPr/>
          <p:nvPr/>
        </p:nvSpPr>
        <p:spPr>
          <a:xfrm>
            <a:off x="1753583" y="1900951"/>
            <a:ext cx="187692" cy="187691"/>
          </a:xfrm>
          <a:prstGeom prst="ellipse">
            <a:avLst/>
          </a:prstGeom>
          <a:solidFill>
            <a:srgbClr val="003846">
              <a:alpha val="50000"/>
            </a:srgbClr>
          </a:solidFill>
          <a:ln w="9525">
            <a:solidFill>
              <a:srgbClr val="00A3B3">
                <a:alpha val="50000"/>
              </a:srgbClr>
            </a:solidFill>
            <a:prstDash val="solid"/>
          </a:ln>
        </p:spPr>
      </p:sp>
      <p:sp>
        <p:nvSpPr>
          <p:cNvPr id="25" name="Shape 22"/>
          <p:cNvSpPr/>
          <p:nvPr/>
        </p:nvSpPr>
        <p:spPr>
          <a:xfrm>
            <a:off x="1816148" y="1963515"/>
            <a:ext cx="62564" cy="62564"/>
          </a:xfrm>
          <a:prstGeom prst="ellipse">
            <a:avLst/>
          </a:prstGeom>
          <a:solidFill>
            <a:srgbClr val="28D6DF"/>
          </a:solidFill>
          <a:ln/>
        </p:spPr>
      </p:sp>
      <p:sp>
        <p:nvSpPr>
          <p:cNvPr id="26" name="Text 23"/>
          <p:cNvSpPr/>
          <p:nvPr/>
        </p:nvSpPr>
        <p:spPr>
          <a:xfrm>
            <a:off x="2003839" y="1950725"/>
            <a:ext cx="626201" cy="126203"/>
          </a:xfrm>
          <a:prstGeom prst="rect">
            <a:avLst/>
          </a:prstGeom>
          <a:noFill/>
          <a:ln/>
        </p:spPr>
        <p:txBody>
          <a:bodyPr wrap="square" lIns="25400" tIns="25400" rIns="25400" bIns="25400" rtlCol="0" anchor="t">
            <a:normAutofit/>
          </a:bodyPr>
          <a:lstStyle/>
          <a:p>
            <a:pPr algn="l" indent="0" marL="0">
              <a:lnSpc>
                <a:spcPct val="130000"/>
              </a:lnSpc>
              <a:buNone/>
            </a:pPr>
            <a:r>
              <a:rPr lang="en-US" sz="975" b="1" dirty="0">
                <a:solidFill>
                  <a:srgbClr val="E0E5EB"/>
                </a:solidFill>
                <a:latin typeface="Arial" pitchFamily="34" charset="0"/>
                <a:ea typeface="Arial" pitchFamily="34" charset="-122"/>
                <a:cs typeface="Arial" pitchFamily="34" charset="-120"/>
              </a:rPr>
              <a:t>Mémoire évolutive</a:t>
            </a:r>
            <a:endParaRPr lang="en-US" sz="975" dirty="0"/>
          </a:p>
        </p:txBody>
      </p:sp>
      <p:sp>
        <p:nvSpPr>
          <p:cNvPr id="27" name="Text 24"/>
          <p:cNvSpPr/>
          <p:nvPr/>
        </p:nvSpPr>
        <p:spPr>
          <a:xfrm>
            <a:off x="1468135" y="4169750"/>
            <a:ext cx="4296061" cy="297725"/>
          </a:xfrm>
          <a:prstGeom prst="rect">
            <a:avLst/>
          </a:prstGeom>
          <a:noFill/>
          <a:ln/>
        </p:spPr>
        <p:txBody>
          <a:bodyPr wrap="square" lIns="25400" tIns="25400" rIns="25400" bIns="25400" rtlCol="0" anchor="t">
            <a:normAutofit/>
          </a:bodyPr>
          <a:lstStyle/>
          <a:p>
            <a:pPr algn="ctr" indent="0" marL="0">
              <a:lnSpc>
                <a:spcPct val="170000"/>
              </a:lnSpc>
              <a:buNone/>
            </a:pPr>
            <a:r>
              <a:rPr lang="en-US" sz="1088" b="1" dirty="0">
                <a:solidFill>
                  <a:srgbClr val="C4CFDB"/>
                </a:solidFill>
                <a:latin typeface="Arial" pitchFamily="34" charset="0"/>
                <a:ea typeface="Arial" pitchFamily="34" charset="-122"/>
                <a:cs typeface="Arial" pitchFamily="34" charset="-120"/>
              </a:rPr>
              <a:t>Expertises techniques utilisées : </a:t>
            </a:r>
            <a:pPr algn="ctr" indent="0" marL="0">
              <a:lnSpc>
                <a:spcPct val="170000"/>
              </a:lnSpc>
              <a:buNone/>
            </a:pPr>
            <a:r>
              <a:rPr lang="en-US" sz="1088" dirty="0">
                <a:solidFill>
                  <a:srgbClr val="8F9AA5"/>
                </a:solidFill>
                <a:latin typeface="Arial" pitchFamily="34" charset="0"/>
                <a:ea typeface="Arial" pitchFamily="34" charset="-122"/>
                <a:cs typeface="Arial" pitchFamily="34" charset="-120"/>
              </a:rPr>
              <a:t>RAG (Retrieval Augmented Generation) multi-documents, interface conversationnelle, bases de données vectorielles, MAS (Multi Agent System), mémoire évolutive.</a:t>
            </a:r>
            <a:endParaRPr lang="en-US" sz="108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450766" y="94308"/>
            <a:ext cx="6016898" cy="111190"/>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RÉSULTAT</a:t>
            </a:r>
            <a:endParaRPr lang="en-US" sz="975" dirty="0"/>
          </a:p>
        </p:txBody>
      </p:sp>
      <p:sp>
        <p:nvSpPr>
          <p:cNvPr id="3" name="Text 1"/>
          <p:cNvSpPr/>
          <p:nvPr/>
        </p:nvSpPr>
        <p:spPr>
          <a:xfrm>
            <a:off x="450766" y="195690"/>
            <a:ext cx="6016898" cy="212572"/>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Bénéfices pour le client</a:t>
            </a:r>
            <a:endParaRPr lang="en-US" sz="2400" dirty="0"/>
          </a:p>
        </p:txBody>
      </p:sp>
      <p:sp>
        <p:nvSpPr>
          <p:cNvPr id="4" name="Shape 2"/>
          <p:cNvSpPr/>
          <p:nvPr/>
        </p:nvSpPr>
        <p:spPr>
          <a:xfrm>
            <a:off x="724262" y="558780"/>
            <a:ext cx="1289672" cy="819453"/>
          </a:xfrm>
          <a:prstGeom prst="roundRect">
            <a:avLst>
              <a:gd name="adj" fmla="val 20922"/>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5" name="Text 3"/>
          <p:cNvSpPr/>
          <p:nvPr/>
        </p:nvSpPr>
        <p:spPr>
          <a:xfrm>
            <a:off x="842147" y="695527"/>
            <a:ext cx="1130100" cy="18991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~3h → ~1h30</a:t>
            </a:r>
            <a:endParaRPr lang="en-US" sz="2100" dirty="0"/>
          </a:p>
        </p:txBody>
      </p:sp>
      <p:sp>
        <p:nvSpPr>
          <p:cNvPr id="6" name="Text 4"/>
          <p:cNvSpPr/>
          <p:nvPr/>
        </p:nvSpPr>
        <p:spPr>
          <a:xfrm>
            <a:off x="842147" y="913358"/>
            <a:ext cx="1130100" cy="256852"/>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Temps de rédaction réduit de ~3h à ~1h30 (–50 %)</a:t>
            </a:r>
            <a:endParaRPr lang="en-US" sz="1088" dirty="0"/>
          </a:p>
        </p:txBody>
      </p:sp>
      <p:sp>
        <p:nvSpPr>
          <p:cNvPr id="7" name="Shape 5"/>
          <p:cNvSpPr/>
          <p:nvPr/>
        </p:nvSpPr>
        <p:spPr>
          <a:xfrm>
            <a:off x="2117673" y="558780"/>
            <a:ext cx="1289672" cy="819453"/>
          </a:xfrm>
          <a:prstGeom prst="roundRect">
            <a:avLst>
              <a:gd name="adj" fmla="val 20922"/>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8" name="Text 6"/>
          <p:cNvSpPr/>
          <p:nvPr/>
        </p:nvSpPr>
        <p:spPr>
          <a:xfrm>
            <a:off x="2235559" y="695527"/>
            <a:ext cx="1130100" cy="18991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a:t>
            </a:r>
            <a:endParaRPr lang="en-US" sz="2100" dirty="0"/>
          </a:p>
        </p:txBody>
      </p:sp>
      <p:sp>
        <p:nvSpPr>
          <p:cNvPr id="9" name="Text 7"/>
          <p:cNvSpPr/>
          <p:nvPr/>
        </p:nvSpPr>
        <p:spPr>
          <a:xfrm>
            <a:off x="2235559" y="913358"/>
            <a:ext cx="1130100" cy="256852"/>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Mémoire technique réalisable par une sachant(e) novice</a:t>
            </a:r>
            <a:endParaRPr lang="en-US" sz="1088" dirty="0"/>
          </a:p>
        </p:txBody>
      </p:sp>
      <p:sp>
        <p:nvSpPr>
          <p:cNvPr id="10" name="Shape 8"/>
          <p:cNvSpPr/>
          <p:nvPr/>
        </p:nvSpPr>
        <p:spPr>
          <a:xfrm>
            <a:off x="3511085" y="558780"/>
            <a:ext cx="1289672" cy="819453"/>
          </a:xfrm>
          <a:prstGeom prst="roundRect">
            <a:avLst>
              <a:gd name="adj" fmla="val 20922"/>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1" name="Text 9"/>
          <p:cNvSpPr/>
          <p:nvPr/>
        </p:nvSpPr>
        <p:spPr>
          <a:xfrm>
            <a:off x="3628971" y="695527"/>
            <a:ext cx="1130100" cy="18991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&gt;95 %</a:t>
            </a:r>
            <a:endParaRPr lang="en-US" sz="2100" dirty="0"/>
          </a:p>
        </p:txBody>
      </p:sp>
      <p:sp>
        <p:nvSpPr>
          <p:cNvPr id="12" name="Text 10"/>
          <p:cNvSpPr/>
          <p:nvPr/>
        </p:nvSpPr>
        <p:spPr>
          <a:xfrm>
            <a:off x="3628971" y="913358"/>
            <a:ext cx="1130100" cy="147476"/>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Précision contextuelle : &gt;95 %</a:t>
            </a:r>
            <a:endParaRPr lang="en-US" sz="1088" dirty="0"/>
          </a:p>
        </p:txBody>
      </p:sp>
      <p:sp>
        <p:nvSpPr>
          <p:cNvPr id="13" name="Shape 11"/>
          <p:cNvSpPr/>
          <p:nvPr/>
        </p:nvSpPr>
        <p:spPr>
          <a:xfrm>
            <a:off x="4904496" y="558780"/>
            <a:ext cx="1289673" cy="819453"/>
          </a:xfrm>
          <a:prstGeom prst="roundRect">
            <a:avLst>
              <a:gd name="adj" fmla="val 20922"/>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4" name="Text 12"/>
          <p:cNvSpPr/>
          <p:nvPr/>
        </p:nvSpPr>
        <p:spPr>
          <a:xfrm>
            <a:off x="5022382" y="695527"/>
            <a:ext cx="1130100" cy="18991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0DFE8"/>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5022382" y="913358"/>
            <a:ext cx="1130100" cy="366228"/>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Uniformisation de la rédaction de mémoires techniques de qualité constante.</a:t>
            </a:r>
            <a:endParaRPr lang="en-US" sz="108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8982908" cy="9525"/>
          </a:xfrm>
          <a:prstGeom prst="rect">
            <a:avLst/>
          </a:prstGeom>
          <a:solidFill>
            <a:srgbClr val="144D67">
              <a:alpha val="35000"/>
            </a:srgbClr>
          </a:solidFill>
          <a:ln/>
        </p:spPr>
      </p:sp>
      <p:sp>
        <p:nvSpPr>
          <p:cNvPr id="3" name="Text 1"/>
          <p:cNvSpPr/>
          <p:nvPr/>
        </p:nvSpPr>
        <p:spPr>
          <a:xfrm>
            <a:off x="347542" y="381950"/>
            <a:ext cx="8287821" cy="111190"/>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EN SYNTHÈSE</a:t>
            </a:r>
            <a:endParaRPr lang="en-US" sz="975" dirty="0"/>
          </a:p>
        </p:txBody>
      </p:sp>
      <p:sp>
        <p:nvSpPr>
          <p:cNvPr id="4" name="Text 2"/>
          <p:cNvSpPr/>
          <p:nvPr/>
        </p:nvSpPr>
        <p:spPr>
          <a:xfrm>
            <a:off x="347542" y="521055"/>
            <a:ext cx="8287821" cy="200783"/>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D'une rédaction manuelle à des mémoires générés en continu</a:t>
            </a:r>
            <a:endParaRPr lang="en-US" sz="2250" dirty="0"/>
          </a:p>
        </p:txBody>
      </p:sp>
      <p:sp>
        <p:nvSpPr>
          <p:cNvPr id="5" name="Shape 3"/>
          <p:cNvSpPr/>
          <p:nvPr/>
        </p:nvSpPr>
        <p:spPr>
          <a:xfrm>
            <a:off x="2599237" y="872356"/>
            <a:ext cx="1201995" cy="214552"/>
          </a:xfrm>
          <a:prstGeom prst="roundRect">
            <a:avLst>
              <a:gd name="adj" fmla="val 50000"/>
            </a:avLst>
          </a:prstGeom>
          <a:solidFill>
            <a:srgbClr val="001A28">
              <a:alpha val="70000"/>
            </a:srgbClr>
          </a:solidFill>
          <a:ln w="9525">
            <a:solidFill>
              <a:srgbClr val="008391">
                <a:alpha val="50000"/>
              </a:srgbClr>
            </a:solidFill>
            <a:prstDash val="solid"/>
          </a:ln>
        </p:spPr>
      </p:sp>
      <p:sp>
        <p:nvSpPr>
          <p:cNvPr id="6" name="Text 4"/>
          <p:cNvSpPr/>
          <p:nvPr/>
        </p:nvSpPr>
        <p:spPr>
          <a:xfrm>
            <a:off x="2742112" y="1015231"/>
            <a:ext cx="916245" cy="76200"/>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Rédaction manuelle et chronophage</a:t>
            </a:r>
            <a:endParaRPr lang="en-US" sz="1013" dirty="0"/>
          </a:p>
        </p:txBody>
      </p:sp>
      <p:sp>
        <p:nvSpPr>
          <p:cNvPr id="7" name="Text 5"/>
          <p:cNvSpPr/>
          <p:nvPr/>
        </p:nvSpPr>
        <p:spPr>
          <a:xfrm>
            <a:off x="3810286" y="927762"/>
            <a:ext cx="161077" cy="14184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8" name="Shape 6"/>
          <p:cNvSpPr/>
          <p:nvPr/>
        </p:nvSpPr>
        <p:spPr>
          <a:xfrm>
            <a:off x="3980418" y="872356"/>
            <a:ext cx="1205494" cy="214552"/>
          </a:xfrm>
          <a:prstGeom prst="roundRect">
            <a:avLst>
              <a:gd name="adj" fmla="val 50000"/>
            </a:avLst>
          </a:prstGeom>
          <a:solidFill>
            <a:srgbClr val="001A28">
              <a:alpha val="70000"/>
            </a:srgbClr>
          </a:solidFill>
          <a:ln w="9525">
            <a:solidFill>
              <a:srgbClr val="008391">
                <a:alpha val="50000"/>
              </a:srgbClr>
            </a:solidFill>
            <a:prstDash val="solid"/>
          </a:ln>
        </p:spPr>
      </p:sp>
      <p:sp>
        <p:nvSpPr>
          <p:cNvPr id="9" name="Text 7"/>
          <p:cNvSpPr/>
          <p:nvPr/>
        </p:nvSpPr>
        <p:spPr>
          <a:xfrm>
            <a:off x="4123293" y="1015231"/>
            <a:ext cx="919744" cy="76200"/>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Génération automatisée du brouillon</a:t>
            </a:r>
            <a:endParaRPr lang="en-US" sz="1013" dirty="0"/>
          </a:p>
        </p:txBody>
      </p:sp>
      <p:sp>
        <p:nvSpPr>
          <p:cNvPr id="10" name="Text 8"/>
          <p:cNvSpPr/>
          <p:nvPr/>
        </p:nvSpPr>
        <p:spPr>
          <a:xfrm>
            <a:off x="5194967" y="927762"/>
            <a:ext cx="161078" cy="14184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1" name="Shape 9"/>
          <p:cNvSpPr/>
          <p:nvPr/>
        </p:nvSpPr>
        <p:spPr>
          <a:xfrm>
            <a:off x="5365099" y="872356"/>
            <a:ext cx="886502" cy="214552"/>
          </a:xfrm>
          <a:prstGeom prst="roundRect">
            <a:avLst>
              <a:gd name="adj" fmla="val 50000"/>
            </a:avLst>
          </a:prstGeom>
          <a:solidFill>
            <a:srgbClr val="001A28">
              <a:alpha val="70000"/>
            </a:srgbClr>
          </a:solidFill>
          <a:ln w="9525">
            <a:solidFill>
              <a:srgbClr val="008391">
                <a:alpha val="50000"/>
              </a:srgbClr>
            </a:solidFill>
            <a:prstDash val="solid"/>
          </a:ln>
        </p:spPr>
      </p:sp>
      <p:sp>
        <p:nvSpPr>
          <p:cNvPr id="12" name="Text 10"/>
          <p:cNvSpPr/>
          <p:nvPr/>
        </p:nvSpPr>
        <p:spPr>
          <a:xfrm>
            <a:off x="5507974" y="1015231"/>
            <a:ext cx="600752" cy="76200"/>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Mémoire structuré</a:t>
            </a:r>
            <a:endParaRPr lang="en-US" sz="1013" dirty="0"/>
          </a:p>
        </p:txBody>
      </p:sp>
      <p:sp>
        <p:nvSpPr>
          <p:cNvPr id="13" name="Text 11"/>
          <p:cNvSpPr/>
          <p:nvPr/>
        </p:nvSpPr>
        <p:spPr>
          <a:xfrm>
            <a:off x="6260655" y="927762"/>
            <a:ext cx="161079" cy="14184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4" name="Shape 12"/>
          <p:cNvSpPr/>
          <p:nvPr/>
        </p:nvSpPr>
        <p:spPr>
          <a:xfrm>
            <a:off x="3375737" y="1134062"/>
            <a:ext cx="917631" cy="214553"/>
          </a:xfrm>
          <a:prstGeom prst="roundRect">
            <a:avLst>
              <a:gd name="adj" fmla="val 50000"/>
            </a:avLst>
          </a:prstGeom>
          <a:solidFill>
            <a:srgbClr val="001A28">
              <a:alpha val="70000"/>
            </a:srgbClr>
          </a:solidFill>
          <a:ln w="9525">
            <a:solidFill>
              <a:srgbClr val="008391">
                <a:alpha val="50000"/>
              </a:srgbClr>
            </a:solidFill>
            <a:prstDash val="solid"/>
          </a:ln>
        </p:spPr>
      </p:sp>
      <p:sp>
        <p:nvSpPr>
          <p:cNvPr id="15" name="Text 13"/>
          <p:cNvSpPr/>
          <p:nvPr/>
        </p:nvSpPr>
        <p:spPr>
          <a:xfrm>
            <a:off x="3518612" y="1276937"/>
            <a:ext cx="631881" cy="76200"/>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Validation par le rédacteur</a:t>
            </a:r>
            <a:endParaRPr lang="en-US" sz="1013" dirty="0"/>
          </a:p>
        </p:txBody>
      </p:sp>
      <p:sp>
        <p:nvSpPr>
          <p:cNvPr id="16" name="Text 14"/>
          <p:cNvSpPr/>
          <p:nvPr/>
        </p:nvSpPr>
        <p:spPr>
          <a:xfrm>
            <a:off x="4302423" y="1189469"/>
            <a:ext cx="161078" cy="141839"/>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7" name="Shape 15"/>
          <p:cNvSpPr/>
          <p:nvPr/>
        </p:nvSpPr>
        <p:spPr>
          <a:xfrm>
            <a:off x="4472555" y="1134062"/>
            <a:ext cx="1134615" cy="214553"/>
          </a:xfrm>
          <a:prstGeom prst="roundRect">
            <a:avLst>
              <a:gd name="adj" fmla="val 50000"/>
            </a:avLst>
          </a:prstGeom>
          <a:solidFill>
            <a:srgbClr val="001A28">
              <a:alpha val="70000"/>
            </a:srgbClr>
          </a:solidFill>
          <a:ln w="9525">
            <a:solidFill>
              <a:srgbClr val="008391">
                <a:alpha val="50000"/>
              </a:srgbClr>
            </a:solidFill>
            <a:prstDash val="solid"/>
          </a:ln>
        </p:spPr>
      </p:sp>
      <p:sp>
        <p:nvSpPr>
          <p:cNvPr id="18" name="Text 16"/>
          <p:cNvSpPr/>
          <p:nvPr/>
        </p:nvSpPr>
        <p:spPr>
          <a:xfrm>
            <a:off x="4615430" y="1276937"/>
            <a:ext cx="848865" cy="76200"/>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Réponse aux AO plus compétitive</a:t>
            </a:r>
            <a:endParaRPr lang="en-US" sz="1013" dirty="0"/>
          </a:p>
        </p:txBody>
      </p:sp>
      <p:sp>
        <p:nvSpPr>
          <p:cNvPr id="19" name="Shape 17"/>
          <p:cNvSpPr/>
          <p:nvPr/>
        </p:nvSpPr>
        <p:spPr>
          <a:xfrm>
            <a:off x="3713222" y="1574956"/>
            <a:ext cx="1556426" cy="242844"/>
          </a:xfrm>
          <a:prstGeom prst="roundRect">
            <a:avLst>
              <a:gd name="adj" fmla="val 50000"/>
            </a:avLst>
          </a:prstGeom>
          <a:ln/>
          <a:effectLst>
            <a:outerShdw sx="100000" sy="100000" kx="0" ky="0" algn="bl" rotWithShape="0" blurRad="381000" dist="50800" dir="16200000">
              <a:srgbClr val="000000">
                <a:alpha val="30000"/>
              </a:srgbClr>
            </a:outerShdw>
          </a:effectLst>
        </p:spPr>
      </p:sp>
      <p:sp>
        <p:nvSpPr>
          <p:cNvPr id="20" name="Text 18"/>
          <p:cNvSpPr/>
          <p:nvPr/>
        </p:nvSpPr>
        <p:spPr>
          <a:xfrm>
            <a:off x="3864116" y="1650403"/>
            <a:ext cx="1212952" cy="130051"/>
          </a:xfrm>
          <a:prstGeom prst="rect">
            <a:avLst/>
          </a:prstGeom>
          <a:noFill/>
          <a:ln/>
        </p:spPr>
        <p:txBody>
          <a:bodyPr wrap="square" lIns="0" tIns="0" rIns="0" bIns="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Découvrir nos autres cas d'usage</a:t>
            </a:r>
            <a:endParaRPr lang="en-US" sz="1125" dirty="0"/>
          </a:p>
        </p:txBody>
      </p:sp>
      <p:sp>
        <p:nvSpPr>
          <p:cNvPr id="21" name="Text 19"/>
          <p:cNvSpPr/>
          <p:nvPr/>
        </p:nvSpPr>
        <p:spPr>
          <a:xfrm>
            <a:off x="5009923" y="1650403"/>
            <a:ext cx="146931" cy="130051"/>
          </a:xfrm>
          <a:prstGeom prst="rect">
            <a:avLst/>
          </a:prstGeom>
          <a:noFill/>
          <a:ln/>
        </p:spPr>
        <p:txBody>
          <a:bodyPr wrap="square" lIns="25400" tIns="25400" rIns="25400" bIns="2540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2026-07-09T13:17:12Z</dcterms:created>
  <dcterms:modified xsi:type="dcterms:W3CDTF">2026-07-09T13:17:12Z</dcterms:modified>
</cp:coreProperties>
</file>