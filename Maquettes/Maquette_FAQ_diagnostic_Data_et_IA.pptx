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521"/>
        </a:solidFill>
      </p:bgPr>
    </p:bg>
    <p:spTree>
      <p:nvGrpSpPr>
        <p:cNvPr id="1" name=""/>
        <p:cNvGrpSpPr/>
        <p:nvPr/>
      </p:nvGrpSpPr>
      <p:grpSpPr>
        <a:xfrm>
          <a:off x="0" y="0"/>
          <a:ext cx="0" cy="0"/>
          <a:chOff x="0" y="0"/>
          <a:chExt cx="0" cy="0"/>
        </a:xfrm>
      </p:grpSpPr>
      <p:sp>
        <p:nvSpPr>
          <p:cNvPr id="2" name="Text 0"/>
          <p:cNvSpPr/>
          <p:nvPr/>
        </p:nvSpPr>
        <p:spPr>
          <a:xfrm>
            <a:off x="1143000" y="952500"/>
            <a:ext cx="14668500" cy="738188"/>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F3F5F8"/>
                </a:solidFill>
                <a:latin typeface="Helvetica" pitchFamily="34" charset="0"/>
                <a:ea typeface="Helvetica" pitchFamily="34" charset="-122"/>
                <a:cs typeface="Helvetica" pitchFamily="34" charset="-120"/>
              </a:rPr>
              <a:t>Les réponses à vos questions</a:t>
            </a:r>
            <a:endParaRPr lang="en-US" sz="4800" dirty="0"/>
          </a:p>
        </p:txBody>
      </p:sp>
      <p:sp>
        <p:nvSpPr>
          <p:cNvPr id="3" name="Text 1"/>
          <p:cNvSpPr/>
          <p:nvPr/>
        </p:nvSpPr>
        <p:spPr>
          <a:xfrm>
            <a:off x="1143000" y="1919288"/>
            <a:ext cx="1177290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9BA6B1"/>
                </a:solidFill>
                <a:latin typeface="Helvetica" pitchFamily="34" charset="0"/>
                <a:ea typeface="Helvetica" pitchFamily="34" charset="-122"/>
                <a:cs typeface="Helvetica" pitchFamily="34" charset="-120"/>
              </a:rPr>
              <a:t>Vous avez des questions sur nos diagnostic ? Retrouvez ici les réponses aux interrogations les plus fréquentes pour vous aider à mieux comprendre notre démarche.</a:t>
            </a:r>
            <a:endParaRPr lang="en-US"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1521"/>
        </a:solidFill>
      </p:bgPr>
    </p:bg>
    <p:spTree>
      <p:nvGrpSpPr>
        <p:cNvPr id="1" name=""/>
        <p:cNvGrpSpPr/>
        <p:nvPr/>
      </p:nvGrpSpPr>
      <p:grpSpPr>
        <a:xfrm>
          <a:off x="0" y="0"/>
          <a:ext cx="0" cy="0"/>
          <a:chOff x="0" y="0"/>
          <a:chExt cx="0" cy="0"/>
        </a:xfrm>
      </p:grpSpPr>
      <p:sp>
        <p:nvSpPr>
          <p:cNvPr id="2" name="Shape 0"/>
          <p:cNvSpPr/>
          <p:nvPr/>
        </p:nvSpPr>
        <p:spPr>
          <a:xfrm>
            <a:off x="1143000" y="2897684"/>
            <a:ext cx="16002000" cy="9525"/>
          </a:xfrm>
          <a:prstGeom prst="rect">
            <a:avLst/>
          </a:prstGeom>
          <a:solidFill>
            <a:srgbClr val="2B343D"/>
          </a:solidFill>
          <a:ln/>
        </p:spPr>
      </p:sp>
      <p:sp>
        <p:nvSpPr>
          <p:cNvPr id="3" name="Text 1"/>
          <p:cNvSpPr/>
          <p:nvPr/>
        </p:nvSpPr>
        <p:spPr>
          <a:xfrm>
            <a:off x="1143000" y="3288209"/>
            <a:ext cx="15716250"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ECEFF2"/>
                </a:solidFill>
                <a:latin typeface="Helvetica" pitchFamily="34" charset="0"/>
                <a:ea typeface="Helvetica" pitchFamily="34" charset="-122"/>
                <a:cs typeface="Helvetica" pitchFamily="34" charset="-120"/>
              </a:rPr>
              <a:t>À qui s'adresse le Diagnostic Data &amp; IA de G2M ?</a:t>
            </a:r>
            <a:endParaRPr lang="en-US" sz="2400" dirty="0"/>
          </a:p>
        </p:txBody>
      </p:sp>
      <p:sp>
        <p:nvSpPr>
          <p:cNvPr id="4" name="Text 2"/>
          <p:cNvSpPr/>
          <p:nvPr/>
        </p:nvSpPr>
        <p:spPr>
          <a:xfrm>
            <a:off x="1143000" y="3812084"/>
            <a:ext cx="13735050" cy="1226641"/>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A5AFBA"/>
                </a:solidFill>
                <a:latin typeface="Helvetica" pitchFamily="34" charset="0"/>
                <a:ea typeface="Helvetica" pitchFamily="34" charset="-122"/>
                <a:cs typeface="Helvetica" pitchFamily="34" charset="-120"/>
              </a:rPr>
              <a:t>Le Diagnostic Data &amp; IA s'adresse aux entreprises souhaitant mieux comprendre les opportunités offertes par la Data et l'Intelligence Artificielle, identifier des cas d'usage pertinents et structurer leur démarche en fonction de leurs enjeux et de leurs objectifs.</a:t>
            </a:r>
            <a:endParaRPr lang="en-US" sz="1950" dirty="0"/>
          </a:p>
        </p:txBody>
      </p:sp>
      <p:sp>
        <p:nvSpPr>
          <p:cNvPr id="5" name="Shape 3"/>
          <p:cNvSpPr/>
          <p:nvPr/>
        </p:nvSpPr>
        <p:spPr>
          <a:xfrm>
            <a:off x="1143000" y="5381625"/>
            <a:ext cx="16002000" cy="9525"/>
          </a:xfrm>
          <a:prstGeom prst="rect">
            <a:avLst/>
          </a:prstGeom>
          <a:solidFill>
            <a:srgbClr val="2B343D"/>
          </a:solidFill>
          <a:ln/>
        </p:spPr>
      </p:sp>
      <p:sp>
        <p:nvSpPr>
          <p:cNvPr id="6" name="Text 4"/>
          <p:cNvSpPr/>
          <p:nvPr/>
        </p:nvSpPr>
        <p:spPr>
          <a:xfrm>
            <a:off x="1143000" y="5772150"/>
            <a:ext cx="15716250"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ECEFF2"/>
                </a:solidFill>
                <a:latin typeface="Helvetica" pitchFamily="34" charset="0"/>
                <a:ea typeface="Helvetica" pitchFamily="34" charset="-122"/>
                <a:cs typeface="Helvetica" pitchFamily="34" charset="-120"/>
              </a:rPr>
              <a:t>Comment choisir le format de diagnostic le plus adapté à mon entreprise ?</a:t>
            </a:r>
            <a:endParaRPr lang="en-US" sz="2400" dirty="0"/>
          </a:p>
        </p:txBody>
      </p:sp>
      <p:sp>
        <p:nvSpPr>
          <p:cNvPr id="7" name="Text 5"/>
          <p:cNvSpPr/>
          <p:nvPr/>
        </p:nvSpPr>
        <p:spPr>
          <a:xfrm>
            <a:off x="1143000" y="6296025"/>
            <a:ext cx="13735050" cy="1226641"/>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A5AFBA"/>
                </a:solidFill>
                <a:latin typeface="Helvetica" pitchFamily="34" charset="0"/>
                <a:ea typeface="Helvetica" pitchFamily="34" charset="-122"/>
                <a:cs typeface="Helvetica" pitchFamily="34" charset="-120"/>
              </a:rPr>
              <a:t>Le format de diagnostic est défini en fonction de la maturité Data &amp; IA de votre entreprise, de vos besoins, de vos objectifs et du niveau d'accompagnement souhaité. Un premier échange avec nos équipes permet de vous orienter vers la formule la plus adaptée.</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1521"/>
        </a:solidFill>
      </p:bgPr>
    </p:bg>
    <p:spTree>
      <p:nvGrpSpPr>
        <p:cNvPr id="1" name=""/>
        <p:cNvGrpSpPr/>
        <p:nvPr/>
      </p:nvGrpSpPr>
      <p:grpSpPr>
        <a:xfrm>
          <a:off x="0" y="0"/>
          <a:ext cx="0" cy="0"/>
          <a:chOff x="0" y="0"/>
          <a:chExt cx="0" cy="0"/>
        </a:xfrm>
      </p:grpSpPr>
      <p:sp>
        <p:nvSpPr>
          <p:cNvPr id="2" name="Shape 0"/>
          <p:cNvSpPr/>
          <p:nvPr/>
        </p:nvSpPr>
        <p:spPr>
          <a:xfrm>
            <a:off x="1143000" y="4083397"/>
            <a:ext cx="16002000" cy="9525"/>
          </a:xfrm>
          <a:prstGeom prst="rect">
            <a:avLst/>
          </a:prstGeom>
          <a:solidFill>
            <a:srgbClr val="2B343D"/>
          </a:solidFill>
          <a:ln/>
        </p:spPr>
      </p:sp>
      <p:sp>
        <p:nvSpPr>
          <p:cNvPr id="3" name="Text 1"/>
          <p:cNvSpPr/>
          <p:nvPr/>
        </p:nvSpPr>
        <p:spPr>
          <a:xfrm>
            <a:off x="1143000" y="4473922"/>
            <a:ext cx="15716250"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ECEFF2"/>
                </a:solidFill>
                <a:latin typeface="Helvetica" pitchFamily="34" charset="0"/>
                <a:ea typeface="Helvetica" pitchFamily="34" charset="-122"/>
                <a:cs typeface="Helvetica" pitchFamily="34" charset="-120"/>
              </a:rPr>
              <a:t>Qui doit participer au diagnostic au sein de l'entreprise ?</a:t>
            </a:r>
            <a:endParaRPr lang="en-US" sz="2400" dirty="0"/>
          </a:p>
        </p:txBody>
      </p:sp>
      <p:sp>
        <p:nvSpPr>
          <p:cNvPr id="4" name="Text 2"/>
          <p:cNvSpPr/>
          <p:nvPr/>
        </p:nvSpPr>
        <p:spPr>
          <a:xfrm>
            <a:off x="1143000" y="5035897"/>
            <a:ext cx="13735050" cy="1300981"/>
          </a:xfrm>
          <a:prstGeom prst="rect">
            <a:avLst/>
          </a:prstGeom>
          <a:noFill/>
          <a:ln/>
        </p:spPr>
        <p:txBody>
          <a:bodyPr wrap="square" lIns="25400" tIns="25400" rIns="25400" bIns="25400" rtlCol="0" anchor="t">
            <a:normAutofit/>
          </a:bodyPr>
          <a:lstStyle/>
          <a:p>
            <a:pPr algn="l" indent="0" marL="0">
              <a:lnSpc>
                <a:spcPct val="147333"/>
              </a:lnSpc>
              <a:buNone/>
            </a:pPr>
            <a:r>
              <a:rPr lang="en-US" sz="1950" dirty="0">
                <a:solidFill>
                  <a:srgbClr val="A5AFBA"/>
                </a:solidFill>
                <a:latin typeface="Helvetica" pitchFamily="34" charset="0"/>
                <a:ea typeface="Helvetica" pitchFamily="34" charset="-122"/>
                <a:cs typeface="Helvetica" pitchFamily="34" charset="-120"/>
              </a:rPr>
              <a:t>Les participants sont identifiés en fonction des objectifs du diagnostic et des sujets étudiés. La participation de la direction, des responsables métiers et des collaborateurs concernés permet de croiser les différents points de vue et de mieux comprendre les besoins de l'entreprise.</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1521"/>
        </a:solidFill>
      </p:bgPr>
    </p:bg>
    <p:spTree>
      <p:nvGrpSpPr>
        <p:cNvPr id="1" name=""/>
        <p:cNvGrpSpPr/>
        <p:nvPr/>
      </p:nvGrpSpPr>
      <p:grpSpPr>
        <a:xfrm>
          <a:off x="0" y="0"/>
          <a:ext cx="0" cy="0"/>
          <a:chOff x="0" y="0"/>
          <a:chExt cx="0" cy="0"/>
        </a:xfrm>
      </p:grpSpPr>
      <p:sp>
        <p:nvSpPr>
          <p:cNvPr id="2" name="Shape 0"/>
          <p:cNvSpPr/>
          <p:nvPr/>
        </p:nvSpPr>
        <p:spPr>
          <a:xfrm>
            <a:off x="1143000" y="2897684"/>
            <a:ext cx="16002000" cy="9525"/>
          </a:xfrm>
          <a:prstGeom prst="rect">
            <a:avLst/>
          </a:prstGeom>
          <a:solidFill>
            <a:srgbClr val="2B343D"/>
          </a:solidFill>
          <a:ln/>
        </p:spPr>
      </p:sp>
      <p:sp>
        <p:nvSpPr>
          <p:cNvPr id="3" name="Text 1"/>
          <p:cNvSpPr/>
          <p:nvPr/>
        </p:nvSpPr>
        <p:spPr>
          <a:xfrm>
            <a:off x="1143000" y="3288209"/>
            <a:ext cx="15716250"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ECEFF2"/>
                </a:solidFill>
                <a:latin typeface="Helvetica" pitchFamily="34" charset="0"/>
                <a:ea typeface="Helvetica" pitchFamily="34" charset="-122"/>
                <a:cs typeface="Helvetica" pitchFamily="34" charset="-120"/>
              </a:rPr>
              <a:t>Quels sont les livrables remis à l'issue du diagnostic ?</a:t>
            </a:r>
            <a:endParaRPr lang="en-US" sz="2400" dirty="0"/>
          </a:p>
        </p:txBody>
      </p:sp>
      <p:sp>
        <p:nvSpPr>
          <p:cNvPr id="4" name="Text 2"/>
          <p:cNvSpPr/>
          <p:nvPr/>
        </p:nvSpPr>
        <p:spPr>
          <a:xfrm>
            <a:off x="1143000" y="3812084"/>
            <a:ext cx="13735050" cy="1226641"/>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A5AFBA"/>
                </a:solidFill>
                <a:latin typeface="Helvetica" pitchFamily="34" charset="0"/>
                <a:ea typeface="Helvetica" pitchFamily="34" charset="-122"/>
                <a:cs typeface="Helvetica" pitchFamily="34" charset="-120"/>
              </a:rPr>
              <a:t>À l'issue du diagnostic, G2M vous restitue les principaux constats issus de l'analyse ainsi que les opportunités Data &amp; IA identifiées. Selon le format choisi, des recommandations, une priorisation des projets et une feuille de route adaptée à vos enjeux peuvent également être proposées.</a:t>
            </a:r>
            <a:endParaRPr lang="en-US" sz="1950" dirty="0"/>
          </a:p>
        </p:txBody>
      </p:sp>
      <p:sp>
        <p:nvSpPr>
          <p:cNvPr id="5" name="Shape 3"/>
          <p:cNvSpPr/>
          <p:nvPr/>
        </p:nvSpPr>
        <p:spPr>
          <a:xfrm>
            <a:off x="1143000" y="5381625"/>
            <a:ext cx="16002000" cy="9525"/>
          </a:xfrm>
          <a:prstGeom prst="rect">
            <a:avLst/>
          </a:prstGeom>
          <a:solidFill>
            <a:srgbClr val="2B343D"/>
          </a:solidFill>
          <a:ln/>
        </p:spPr>
      </p:sp>
      <p:sp>
        <p:nvSpPr>
          <p:cNvPr id="6" name="Text 4"/>
          <p:cNvSpPr/>
          <p:nvPr/>
        </p:nvSpPr>
        <p:spPr>
          <a:xfrm>
            <a:off x="1143000" y="5772150"/>
            <a:ext cx="15716250"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ECEFF2"/>
                </a:solidFill>
                <a:latin typeface="Helvetica" pitchFamily="34" charset="0"/>
                <a:ea typeface="Helvetica" pitchFamily="34" charset="-122"/>
                <a:cs typeface="Helvetica" pitchFamily="34" charset="-120"/>
              </a:rPr>
              <a:t>Que se passe-t-il après la réalisation du diagnostic ?</a:t>
            </a:r>
            <a:endParaRPr lang="en-US" sz="2400" dirty="0"/>
          </a:p>
        </p:txBody>
      </p:sp>
      <p:sp>
        <p:nvSpPr>
          <p:cNvPr id="7" name="Text 5"/>
          <p:cNvSpPr/>
          <p:nvPr/>
        </p:nvSpPr>
        <p:spPr>
          <a:xfrm>
            <a:off x="1143000" y="6296025"/>
            <a:ext cx="13735050" cy="1226641"/>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A5AFBA"/>
                </a:solidFill>
                <a:latin typeface="Helvetica" pitchFamily="34" charset="0"/>
                <a:ea typeface="Helvetica" pitchFamily="34" charset="-122"/>
                <a:cs typeface="Helvetica" pitchFamily="34" charset="-120"/>
              </a:rPr>
              <a:t>À l'issue du diagnostic, vous disposez d'une vision plus claire des opportunités Data &amp; IA adaptées à votre entreprise et des actions à mettre en œuvre. G2M peut ensuite vous accompagner dans la conception et le déploiement de solutions sur mesure afin de concrétiser les projets identifiés.</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2026-07-15T13:28:48Z</dcterms:created>
  <dcterms:modified xsi:type="dcterms:W3CDTF">2026-07-15T13:28:48Z</dcterms:modified>
</cp:coreProperties>
</file>