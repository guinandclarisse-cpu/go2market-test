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8572500"/>
  <p:notesSz cx="85725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5200650"/>
            <a:ext cx="18145125" cy="9525"/>
          </a:xfrm>
          <a:prstGeom prst="rect">
            <a:avLst/>
          </a:prstGeom>
          <a:solidFill>
            <a:srgbClr val="005F7E">
              <a:alpha val="35000"/>
            </a:srgbClr>
          </a:solidFill>
          <a:ln/>
        </p:spPr>
      </p:sp>
      <p:sp>
        <p:nvSpPr>
          <p:cNvPr id="3" name="Shape 1"/>
          <p:cNvSpPr/>
          <p:nvPr/>
        </p:nvSpPr>
        <p:spPr>
          <a:xfrm>
            <a:off x="3167063" y="1142926"/>
            <a:ext cx="1362001"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4" name="Text 2"/>
          <p:cNvSpPr/>
          <p:nvPr/>
        </p:nvSpPr>
        <p:spPr>
          <a:xfrm>
            <a:off x="3328988" y="1228651"/>
            <a:ext cx="1114351"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CONSTRUCTION</a:t>
            </a:r>
            <a:endParaRPr lang="en-US" sz="938" dirty="0"/>
          </a:p>
        </p:txBody>
      </p:sp>
      <p:sp>
        <p:nvSpPr>
          <p:cNvPr id="5" name="Shape 3"/>
          <p:cNvSpPr/>
          <p:nvPr/>
        </p:nvSpPr>
        <p:spPr>
          <a:xfrm>
            <a:off x="4624313" y="1142926"/>
            <a:ext cx="1461120"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6" name="Text 4"/>
          <p:cNvSpPr/>
          <p:nvPr/>
        </p:nvSpPr>
        <p:spPr>
          <a:xfrm>
            <a:off x="4786238" y="1228651"/>
            <a:ext cx="1213470"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ENVIRONNEMENT</a:t>
            </a:r>
            <a:endParaRPr lang="en-US" sz="938" dirty="0"/>
          </a:p>
        </p:txBody>
      </p:sp>
      <p:sp>
        <p:nvSpPr>
          <p:cNvPr id="7" name="Shape 5"/>
          <p:cNvSpPr/>
          <p:nvPr/>
        </p:nvSpPr>
        <p:spPr>
          <a:xfrm>
            <a:off x="6180683" y="1142926"/>
            <a:ext cx="1448321"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8" name="Text 6"/>
          <p:cNvSpPr/>
          <p:nvPr/>
        </p:nvSpPr>
        <p:spPr>
          <a:xfrm>
            <a:off x="6342608" y="1228651"/>
            <a:ext cx="1200671"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DÉCARBONATION</a:t>
            </a:r>
            <a:endParaRPr lang="en-US" sz="938" dirty="0"/>
          </a:p>
        </p:txBody>
      </p:sp>
      <p:sp>
        <p:nvSpPr>
          <p:cNvPr id="9" name="Text 7"/>
          <p:cNvSpPr/>
          <p:nvPr/>
        </p:nvSpPr>
        <p:spPr>
          <a:xfrm>
            <a:off x="3167063" y="1733476"/>
            <a:ext cx="6776814" cy="200025"/>
          </a:xfrm>
          <a:prstGeom prst="rect">
            <a:avLst/>
          </a:prstGeom>
          <a:noFill/>
          <a:ln/>
        </p:spPr>
        <p:txBody>
          <a:bodyPr wrap="square" lIns="25400" tIns="25400" rIns="25400" bIns="25400" rtlCol="0" anchor="t">
            <a:normAutofit/>
          </a:bodyPr>
          <a:lstStyle/>
          <a:p>
            <a:pPr algn="l" indent="0" marL="0">
              <a:buNone/>
            </a:pPr>
            <a:r>
              <a:rPr lang="en-US" sz="1125" spc="56" kern="0" dirty="0">
                <a:solidFill>
                  <a:srgbClr val="95A0AB"/>
                </a:solidFill>
                <a:latin typeface="Arial" pitchFamily="34" charset="0"/>
                <a:ea typeface="Arial" pitchFamily="34" charset="-122"/>
                <a:cs typeface="Arial" pitchFamily="34" charset="-120"/>
              </a:rPr>
              <a:t>CAS D'USAGE — CONSTRUCTION – ENVIRONNEMENT - DÉCARBONATION</a:t>
            </a:r>
            <a:endParaRPr lang="en-US" sz="1125" dirty="0"/>
          </a:p>
        </p:txBody>
      </p:sp>
      <p:sp>
        <p:nvSpPr>
          <p:cNvPr id="10" name="Shape 8"/>
          <p:cNvSpPr/>
          <p:nvPr/>
        </p:nvSpPr>
        <p:spPr>
          <a:xfrm>
            <a:off x="3167063" y="2028751"/>
            <a:ext cx="6160740" cy="1069777"/>
          </a:xfrm>
          <a:prstGeom prst="rect">
            <a:avLst/>
          </a:prstGeom>
          <a:solidFill>
            <a:srgbClr val="FFFFFF"/>
          </a:solidFill>
          <a:ln/>
        </p:spPr>
      </p:sp>
      <p:sp>
        <p:nvSpPr>
          <p:cNvPr id="11" name="Text 9"/>
          <p:cNvSpPr/>
          <p:nvPr/>
        </p:nvSpPr>
        <p:spPr>
          <a:xfrm>
            <a:off x="3167063" y="2028751"/>
            <a:ext cx="6345562" cy="1107877"/>
          </a:xfrm>
          <a:prstGeom prst="rect">
            <a:avLst/>
          </a:prstGeom>
          <a:noFill/>
          <a:ln/>
        </p:spPr>
        <p:txBody>
          <a:bodyPr wrap="square" lIns="25400" tIns="25400" rIns="25400" bIns="25400" rtlCol="0" anchor="t">
            <a:normAutofit/>
          </a:bodyPr>
          <a:lstStyle/>
          <a:p>
            <a:pPr algn="l" indent="0" marL="0">
              <a:lnSpc>
                <a:spcPct val="108000"/>
              </a:lnSpc>
              <a:buNone/>
            </a:pPr>
            <a:r>
              <a:rPr lang="en-US" sz="3900" b="1" dirty="0">
                <a:solidFill>
                  <a:srgbClr val="000000"/>
                </a:solidFill>
                <a:latin typeface="Arial" pitchFamily="34" charset="0"/>
                <a:ea typeface="Arial" pitchFamily="34" charset="-122"/>
                <a:cs typeface="Arial" pitchFamily="34" charset="-120"/>
              </a:rPr>
              <a:t>Extraction &amp; structuration de documents</a:t>
            </a:r>
            <a:endParaRPr lang="en-US" sz="3900" dirty="0"/>
          </a:p>
        </p:txBody>
      </p:sp>
      <p:sp>
        <p:nvSpPr>
          <p:cNvPr id="12" name="Text 10"/>
          <p:cNvSpPr/>
          <p:nvPr/>
        </p:nvSpPr>
        <p:spPr>
          <a:xfrm>
            <a:off x="3167063" y="3308077"/>
            <a:ext cx="5101590" cy="863873"/>
          </a:xfrm>
          <a:prstGeom prst="rect">
            <a:avLst/>
          </a:prstGeom>
          <a:noFill/>
          <a:ln/>
        </p:spPr>
        <p:txBody>
          <a:bodyPr wrap="square" lIns="25400" tIns="25400" rIns="25400" bIns="25400" rtlCol="0" anchor="t">
            <a:normAutofit/>
          </a:bodyPr>
          <a:lstStyle/>
          <a:p>
            <a:pPr algn="l" indent="0" marL="0">
              <a:lnSpc>
                <a:spcPct val="170000"/>
              </a:lnSpc>
              <a:buNone/>
            </a:pPr>
            <a:r>
              <a:rPr lang="en-US" sz="1275" dirty="0">
                <a:solidFill>
                  <a:srgbClr val="AEB9C4"/>
                </a:solidFill>
                <a:latin typeface="Arial" pitchFamily="34" charset="0"/>
                <a:ea typeface="Arial" pitchFamily="34" charset="-122"/>
                <a:cs typeface="Arial" pitchFamily="34" charset="-120"/>
              </a:rPr>
              <a:t>Comment l'IA transforme la lecture manuelle des CCTP en un enrichissement automatisé et fiable des DPGF, au service de l'Analyse de Cycle de Vie des bâtiments.</a:t>
            </a:r>
            <a:endParaRPr lang="en-US" sz="1275" dirty="0"/>
          </a:p>
        </p:txBody>
      </p:sp>
      <p:sp>
        <p:nvSpPr>
          <p:cNvPr id="13" name="Shape 11"/>
          <p:cNvSpPr/>
          <p:nvPr/>
        </p:nvSpPr>
        <p:spPr>
          <a:xfrm>
            <a:off x="9937403" y="914400"/>
            <a:ext cx="5040660" cy="3448050"/>
          </a:xfrm>
          <a:prstGeom prst="roundRect">
            <a:avLst>
              <a:gd name="adj" fmla="val 6630"/>
            </a:avLst>
          </a:prstGeom>
          <a:ln w="9525">
            <a:solidFill>
              <a:srgbClr val="007382">
                <a:alpha val="40000"/>
              </a:srgbClr>
            </a:solidFill>
            <a:prstDash val="solid"/>
          </a:ln>
          <a:effectLst>
            <a:outerShdw sx="100000" sy="100000" kx="0" ky="0" algn="bl" rotWithShape="0" blurRad="571500" dist="50800" dir="16200000">
              <a:srgbClr val="000000">
                <a:alpha val="30000"/>
              </a:srgbClr>
            </a:outerShdw>
          </a:effectLst>
        </p:spPr>
      </p:sp>
      <p:sp>
        <p:nvSpPr>
          <p:cNvPr id="14" name="Shape 12"/>
          <p:cNvSpPr/>
          <p:nvPr/>
        </p:nvSpPr>
        <p:spPr>
          <a:xfrm>
            <a:off x="12143333" y="2081212"/>
            <a:ext cx="628650" cy="628650"/>
          </a:xfrm>
          <a:prstGeom prst="roundRect">
            <a:avLst>
              <a:gd name="adj" fmla="val 24242"/>
            </a:avLst>
          </a:prstGeom>
          <a:solidFill>
            <a:srgbClr val="00364C">
              <a:alpha val="50000"/>
            </a:srgbClr>
          </a:solidFill>
          <a:ln w="9525">
            <a:solidFill>
              <a:srgbClr val="00B6C8">
                <a:alpha val="60000"/>
              </a:srgbClr>
            </a:solidFill>
            <a:prstDash val="solid"/>
          </a:ln>
        </p:spPr>
      </p:sp>
      <p:sp>
        <p:nvSpPr>
          <p:cNvPr id="15" name="Shape 13"/>
          <p:cNvSpPr/>
          <p:nvPr/>
        </p:nvSpPr>
        <p:spPr>
          <a:xfrm>
            <a:off x="12314783" y="2252663"/>
            <a:ext cx="285750" cy="285750"/>
          </a:xfrm>
          <a:prstGeom prst="roundRect">
            <a:avLst>
              <a:gd name="adj" fmla="val 20000"/>
            </a:avLst>
          </a:prstGeom>
          <a:ln w="19050">
            <a:solidFill>
              <a:srgbClr val="58E5ED"/>
            </a:solidFill>
            <a:prstDash val="solid"/>
          </a:ln>
        </p:spPr>
      </p:sp>
      <p:sp>
        <p:nvSpPr>
          <p:cNvPr id="16" name="Text 14"/>
          <p:cNvSpPr/>
          <p:nvPr/>
        </p:nvSpPr>
        <p:spPr>
          <a:xfrm>
            <a:off x="10888403" y="2881313"/>
            <a:ext cx="3138584" cy="171450"/>
          </a:xfrm>
          <a:prstGeom prst="rect">
            <a:avLst/>
          </a:prstGeom>
          <a:noFill/>
          <a:ln/>
        </p:spPr>
        <p:txBody>
          <a:bodyPr wrap="square" lIns="25400" tIns="25400" rIns="25400" bIns="25400" rtlCol="0" anchor="t">
            <a:normAutofit/>
          </a:bodyPr>
          <a:lstStyle/>
          <a:p>
            <a:pPr algn="ctr" indent="0" marL="0">
              <a:buNone/>
            </a:pPr>
            <a:r>
              <a:rPr lang="en-US" sz="900" spc="90" kern="0" dirty="0">
                <a:solidFill>
                  <a:srgbClr val="83A5B0"/>
                </a:solidFill>
                <a:latin typeface="Arial" pitchFamily="34" charset="0"/>
                <a:ea typeface="Arial" pitchFamily="34" charset="-122"/>
                <a:cs typeface="Arial" pitchFamily="34" charset="-120"/>
              </a:rPr>
              <a:t>ILLUSTRATION — BÂTIMENT, DONNÉES &amp; IA</a:t>
            </a:r>
            <a:endParaRPr lang="en-US" sz="900" dirty="0"/>
          </a:p>
        </p:txBody>
      </p:sp>
      <p:sp>
        <p:nvSpPr>
          <p:cNvPr id="17" name="Text 15"/>
          <p:cNvSpPr/>
          <p:nvPr/>
        </p:nvSpPr>
        <p:spPr>
          <a:xfrm>
            <a:off x="10888403" y="3071813"/>
            <a:ext cx="3138584" cy="161925"/>
          </a:xfrm>
          <a:prstGeom prst="rect">
            <a:avLst/>
          </a:prstGeom>
          <a:noFill/>
          <a:ln/>
        </p:spPr>
        <p:txBody>
          <a:bodyPr wrap="square" lIns="25400" tIns="25400" rIns="25400" bIns="25400" rtlCol="0" anchor="t">
            <a:normAutofit/>
          </a:bodyPr>
          <a:lstStyle/>
          <a:p>
            <a:pPr algn="ctr" indent="0" marL="0">
              <a:buNone/>
            </a:pPr>
            <a:r>
              <a:rPr lang="en-US" sz="825" dirty="0">
                <a:solidFill>
                  <a:srgbClr val="5F767E"/>
                </a:solidFill>
                <a:latin typeface="Courier New" pitchFamily="34" charset="0"/>
                <a:ea typeface="Courier New" pitchFamily="34" charset="-122"/>
                <a:cs typeface="Courier New" pitchFamily="34" charset="-120"/>
              </a:rPr>
              <a:t>visuel à intégrer</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954881"/>
            <a:ext cx="514350" cy="514350"/>
          </a:xfrm>
          <a:prstGeom prst="roundRect">
            <a:avLst>
              <a:gd name="adj" fmla="val 25926"/>
            </a:avLst>
          </a:prstGeom>
          <a:solidFill>
            <a:srgbClr val="48140E">
              <a:alpha val="35000"/>
            </a:srgbClr>
          </a:solidFill>
          <a:ln w="9525">
            <a:solidFill>
              <a:srgbClr val="C15E50">
                <a:alpha val="50000"/>
              </a:srgbClr>
            </a:solidFill>
            <a:prstDash val="solid"/>
          </a:ln>
        </p:spPr>
      </p:sp>
      <p:sp>
        <p:nvSpPr>
          <p:cNvPr id="3" name="Shape 1"/>
          <p:cNvSpPr/>
          <p:nvPr/>
        </p:nvSpPr>
        <p:spPr>
          <a:xfrm>
            <a:off x="1605855" y="1069181"/>
            <a:ext cx="228600" cy="285750"/>
          </a:xfrm>
          <a:prstGeom prst="roundRect">
            <a:avLst>
              <a:gd name="adj" fmla="val 12500"/>
            </a:avLst>
          </a:prstGeom>
          <a:ln w="19050">
            <a:solidFill>
              <a:srgbClr val="FF9381"/>
            </a:solidFill>
            <a:prstDash val="solid"/>
          </a:ln>
        </p:spPr>
      </p:sp>
      <p:sp>
        <p:nvSpPr>
          <p:cNvPr id="4" name="Shape 2"/>
          <p:cNvSpPr/>
          <p:nvPr/>
        </p:nvSpPr>
        <p:spPr>
          <a:xfrm>
            <a:off x="1653480" y="1145381"/>
            <a:ext cx="95250" cy="19050"/>
          </a:xfrm>
          <a:prstGeom prst="rect">
            <a:avLst/>
          </a:prstGeom>
          <a:solidFill>
            <a:srgbClr val="FF9381"/>
          </a:solidFill>
          <a:ln/>
        </p:spPr>
      </p:sp>
      <p:sp>
        <p:nvSpPr>
          <p:cNvPr id="5" name="Shape 3"/>
          <p:cNvSpPr/>
          <p:nvPr/>
        </p:nvSpPr>
        <p:spPr>
          <a:xfrm>
            <a:off x="1653480" y="1193006"/>
            <a:ext cx="95250" cy="19050"/>
          </a:xfrm>
          <a:prstGeom prst="rect">
            <a:avLst/>
          </a:prstGeom>
          <a:solidFill>
            <a:srgbClr val="FF9381"/>
          </a:solidFill>
          <a:ln/>
        </p:spPr>
      </p:sp>
      <p:sp>
        <p:nvSpPr>
          <p:cNvPr id="6" name="Shape 4"/>
          <p:cNvSpPr/>
          <p:nvPr/>
        </p:nvSpPr>
        <p:spPr>
          <a:xfrm>
            <a:off x="1653480" y="1240631"/>
            <a:ext cx="57150" cy="19050"/>
          </a:xfrm>
          <a:prstGeom prst="rect">
            <a:avLst/>
          </a:prstGeom>
          <a:solidFill>
            <a:srgbClr val="FF9381"/>
          </a:solidFill>
          <a:ln/>
        </p:spPr>
      </p:sp>
      <p:sp>
        <p:nvSpPr>
          <p:cNvPr id="7" name="Text 5"/>
          <p:cNvSpPr/>
          <p:nvPr/>
        </p:nvSpPr>
        <p:spPr>
          <a:xfrm>
            <a:off x="2129730" y="952500"/>
            <a:ext cx="3037820"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8B9AAB"/>
                </a:solidFill>
                <a:latin typeface="Arial" pitchFamily="34" charset="0"/>
                <a:ea typeface="Arial" pitchFamily="34" charset="-122"/>
                <a:cs typeface="Arial" pitchFamily="34" charset="-120"/>
              </a:rPr>
              <a:t>LE POINT DE DÉPART</a:t>
            </a:r>
            <a:endParaRPr lang="en-US" sz="975" dirty="0"/>
          </a:p>
        </p:txBody>
      </p:sp>
      <p:sp>
        <p:nvSpPr>
          <p:cNvPr id="8" name="Text 6"/>
          <p:cNvSpPr/>
          <p:nvPr/>
        </p:nvSpPr>
        <p:spPr>
          <a:xfrm>
            <a:off x="2129730" y="1119188"/>
            <a:ext cx="303782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Problématique client</a:t>
            </a:r>
            <a:endParaRPr lang="en-US" sz="2400" dirty="0"/>
          </a:p>
        </p:txBody>
      </p:sp>
      <p:sp>
        <p:nvSpPr>
          <p:cNvPr id="9" name="Shape 7"/>
          <p:cNvSpPr/>
          <p:nvPr/>
        </p:nvSpPr>
        <p:spPr>
          <a:xfrm>
            <a:off x="1462980" y="1814513"/>
            <a:ext cx="10287000" cy="4751115"/>
          </a:xfrm>
          <a:prstGeom prst="roundRect">
            <a:avLst>
              <a:gd name="adj" fmla="val 4010"/>
            </a:avLst>
          </a:prstGeom>
          <a:ln w="9525">
            <a:solidFill>
              <a:srgbClr val="144E66">
                <a:alpha val="45000"/>
              </a:srgbClr>
            </a:solidFill>
            <a:prstDash val="solid"/>
          </a:ln>
          <a:effectLst>
            <a:outerShdw sx="100000" sy="100000" kx="0" ky="0" algn="bl" rotWithShape="0" blurRad="381000" dist="50800" dir="16200000">
              <a:srgbClr val="000000">
                <a:alpha val="30000"/>
              </a:srgbClr>
            </a:outerShdw>
          </a:effectLst>
        </p:spPr>
      </p:sp>
      <p:sp>
        <p:nvSpPr>
          <p:cNvPr id="10" name="Text 8"/>
          <p:cNvSpPr/>
          <p:nvPr/>
        </p:nvSpPr>
        <p:spPr>
          <a:xfrm>
            <a:off x="1853505" y="2205038"/>
            <a:ext cx="9791129" cy="1491779"/>
          </a:xfrm>
          <a:prstGeom prst="rect">
            <a:avLst/>
          </a:prstGeom>
          <a:noFill/>
          <a:ln/>
        </p:spPr>
        <p:txBody>
          <a:bodyPr wrap="square" lIns="25400" tIns="25400" rIns="25400" bIns="25400" rtlCol="0" anchor="t">
            <a:normAutofit/>
          </a:bodyPr>
          <a:lstStyle/>
          <a:p>
            <a:pPr algn="l" indent="0" marL="0">
              <a:lnSpc>
                <a:spcPct val="185000"/>
              </a:lnSpc>
              <a:buNone/>
            </a:pPr>
            <a:r>
              <a:rPr lang="en-US" sz="1238" b="1" dirty="0">
                <a:solidFill>
                  <a:srgbClr val="FFFFFF"/>
                </a:solidFill>
                <a:latin typeface="Arial" pitchFamily="34" charset="0"/>
                <a:ea typeface="Arial" pitchFamily="34" charset="-122"/>
                <a:cs typeface="Arial" pitchFamily="34" charset="-120"/>
              </a:rPr>
              <a:t>Problématique client :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Dans le secteur de la construction, la réglementation environnementale impose désormais de réaliser une Analyse de Cycle de Vie (ACV) pour évaluer l'impact carbone d'un bâtiment tout au long de sa durée de vie, une exigence renforcée par la RE2020. Cette analyse suppose d'identifier précisément chaque matériau utilisé dans le projet, puis de l'associer à sa fiche EPD (Environmental Product Declaration) correspondante pour en connaître l'empreinte environnementale réelle.</a:t>
            </a:r>
            <a:endParaRPr lang="en-US" sz="1238" dirty="0"/>
          </a:p>
        </p:txBody>
      </p:sp>
      <p:sp>
        <p:nvSpPr>
          <p:cNvPr id="11" name="Text 9"/>
          <p:cNvSpPr/>
          <p:nvPr/>
        </p:nvSpPr>
        <p:spPr>
          <a:xfrm>
            <a:off x="1853505" y="3849216"/>
            <a:ext cx="9791129" cy="2363986"/>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Cependant, les informations présentes dans les DPGF (Décompositions du Prix Global et Forfaitaire) ne sont pas toujours suffisamment détaillées pour identifier précisément les matériaux et sélectionner les fiches EPD adaptées. Il est donc nécessaire de rechercher dans les CCTP (Cahiers des Clauses Techniques Particulières) les caractéristiques complémentaires sur les matériaux utilisés afin d'enrichir les données du DPGF et de choisir les fiches EPD les plus pertinentes. Ces informations étant dispersées dans des CCTP longs, techniques et propres à chaque projet, les équipes devaient consulter manuellement chaque document, matériau par matériau. Cette tâche particulièrement chronophage pouvait nécessiter </a:t>
            </a:r>
            <a:pPr algn="l" indent="0" marL="0">
              <a:lnSpc>
                <a:spcPct val="185000"/>
              </a:lnSpc>
              <a:buNone/>
            </a:pPr>
            <a:r>
              <a:rPr lang="en-US" sz="1238" b="1" dirty="0">
                <a:solidFill>
                  <a:srgbClr val="FFA077"/>
                </a:solidFill>
                <a:highlight>
                  <a:srgbClr val="CBB8B2"/>
                </a:highlight>
                <a:latin typeface="Arial" pitchFamily="34" charset="0"/>
                <a:ea typeface="Arial" pitchFamily="34" charset="-122"/>
                <a:cs typeface="Arial" pitchFamily="34" charset="-120"/>
              </a:rPr>
              <a:t>jusqu'à 1 h 30 par appel d'offres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et était susceptible de générer des erreurs. Cela augmentait le risque d'associer des fiches EPD inadaptées, pouvant affecter la fiabilité de l'ACV du bâtiment dans son ensemble.</a:t>
            </a:r>
            <a:endParaRPr lang="en-US" sz="12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7105948" y="1085850"/>
            <a:ext cx="1549606"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B4685C"/>
                </a:solidFill>
                <a:latin typeface="Arial" pitchFamily="34" charset="0"/>
                <a:ea typeface="Arial" pitchFamily="34" charset="-122"/>
                <a:cs typeface="Arial" pitchFamily="34" charset="-120"/>
              </a:rPr>
              <a:t>PROCESSUS MANUEL</a:t>
            </a:r>
            <a:endParaRPr lang="en-US" sz="900" dirty="0"/>
          </a:p>
        </p:txBody>
      </p:sp>
      <p:sp>
        <p:nvSpPr>
          <p:cNvPr id="3" name="Shape 1"/>
          <p:cNvSpPr/>
          <p:nvPr/>
        </p:nvSpPr>
        <p:spPr>
          <a:xfrm>
            <a:off x="8686130" y="1119188"/>
            <a:ext cx="66675" cy="66675"/>
          </a:xfrm>
          <a:prstGeom prst="ellipse">
            <a:avLst/>
          </a:prstGeom>
          <a:solidFill>
            <a:srgbClr val="00C9D3">
              <a:alpha val="97000"/>
            </a:srgbClr>
          </a:solidFill>
          <a:ln/>
        </p:spPr>
      </p:sp>
      <p:sp>
        <p:nvSpPr>
          <p:cNvPr id="4" name="Shape 2"/>
          <p:cNvSpPr/>
          <p:nvPr/>
        </p:nvSpPr>
        <p:spPr>
          <a:xfrm>
            <a:off x="8809955" y="1119188"/>
            <a:ext cx="66675" cy="66675"/>
          </a:xfrm>
          <a:prstGeom prst="ellipse">
            <a:avLst/>
          </a:prstGeom>
          <a:solidFill>
            <a:srgbClr val="00C9D3">
              <a:alpha val="76000"/>
            </a:srgbClr>
          </a:solidFill>
          <a:ln/>
        </p:spPr>
      </p:sp>
      <p:sp>
        <p:nvSpPr>
          <p:cNvPr id="5" name="Shape 3"/>
          <p:cNvSpPr/>
          <p:nvPr/>
        </p:nvSpPr>
        <p:spPr>
          <a:xfrm>
            <a:off x="8933780" y="1119188"/>
            <a:ext cx="66675" cy="66675"/>
          </a:xfrm>
          <a:prstGeom prst="ellipse">
            <a:avLst/>
          </a:prstGeom>
          <a:solidFill>
            <a:srgbClr val="00C9D3">
              <a:alpha val="45000"/>
            </a:srgbClr>
          </a:solidFill>
          <a:ln/>
        </p:spPr>
      </p:sp>
      <p:sp>
        <p:nvSpPr>
          <p:cNvPr id="6" name="Shape 4"/>
          <p:cNvSpPr/>
          <p:nvPr/>
        </p:nvSpPr>
        <p:spPr>
          <a:xfrm>
            <a:off x="9057605" y="1119188"/>
            <a:ext cx="66675" cy="66675"/>
          </a:xfrm>
          <a:prstGeom prst="ellipse">
            <a:avLst/>
          </a:prstGeom>
          <a:solidFill>
            <a:srgbClr val="00C9D3">
              <a:alpha val="27000"/>
            </a:srgbClr>
          </a:solidFill>
          <a:ln/>
        </p:spPr>
      </p:sp>
      <p:sp>
        <p:nvSpPr>
          <p:cNvPr id="7" name="Text 5"/>
          <p:cNvSpPr/>
          <p:nvPr/>
        </p:nvSpPr>
        <p:spPr>
          <a:xfrm>
            <a:off x="9295730" y="1085850"/>
            <a:ext cx="1917710"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00C8D1"/>
                </a:solidFill>
                <a:latin typeface="Arial" pitchFamily="34" charset="0"/>
                <a:ea typeface="Arial" pitchFamily="34" charset="-122"/>
                <a:cs typeface="Arial" pitchFamily="34" charset="-120"/>
              </a:rPr>
              <a:t>AUTOMATISATION PAR L'IA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228600"/>
            <a:ext cx="10287000" cy="3941787"/>
          </a:xfrm>
          <a:prstGeom prst="roundRect">
            <a:avLst>
              <a:gd name="adj" fmla="val 4833"/>
            </a:avLst>
          </a:prstGeom>
          <a:ln w="9525">
            <a:solidFill>
              <a:srgbClr val="008595">
                <a:alpha val="50000"/>
              </a:srgbClr>
            </a:solidFill>
            <a:prstDash val="solid"/>
          </a:ln>
          <a:effectLst>
            <a:outerShdw sx="100000" sy="100000" kx="0" ky="0" algn="bl" rotWithShape="0" blurRad="523875" dist="50800" dir="16200000">
              <a:srgbClr val="000000">
                <a:alpha val="30000"/>
              </a:srgbClr>
            </a:outerShdw>
          </a:effectLst>
        </p:spPr>
      </p:sp>
      <p:sp>
        <p:nvSpPr>
          <p:cNvPr id="3" name="Shape 1"/>
          <p:cNvSpPr/>
          <p:nvPr/>
        </p:nvSpPr>
        <p:spPr>
          <a:xfrm>
            <a:off x="10216455" y="-333375"/>
            <a:ext cx="2095500" cy="2095500"/>
          </a:xfrm>
          <a:prstGeom prst="ellipse">
            <a:avLst/>
          </a:prstGeom>
          <a:solidFill>
            <a:srgbClr val="00869A">
              <a:alpha val="15000"/>
            </a:srgbClr>
          </a:solidFill>
          <a:ln/>
        </p:spPr>
      </p:sp>
      <p:sp>
        <p:nvSpPr>
          <p:cNvPr id="4" name="Shape 2"/>
          <p:cNvSpPr/>
          <p:nvPr/>
        </p:nvSpPr>
        <p:spPr>
          <a:xfrm>
            <a:off x="1891605" y="657225"/>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5" name="Shape 3"/>
          <p:cNvSpPr/>
          <p:nvPr/>
        </p:nvSpPr>
        <p:spPr>
          <a:xfrm>
            <a:off x="2005905" y="771525"/>
            <a:ext cx="209550" cy="209550"/>
          </a:xfrm>
          <a:prstGeom prst="ellipse">
            <a:avLst/>
          </a:prstGeom>
          <a:ln w="19050">
            <a:solidFill>
              <a:srgbClr val="44E7EF"/>
            </a:solidFill>
            <a:prstDash val="solid"/>
          </a:ln>
        </p:spPr>
      </p:sp>
      <p:sp>
        <p:nvSpPr>
          <p:cNvPr id="6" name="Shape 4"/>
          <p:cNvSpPr/>
          <p:nvPr/>
        </p:nvSpPr>
        <p:spPr>
          <a:xfrm>
            <a:off x="2053530" y="847725"/>
            <a:ext cx="76200" cy="19050"/>
          </a:xfrm>
          <a:prstGeom prst="rect">
            <a:avLst/>
          </a:prstGeom>
          <a:solidFill>
            <a:srgbClr val="44E7EF"/>
          </a:solidFill>
          <a:ln/>
        </p:spPr>
      </p:sp>
      <p:sp>
        <p:nvSpPr>
          <p:cNvPr id="7" name="Text 5"/>
          <p:cNvSpPr/>
          <p:nvPr/>
        </p:nvSpPr>
        <p:spPr>
          <a:xfrm>
            <a:off x="2463105" y="802481"/>
            <a:ext cx="1697519"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1ACFDF"/>
                </a:solidFill>
                <a:latin typeface="Arial" pitchFamily="34" charset="0"/>
                <a:ea typeface="Arial" pitchFamily="34" charset="-122"/>
                <a:cs typeface="Arial" pitchFamily="34" charset="-120"/>
              </a:rPr>
              <a:t>SOLUTION APPORTÉE</a:t>
            </a:r>
            <a:endParaRPr lang="en-US" sz="975" dirty="0"/>
          </a:p>
        </p:txBody>
      </p:sp>
      <p:sp>
        <p:nvSpPr>
          <p:cNvPr id="8" name="Text 6"/>
          <p:cNvSpPr/>
          <p:nvPr/>
        </p:nvSpPr>
        <p:spPr>
          <a:xfrm>
            <a:off x="1891605" y="1323975"/>
            <a:ext cx="9712643" cy="936650"/>
          </a:xfrm>
          <a:prstGeom prst="rect">
            <a:avLst/>
          </a:prstGeom>
          <a:noFill/>
          <a:ln/>
        </p:spPr>
        <p:txBody>
          <a:bodyPr wrap="square" lIns="25400" tIns="25400" rIns="25400" bIns="25400" rtlCol="0" anchor="t">
            <a:normAutofit/>
          </a:bodyPr>
          <a:lstStyle/>
          <a:p>
            <a:pPr algn="l" indent="0" marL="0">
              <a:lnSpc>
                <a:spcPct val="185000"/>
              </a:lnSpc>
              <a:buNone/>
            </a:pPr>
            <a:r>
              <a:rPr lang="en-US" sz="1275" b="1" dirty="0">
                <a:solidFill>
                  <a:srgbClr val="FFFFFF"/>
                </a:solidFill>
                <a:latin typeface="Arial" pitchFamily="34" charset="0"/>
                <a:ea typeface="Arial" pitchFamily="34" charset="-122"/>
                <a:cs typeface="Arial" pitchFamily="34" charset="-120"/>
              </a:rPr>
              <a:t>Solution apportée :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Développement d'un outil qui lit automatiquement les CCTP, identifie les matériaux mentionnés et les associe directement aux fiches EPD correspondantes pour enrichir les DPGF (Décomposition du Prix Global et Forfaitaire). </a:t>
            </a:r>
            <a:pPr algn="l" indent="0" marL="0">
              <a:lnSpc>
                <a:spcPct val="185000"/>
              </a:lnSpc>
              <a:buNone/>
            </a:pPr>
            <a:r>
              <a:rPr lang="en-US" sz="1275" b="1" dirty="0">
                <a:solidFill>
                  <a:srgbClr val="24E9F2"/>
                </a:solidFill>
                <a:highlight>
                  <a:srgbClr val="A6BFC3"/>
                </a:highlight>
                <a:latin typeface="Arial" pitchFamily="34" charset="0"/>
                <a:ea typeface="Arial" pitchFamily="34" charset="-122"/>
                <a:cs typeface="Arial" pitchFamily="34" charset="-120"/>
              </a:rPr>
              <a:t>Les équipes n'ont plus qu'à vérifier et valider un travail déjà structuré</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 au lieu de le réaliser depuis zéro.</a:t>
            </a:r>
            <a:endParaRPr lang="en-US" sz="1275" dirty="0"/>
          </a:p>
        </p:txBody>
      </p:sp>
      <p:sp>
        <p:nvSpPr>
          <p:cNvPr id="9" name="Text 7"/>
          <p:cNvSpPr/>
          <p:nvPr/>
        </p:nvSpPr>
        <p:spPr>
          <a:xfrm>
            <a:off x="1891605" y="2489225"/>
            <a:ext cx="10372725" cy="176212"/>
          </a:xfrm>
          <a:prstGeom prst="rect">
            <a:avLst/>
          </a:prstGeom>
          <a:noFill/>
          <a:ln/>
        </p:spPr>
        <p:txBody>
          <a:bodyPr wrap="square" lIns="25400" tIns="25400" rIns="25400" bIns="25400" rtlCol="0" anchor="t">
            <a:normAutofit/>
          </a:bodyPr>
          <a:lstStyle/>
          <a:p>
            <a:pPr algn="l" indent="0" marL="0">
              <a:buNone/>
            </a:pPr>
            <a:r>
              <a:rPr lang="en-US" sz="938" spc="94" kern="0" dirty="0">
                <a:solidFill>
                  <a:srgbClr val="8291A1"/>
                </a:solidFill>
                <a:latin typeface="Arial" pitchFamily="34" charset="0"/>
                <a:ea typeface="Arial" pitchFamily="34" charset="-122"/>
                <a:cs typeface="Arial" pitchFamily="34" charset="-120"/>
              </a:rPr>
              <a:t>FONCTIONNEMENT DE L'OUTIL</a:t>
            </a:r>
            <a:endParaRPr lang="en-US" sz="938" dirty="0"/>
          </a:p>
        </p:txBody>
      </p:sp>
      <p:sp>
        <p:nvSpPr>
          <p:cNvPr id="10" name="Shape 8"/>
          <p:cNvSpPr/>
          <p:nvPr/>
        </p:nvSpPr>
        <p:spPr>
          <a:xfrm>
            <a:off x="1891605" y="2779737"/>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1" name="Text 9"/>
          <p:cNvSpPr/>
          <p:nvPr/>
        </p:nvSpPr>
        <p:spPr>
          <a:xfrm>
            <a:off x="2034480" y="2922612"/>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CCTP</a:t>
            </a:r>
            <a:endParaRPr lang="en-US" sz="1013" dirty="0"/>
          </a:p>
        </p:txBody>
      </p:sp>
      <p:sp>
        <p:nvSpPr>
          <p:cNvPr id="12" name="Text 10"/>
          <p:cNvSpPr/>
          <p:nvPr/>
        </p:nvSpPr>
        <p:spPr>
          <a:xfrm>
            <a:off x="3777555"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3" name="Shape 11"/>
          <p:cNvSpPr/>
          <p:nvPr/>
        </p:nvSpPr>
        <p:spPr>
          <a:xfrm>
            <a:off x="4044255" y="2779737"/>
            <a:ext cx="1966243"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4" name="Text 12"/>
          <p:cNvSpPr/>
          <p:nvPr/>
        </p:nvSpPr>
        <p:spPr>
          <a:xfrm>
            <a:off x="4187130" y="2922612"/>
            <a:ext cx="1680493"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Lecture automatique par l'IA</a:t>
            </a:r>
            <a:endParaRPr lang="en-US" sz="1013" dirty="0"/>
          </a:p>
        </p:txBody>
      </p:sp>
      <p:sp>
        <p:nvSpPr>
          <p:cNvPr id="15" name="Text 13"/>
          <p:cNvSpPr/>
          <p:nvPr/>
        </p:nvSpPr>
        <p:spPr>
          <a:xfrm>
            <a:off x="6105748"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6" name="Shape 14"/>
          <p:cNvSpPr/>
          <p:nvPr/>
        </p:nvSpPr>
        <p:spPr>
          <a:xfrm>
            <a:off x="6372448" y="2779737"/>
            <a:ext cx="2942183"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7" name="Text 15"/>
          <p:cNvSpPr/>
          <p:nvPr/>
        </p:nvSpPr>
        <p:spPr>
          <a:xfrm>
            <a:off x="6509290" y="2922612"/>
            <a:ext cx="2668499"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Identification et caractérisation des matériaux</a:t>
            </a:r>
            <a:endParaRPr lang="en-US" sz="1013" dirty="0"/>
          </a:p>
        </p:txBody>
      </p:sp>
      <p:sp>
        <p:nvSpPr>
          <p:cNvPr id="18" name="Text 16"/>
          <p:cNvSpPr/>
          <p:nvPr/>
        </p:nvSpPr>
        <p:spPr>
          <a:xfrm>
            <a:off x="9409881"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9" name="Shape 17"/>
          <p:cNvSpPr/>
          <p:nvPr/>
        </p:nvSpPr>
        <p:spPr>
          <a:xfrm>
            <a:off x="1891605" y="3308375"/>
            <a:ext cx="1934394"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0" name="Text 18"/>
          <p:cNvSpPr/>
          <p:nvPr/>
        </p:nvSpPr>
        <p:spPr>
          <a:xfrm>
            <a:off x="2034480" y="3451250"/>
            <a:ext cx="1648644"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Association aux fiches EPD</a:t>
            </a:r>
            <a:endParaRPr lang="en-US" sz="1013" dirty="0"/>
          </a:p>
        </p:txBody>
      </p:sp>
      <p:sp>
        <p:nvSpPr>
          <p:cNvPr id="21" name="Text 19"/>
          <p:cNvSpPr/>
          <p:nvPr/>
        </p:nvSpPr>
        <p:spPr>
          <a:xfrm>
            <a:off x="3921249" y="3420294"/>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2" name="Shape 20"/>
          <p:cNvSpPr/>
          <p:nvPr/>
        </p:nvSpPr>
        <p:spPr>
          <a:xfrm>
            <a:off x="4187949" y="3308375"/>
            <a:ext cx="1812652"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3" name="Text 21"/>
          <p:cNvSpPr/>
          <p:nvPr/>
        </p:nvSpPr>
        <p:spPr>
          <a:xfrm>
            <a:off x="4330824" y="3451250"/>
            <a:ext cx="1526902"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Enrichissement du DPGF</a:t>
            </a:r>
            <a:endParaRPr lang="en-US" sz="1013" dirty="0"/>
          </a:p>
        </p:txBody>
      </p:sp>
      <p:sp>
        <p:nvSpPr>
          <p:cNvPr id="24" name="Text 22"/>
          <p:cNvSpPr/>
          <p:nvPr/>
        </p:nvSpPr>
        <p:spPr>
          <a:xfrm>
            <a:off x="6095851" y="3420294"/>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5" name="Shape 23"/>
          <p:cNvSpPr/>
          <p:nvPr/>
        </p:nvSpPr>
        <p:spPr>
          <a:xfrm>
            <a:off x="6362551" y="3308375"/>
            <a:ext cx="1825079"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6" name="Text 24"/>
          <p:cNvSpPr/>
          <p:nvPr/>
        </p:nvSpPr>
        <p:spPr>
          <a:xfrm>
            <a:off x="6505426" y="3451250"/>
            <a:ext cx="1539329"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Validation par les équipes</a:t>
            </a:r>
            <a:endParaRPr lang="en-US" sz="10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48630" y="190500"/>
            <a:ext cx="113157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SOUS LE CAPOT</a:t>
            </a:r>
            <a:endParaRPr lang="en-US" sz="975" dirty="0"/>
          </a:p>
        </p:txBody>
      </p:sp>
      <p:sp>
        <p:nvSpPr>
          <p:cNvPr id="3" name="Text 1"/>
          <p:cNvSpPr/>
          <p:nvPr/>
        </p:nvSpPr>
        <p:spPr>
          <a:xfrm>
            <a:off x="948630" y="395288"/>
            <a:ext cx="11315700"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Expertises techniques utilisées</a:t>
            </a:r>
            <a:endParaRPr lang="en-US" sz="2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01230" y="1123950"/>
            <a:ext cx="7810500" cy="4859834"/>
          </a:xfrm>
          <a:prstGeom prst="rect">
            <a:avLst/>
          </a:prstGeom>
        </p:spPr>
      </p:pic>
      <p:sp>
        <p:nvSpPr>
          <p:cNvPr id="5" name="Shape 2"/>
          <p:cNvSpPr/>
          <p:nvPr/>
        </p:nvSpPr>
        <p:spPr>
          <a:xfrm>
            <a:off x="5777805" y="2725192"/>
            <a:ext cx="1657350" cy="1657350"/>
          </a:xfrm>
          <a:prstGeom prst="ellipse">
            <a:avLst/>
          </a:prstGeom>
          <a:ln w="9525">
            <a:solidFill>
              <a:srgbClr val="00B5C7">
                <a:alpha val="70000"/>
              </a:srgbClr>
            </a:solidFill>
            <a:prstDash val="solid"/>
          </a:ln>
          <a:effectLst>
            <a:outerShdw sx="100000" sy="100000" kx="0" ky="0" algn="bl" rotWithShape="0" blurRad="523875" dist="50800" dir="16200000">
              <a:srgbClr val="000000">
                <a:alpha val="30000"/>
              </a:srgbClr>
            </a:outerShdw>
          </a:effectLst>
        </p:spPr>
      </p:sp>
      <p:sp>
        <p:nvSpPr>
          <p:cNvPr id="6" name="Text 3"/>
          <p:cNvSpPr/>
          <p:nvPr/>
        </p:nvSpPr>
        <p:spPr>
          <a:xfrm>
            <a:off x="6242224" y="3355777"/>
            <a:ext cx="728439" cy="434280"/>
          </a:xfrm>
          <a:prstGeom prst="rect">
            <a:avLst/>
          </a:prstGeom>
          <a:noFill/>
          <a:ln/>
        </p:spPr>
        <p:txBody>
          <a:bodyPr wrap="square" lIns="25400" tIns="25400" rIns="25400" bIns="25400" rtlCol="0" anchor="t">
            <a:normAutofit/>
          </a:bodyPr>
          <a:lstStyle/>
          <a:p>
            <a:pPr algn="ctr" indent="0" marL="0">
              <a:lnSpc>
                <a:spcPct val="130000"/>
              </a:lnSpc>
              <a:buNone/>
            </a:pPr>
            <a:r>
              <a:rPr lang="en-US" sz="1200" b="1" dirty="0">
                <a:solidFill>
                  <a:srgbClr val="FFFFFF"/>
                </a:solidFill>
                <a:latin typeface="Arial" pitchFamily="34" charset="0"/>
                <a:ea typeface="Arial" pitchFamily="34" charset="-122"/>
                <a:cs typeface="Arial" pitchFamily="34" charset="-120"/>
              </a:rPr>
              <a:t>Solution Data &amp; IA</a:t>
            </a:r>
            <a:endParaRPr lang="en-US" sz="1200" dirty="0"/>
          </a:p>
        </p:txBody>
      </p:sp>
      <p:sp>
        <p:nvSpPr>
          <p:cNvPr id="7" name="Shape 4"/>
          <p:cNvSpPr/>
          <p:nvPr/>
        </p:nvSpPr>
        <p:spPr>
          <a:xfrm>
            <a:off x="3310384" y="1950095"/>
            <a:ext cx="2457450" cy="685800"/>
          </a:xfrm>
          <a:prstGeom prst="roundRect">
            <a:avLst>
              <a:gd name="adj" fmla="val 19444"/>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8" name="Shape 5"/>
          <p:cNvSpPr/>
          <p:nvPr/>
        </p:nvSpPr>
        <p:spPr>
          <a:xfrm>
            <a:off x="3491359" y="2112020"/>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9" name="Shape 6"/>
          <p:cNvSpPr/>
          <p:nvPr/>
        </p:nvSpPr>
        <p:spPr>
          <a:xfrm>
            <a:off x="3610421" y="2231082"/>
            <a:ext cx="123825" cy="123825"/>
          </a:xfrm>
          <a:prstGeom prst="roundRect">
            <a:avLst>
              <a:gd name="adj" fmla="val 30769"/>
            </a:avLst>
          </a:prstGeom>
          <a:solidFill>
            <a:srgbClr val="28D6DF"/>
          </a:solidFill>
          <a:ln/>
        </p:spPr>
      </p:sp>
      <p:sp>
        <p:nvSpPr>
          <p:cNvPr id="10" name="Text 7"/>
          <p:cNvSpPr/>
          <p:nvPr/>
        </p:nvSpPr>
        <p:spPr>
          <a:xfrm>
            <a:off x="3967609" y="2125861"/>
            <a:ext cx="1695450" cy="372368"/>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Extraction automatique de données</a:t>
            </a:r>
            <a:endParaRPr lang="en-US" sz="1013" dirty="0"/>
          </a:p>
        </p:txBody>
      </p:sp>
      <p:sp>
        <p:nvSpPr>
          <p:cNvPr id="11" name="Shape 8"/>
          <p:cNvSpPr/>
          <p:nvPr/>
        </p:nvSpPr>
        <p:spPr>
          <a:xfrm>
            <a:off x="7996684" y="1950095"/>
            <a:ext cx="2457450" cy="685800"/>
          </a:xfrm>
          <a:prstGeom prst="roundRect">
            <a:avLst>
              <a:gd name="adj" fmla="val 19444"/>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2" name="Shape 9"/>
          <p:cNvSpPr/>
          <p:nvPr/>
        </p:nvSpPr>
        <p:spPr>
          <a:xfrm>
            <a:off x="8177659" y="2112020"/>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13" name="Shape 10"/>
          <p:cNvSpPr/>
          <p:nvPr/>
        </p:nvSpPr>
        <p:spPr>
          <a:xfrm>
            <a:off x="8296721" y="2231082"/>
            <a:ext cx="123825" cy="123825"/>
          </a:xfrm>
          <a:prstGeom prst="ellipse">
            <a:avLst/>
          </a:prstGeom>
          <a:solidFill>
            <a:srgbClr val="28D6DF"/>
          </a:solidFill>
          <a:ln/>
        </p:spPr>
      </p:sp>
      <p:sp>
        <p:nvSpPr>
          <p:cNvPr id="14" name="Text 11"/>
          <p:cNvSpPr/>
          <p:nvPr/>
        </p:nvSpPr>
        <p:spPr>
          <a:xfrm>
            <a:off x="8653909" y="2125861"/>
            <a:ext cx="1695450" cy="372368"/>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RAG (Retrieval Augmented Generation)</a:t>
            </a:r>
            <a:endParaRPr lang="en-US" sz="1013" dirty="0"/>
          </a:p>
        </p:txBody>
      </p:sp>
      <p:sp>
        <p:nvSpPr>
          <p:cNvPr id="15" name="Shape 12"/>
          <p:cNvSpPr/>
          <p:nvPr/>
        </p:nvSpPr>
        <p:spPr>
          <a:xfrm>
            <a:off x="3310384" y="4380012"/>
            <a:ext cx="2457450" cy="685800"/>
          </a:xfrm>
          <a:prstGeom prst="roundRect">
            <a:avLst>
              <a:gd name="adj" fmla="val 19444"/>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6" name="Shape 13"/>
          <p:cNvSpPr/>
          <p:nvPr/>
        </p:nvSpPr>
        <p:spPr>
          <a:xfrm>
            <a:off x="3491359" y="4541937"/>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17" name="Shape 14"/>
          <p:cNvSpPr/>
          <p:nvPr/>
        </p:nvSpPr>
        <p:spPr>
          <a:xfrm>
            <a:off x="3610421" y="4660999"/>
            <a:ext cx="123825" cy="123825"/>
          </a:xfrm>
          <a:prstGeom prst="roundRect">
            <a:avLst>
              <a:gd name="adj" fmla="val 23077"/>
            </a:avLst>
          </a:prstGeom>
          <a:solidFill>
            <a:srgbClr val="28D6DF"/>
          </a:solidFill>
          <a:ln/>
        </p:spPr>
      </p:sp>
      <p:sp>
        <p:nvSpPr>
          <p:cNvPr id="18" name="Text 15"/>
          <p:cNvSpPr/>
          <p:nvPr/>
        </p:nvSpPr>
        <p:spPr>
          <a:xfrm>
            <a:off x="3967609" y="4639345"/>
            <a:ext cx="326380" cy="205234"/>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LLM</a:t>
            </a:r>
            <a:endParaRPr lang="en-US" sz="1013" dirty="0"/>
          </a:p>
        </p:txBody>
      </p:sp>
      <p:sp>
        <p:nvSpPr>
          <p:cNvPr id="19" name="Shape 16"/>
          <p:cNvSpPr/>
          <p:nvPr/>
        </p:nvSpPr>
        <p:spPr>
          <a:xfrm>
            <a:off x="7996684" y="4380012"/>
            <a:ext cx="2457450" cy="685800"/>
          </a:xfrm>
          <a:prstGeom prst="roundRect">
            <a:avLst>
              <a:gd name="adj" fmla="val 19444"/>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0" name="Shape 17"/>
          <p:cNvSpPr/>
          <p:nvPr/>
        </p:nvSpPr>
        <p:spPr>
          <a:xfrm>
            <a:off x="8177659" y="4541937"/>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21" name="Shape 18"/>
          <p:cNvSpPr/>
          <p:nvPr/>
        </p:nvSpPr>
        <p:spPr>
          <a:xfrm>
            <a:off x="8296721" y="4660999"/>
            <a:ext cx="123825" cy="123825"/>
          </a:xfrm>
          <a:prstGeom prst="ellipse">
            <a:avLst/>
          </a:prstGeom>
          <a:solidFill>
            <a:srgbClr val="28D6DF"/>
          </a:solidFill>
          <a:ln/>
        </p:spPr>
      </p:sp>
      <p:sp>
        <p:nvSpPr>
          <p:cNvPr id="22" name="Text 19"/>
          <p:cNvSpPr/>
          <p:nvPr/>
        </p:nvSpPr>
        <p:spPr>
          <a:xfrm>
            <a:off x="8653909" y="4639345"/>
            <a:ext cx="1119857" cy="205234"/>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Intégration via API</a:t>
            </a:r>
            <a:endParaRPr lang="en-US" sz="101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10530" y="190500"/>
            <a:ext cx="1215390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RÉSULTAT</a:t>
            </a:r>
            <a:endParaRPr lang="en-US" sz="975" dirty="0"/>
          </a:p>
        </p:txBody>
      </p:sp>
      <p:sp>
        <p:nvSpPr>
          <p:cNvPr id="3" name="Text 1"/>
          <p:cNvSpPr/>
          <p:nvPr/>
        </p:nvSpPr>
        <p:spPr>
          <a:xfrm>
            <a:off x="910530" y="395288"/>
            <a:ext cx="12153900"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Bénéfices pour le client</a:t>
            </a:r>
            <a:endParaRPr lang="en-US" sz="2400" dirty="0"/>
          </a:p>
        </p:txBody>
      </p:sp>
      <p:sp>
        <p:nvSpPr>
          <p:cNvPr id="4" name="Shape 2"/>
          <p:cNvSpPr/>
          <p:nvPr/>
        </p:nvSpPr>
        <p:spPr>
          <a:xfrm>
            <a:off x="1462980" y="1128713"/>
            <a:ext cx="2605088" cy="1672456"/>
          </a:xfrm>
          <a:prstGeom prst="roundRect">
            <a:avLst>
              <a:gd name="adj" fmla="val 10251"/>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5" name="Text 3"/>
          <p:cNvSpPr/>
          <p:nvPr/>
        </p:nvSpPr>
        <p:spPr>
          <a:xfrm>
            <a:off x="1701105" y="1404938"/>
            <a:ext cx="2341721"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00DFE8"/>
                </a:solidFill>
                <a:latin typeface="Arial" pitchFamily="34" charset="0"/>
                <a:ea typeface="Arial" pitchFamily="34" charset="-122"/>
                <a:cs typeface="Arial" pitchFamily="34" charset="-120"/>
              </a:rPr>
              <a:t>1h30 → 30min</a:t>
            </a:r>
            <a:endParaRPr lang="en-US" sz="2550" dirty="0"/>
          </a:p>
        </p:txBody>
      </p:sp>
      <p:sp>
        <p:nvSpPr>
          <p:cNvPr id="6" name="Text 4"/>
          <p:cNvSpPr/>
          <p:nvPr/>
        </p:nvSpPr>
        <p:spPr>
          <a:xfrm>
            <a:off x="1701105" y="1862138"/>
            <a:ext cx="2205038" cy="700906"/>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Temps de consultation CCTP réduit de 1h30 à 30 minutes (–66 %)</a:t>
            </a:r>
            <a:endParaRPr lang="en-US" sz="1088" dirty="0"/>
          </a:p>
        </p:txBody>
      </p:sp>
      <p:sp>
        <p:nvSpPr>
          <p:cNvPr id="7" name="Shape 5"/>
          <p:cNvSpPr/>
          <p:nvPr/>
        </p:nvSpPr>
        <p:spPr>
          <a:xfrm>
            <a:off x="4277618" y="1128713"/>
            <a:ext cx="2605088" cy="1672456"/>
          </a:xfrm>
          <a:prstGeom prst="roundRect">
            <a:avLst>
              <a:gd name="adj" fmla="val 10251"/>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8" name="Text 6"/>
          <p:cNvSpPr/>
          <p:nvPr/>
        </p:nvSpPr>
        <p:spPr>
          <a:xfrm>
            <a:off x="4515743" y="1404938"/>
            <a:ext cx="2341721"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00DFE8"/>
                </a:solidFill>
                <a:latin typeface="Arial" pitchFamily="34" charset="0"/>
                <a:ea typeface="Arial" pitchFamily="34" charset="-122"/>
                <a:cs typeface="Arial" pitchFamily="34" charset="-120"/>
              </a:rPr>
              <a:t>~90 %</a:t>
            </a:r>
            <a:endParaRPr lang="en-US" sz="2550" dirty="0"/>
          </a:p>
        </p:txBody>
      </p:sp>
      <p:sp>
        <p:nvSpPr>
          <p:cNvPr id="9" name="Text 7"/>
          <p:cNvSpPr/>
          <p:nvPr/>
        </p:nvSpPr>
        <p:spPr>
          <a:xfrm>
            <a:off x="4515743" y="1862138"/>
            <a:ext cx="2205038"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Précision d'extraction et d'enrichissement : ~90 %</a:t>
            </a:r>
            <a:endParaRPr lang="en-US" sz="1088" dirty="0"/>
          </a:p>
        </p:txBody>
      </p:sp>
      <p:sp>
        <p:nvSpPr>
          <p:cNvPr id="10" name="Shape 8"/>
          <p:cNvSpPr/>
          <p:nvPr/>
        </p:nvSpPr>
        <p:spPr>
          <a:xfrm>
            <a:off x="7092255" y="1128713"/>
            <a:ext cx="2605088" cy="1672456"/>
          </a:xfrm>
          <a:prstGeom prst="roundRect">
            <a:avLst>
              <a:gd name="adj" fmla="val 10251"/>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1" name="Text 9"/>
          <p:cNvSpPr/>
          <p:nvPr/>
        </p:nvSpPr>
        <p:spPr>
          <a:xfrm>
            <a:off x="7330380" y="1404938"/>
            <a:ext cx="2341721"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00DFE8"/>
                </a:solidFill>
                <a:latin typeface="Arial" pitchFamily="34" charset="0"/>
                <a:ea typeface="Arial" pitchFamily="34" charset="-122"/>
                <a:cs typeface="Arial" pitchFamily="34" charset="-120"/>
              </a:rPr>
              <a:t>–66 %</a:t>
            </a:r>
            <a:endParaRPr lang="en-US" sz="2550" dirty="0"/>
          </a:p>
        </p:txBody>
      </p:sp>
      <p:sp>
        <p:nvSpPr>
          <p:cNvPr id="12" name="Text 10"/>
          <p:cNvSpPr/>
          <p:nvPr/>
        </p:nvSpPr>
        <p:spPr>
          <a:xfrm>
            <a:off x="7330380" y="1862138"/>
            <a:ext cx="2205038" cy="700906"/>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Réduction significative du temps humain consacré à l'ACV bâtiment</a:t>
            </a:r>
            <a:endParaRPr lang="en-US" sz="1088" dirty="0"/>
          </a:p>
        </p:txBody>
      </p:sp>
      <p:sp>
        <p:nvSpPr>
          <p:cNvPr id="13" name="Shape 11"/>
          <p:cNvSpPr/>
          <p:nvPr/>
        </p:nvSpPr>
        <p:spPr>
          <a:xfrm>
            <a:off x="9906893" y="1128713"/>
            <a:ext cx="2605088" cy="1672456"/>
          </a:xfrm>
          <a:prstGeom prst="roundRect">
            <a:avLst>
              <a:gd name="adj" fmla="val 10251"/>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4" name="Text 12"/>
          <p:cNvSpPr/>
          <p:nvPr/>
        </p:nvSpPr>
        <p:spPr>
          <a:xfrm>
            <a:off x="10145018" y="1404938"/>
            <a:ext cx="2341721"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00DFE8"/>
                </a:solidFill>
                <a:latin typeface="Arial" pitchFamily="34" charset="0"/>
                <a:ea typeface="Arial" pitchFamily="34" charset="-122"/>
                <a:cs typeface="Arial" pitchFamily="34" charset="-120"/>
              </a:rPr>
              <a:t>✓</a:t>
            </a:r>
            <a:endParaRPr lang="en-US" sz="2550" dirty="0"/>
          </a:p>
        </p:txBody>
      </p:sp>
      <p:sp>
        <p:nvSpPr>
          <p:cNvPr id="15" name="Text 13"/>
          <p:cNvSpPr/>
          <p:nvPr/>
        </p:nvSpPr>
        <p:spPr>
          <a:xfrm>
            <a:off x="10145018" y="1862138"/>
            <a:ext cx="2205038" cy="700906"/>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Amélioration de la qualité et de la fiabilité de l'association (matching) EPD et DPGF</a:t>
            </a:r>
            <a:endParaRPr lang="en-US" sz="108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145125" cy="9525"/>
          </a:xfrm>
          <a:prstGeom prst="rect">
            <a:avLst/>
          </a:prstGeom>
          <a:solidFill>
            <a:srgbClr val="144D67">
              <a:alpha val="35000"/>
            </a:srgbClr>
          </a:solidFill>
          <a:ln/>
        </p:spPr>
      </p:sp>
      <p:sp>
        <p:nvSpPr>
          <p:cNvPr id="3" name="Text 1"/>
          <p:cNvSpPr/>
          <p:nvPr/>
        </p:nvSpPr>
        <p:spPr>
          <a:xfrm>
            <a:off x="702022" y="771525"/>
            <a:ext cx="16741080"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EN SYNTHÈSE</a:t>
            </a:r>
            <a:endParaRPr lang="en-US" sz="975" dirty="0"/>
          </a:p>
        </p:txBody>
      </p:sp>
      <p:sp>
        <p:nvSpPr>
          <p:cNvPr id="4" name="Text 2"/>
          <p:cNvSpPr/>
          <p:nvPr/>
        </p:nvSpPr>
        <p:spPr>
          <a:xfrm>
            <a:off x="702022" y="1052513"/>
            <a:ext cx="16741080" cy="366713"/>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De la donnée dispersée à une ACV plus fiable</a:t>
            </a:r>
            <a:endParaRPr lang="en-US" sz="2250" dirty="0"/>
          </a:p>
        </p:txBody>
      </p:sp>
      <p:sp>
        <p:nvSpPr>
          <p:cNvPr id="5" name="Shape 3"/>
          <p:cNvSpPr/>
          <p:nvPr/>
        </p:nvSpPr>
        <p:spPr>
          <a:xfrm>
            <a:off x="4913412" y="1762125"/>
            <a:ext cx="2349178"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6" name="Text 4"/>
          <p:cNvSpPr/>
          <p:nvPr/>
        </p:nvSpPr>
        <p:spPr>
          <a:xfrm>
            <a:off x="5056287" y="1905000"/>
            <a:ext cx="2063428"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Processus manuel et chronophage</a:t>
            </a:r>
            <a:endParaRPr lang="en-US" sz="1013" dirty="0"/>
          </a:p>
        </p:txBody>
      </p:sp>
      <p:sp>
        <p:nvSpPr>
          <p:cNvPr id="7" name="Text 5"/>
          <p:cNvSpPr/>
          <p:nvPr/>
        </p:nvSpPr>
        <p:spPr>
          <a:xfrm>
            <a:off x="4795953" y="2195513"/>
            <a:ext cx="2584095"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8" name="Shape 6"/>
          <p:cNvSpPr/>
          <p:nvPr/>
        </p:nvSpPr>
        <p:spPr>
          <a:xfrm>
            <a:off x="7357839" y="1762125"/>
            <a:ext cx="21019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9" name="Text 7"/>
          <p:cNvSpPr/>
          <p:nvPr/>
        </p:nvSpPr>
        <p:spPr>
          <a:xfrm>
            <a:off x="7500714" y="1905000"/>
            <a:ext cx="18161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Extraction automatisée par l'IA</a:t>
            </a:r>
            <a:endParaRPr lang="en-US" sz="1013" dirty="0"/>
          </a:p>
        </p:txBody>
      </p:sp>
      <p:sp>
        <p:nvSpPr>
          <p:cNvPr id="10" name="Text 8"/>
          <p:cNvSpPr/>
          <p:nvPr/>
        </p:nvSpPr>
        <p:spPr>
          <a:xfrm>
            <a:off x="7252744" y="2195513"/>
            <a:ext cx="231209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1" name="Shape 9"/>
          <p:cNvSpPr/>
          <p:nvPr/>
        </p:nvSpPr>
        <p:spPr>
          <a:xfrm>
            <a:off x="9554989" y="1762125"/>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2" name="Text 10"/>
          <p:cNvSpPr/>
          <p:nvPr/>
        </p:nvSpPr>
        <p:spPr>
          <a:xfrm>
            <a:off x="9697864" y="1905000"/>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Données enrichies</a:t>
            </a:r>
            <a:endParaRPr lang="en-US" sz="1013" dirty="0"/>
          </a:p>
        </p:txBody>
      </p:sp>
      <p:sp>
        <p:nvSpPr>
          <p:cNvPr id="13" name="Text 11"/>
          <p:cNvSpPr/>
          <p:nvPr/>
        </p:nvSpPr>
        <p:spPr>
          <a:xfrm>
            <a:off x="9465454" y="2195513"/>
            <a:ext cx="196977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4" name="Shape 12"/>
          <p:cNvSpPr/>
          <p:nvPr/>
        </p:nvSpPr>
        <p:spPr>
          <a:xfrm>
            <a:off x="11440939" y="1762125"/>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5" name="Text 13"/>
          <p:cNvSpPr/>
          <p:nvPr/>
        </p:nvSpPr>
        <p:spPr>
          <a:xfrm>
            <a:off x="11583814" y="1905000"/>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Validation humaine</a:t>
            </a:r>
            <a:endParaRPr lang="en-US" sz="1013" dirty="0"/>
          </a:p>
        </p:txBody>
      </p:sp>
      <p:sp>
        <p:nvSpPr>
          <p:cNvPr id="16" name="Text 14"/>
          <p:cNvSpPr/>
          <p:nvPr/>
        </p:nvSpPr>
        <p:spPr>
          <a:xfrm>
            <a:off x="11351404" y="2195513"/>
            <a:ext cx="196977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7" name="Shape 15"/>
          <p:cNvSpPr/>
          <p:nvPr/>
        </p:nvSpPr>
        <p:spPr>
          <a:xfrm>
            <a:off x="8177213" y="2500313"/>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8" name="Text 16"/>
          <p:cNvSpPr/>
          <p:nvPr/>
        </p:nvSpPr>
        <p:spPr>
          <a:xfrm>
            <a:off x="8320088" y="2643188"/>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ACV plus fiable</a:t>
            </a:r>
            <a:endParaRPr lang="en-US" sz="1013" dirty="0"/>
          </a:p>
        </p:txBody>
      </p:sp>
      <p:sp>
        <p:nvSpPr>
          <p:cNvPr id="19" name="Shape 17"/>
          <p:cNvSpPr/>
          <p:nvPr/>
        </p:nvSpPr>
        <p:spPr>
          <a:xfrm>
            <a:off x="7500565" y="3390900"/>
            <a:ext cx="3143920" cy="490538"/>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20" name="Text 18"/>
          <p:cNvSpPr/>
          <p:nvPr/>
        </p:nvSpPr>
        <p:spPr>
          <a:xfrm>
            <a:off x="7805365" y="3543300"/>
            <a:ext cx="2372395" cy="223838"/>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Découvrir nos autres cas d'usage</a:t>
            </a:r>
            <a:endParaRPr lang="en-US" sz="1125" dirty="0"/>
          </a:p>
        </p:txBody>
      </p:sp>
      <p:sp>
        <p:nvSpPr>
          <p:cNvPr id="21" name="Text 19"/>
          <p:cNvSpPr/>
          <p:nvPr/>
        </p:nvSpPr>
        <p:spPr>
          <a:xfrm>
            <a:off x="10158710" y="3543300"/>
            <a:ext cx="219075" cy="223838"/>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2026-07-09T09:50:50Z</dcterms:created>
  <dcterms:modified xsi:type="dcterms:W3CDTF">2026-07-09T09:50:50Z</dcterms:modified>
</cp:coreProperties>
</file>